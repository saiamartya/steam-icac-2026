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jkkt4Dv7bUdZPdmmMaEUfdZ3DG5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Dhairya Sha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24T00:10:29.501">
    <p:pos x="6000" y="0"/>
    <p:text>fix the architecture diagram</p:text>
    <p:extLst>
      <p:ext uri="{C676402C-5697-4E1C-873F-D02D1690AC5C}">
        <p15:threadingInfo timeZoneBias="0"/>
      </p:ext>
      <p:ext uri="http://customooxmlschemas.google.com/">
        <go:slidesCustomData xmlns:go="http://customooxmlschemas.google.com/" commentPostId="AAAB7E9R5Og"/>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5-24T00:11:51.762">
    <p:pos x="6000" y="0"/>
    <p:text>create the prototype and add it here</p:text>
    <p:extLst>
      <p:ext uri="{C676402C-5697-4E1C-873F-D02D1690AC5C}">
        <p15:threadingInfo timeZoneBias="0"/>
      </p:ext>
      <p:ext uri="http://customooxmlschemas.google.com/">
        <go:slidesCustomData xmlns:go="http://customooxmlschemas.google.com/" commentPostId="AAAB7E9R5Ok"/>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5-24T00:22:46.490">
    <p:pos x="6000" y="0"/>
    <p:text>Get a better example here @saiamartya19@gmail.com</p:text>
    <p:extLst>
      <p:ext uri="{C676402C-5697-4E1C-873F-D02D1690AC5C}">
        <p15:threadingInfo timeZoneBias="0"/>
      </p:ext>
      <p:ext uri="http://customooxmlschemas.google.com/">
        <go:slidesCustomData xmlns:go="http://customooxmlschemas.google.com/" commentPostId="AAAB7E9R5Oo"/>
      </p:ext>
    </p:extLst>
  </p:cm>
</p:cmLst>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14825" y="1371600"/>
            <a:ext cx="6858325" cy="6858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28700" y="8686800"/>
            <a:ext cx="8229600" cy="82296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Hi judges, we're Team C2. The four of us are going to take you through Saliency-Aware Surveillance Compression — which is a mouthful, so feel free to think of it as 'making cameras smarter and the planet happier.' Seven minutes, four speakers. Let's go.</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Here's the problem in one number. Ninety-five percent of home security footage is never watched. By anyone. Ever. Your camera is recording an empty hallway twenty-four hours a day, on the off-chance you'll want to revisit it. You won't.</a:t>
            </a:r>
            <a:endParaRPr/>
          </a:p>
        </p:txBody>
      </p:sp>
      <p:sp>
        <p:nvSpPr>
          <p:cNvPr id="25" name="Google Shape;2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And there are a lot of these cameras. Hundreds of millions, streaming twenty-four-seven, generating about six terabytes per camera per year. That's a small Netflix library, per house, of nothing happening.</a:t>
            </a:r>
            <a:endParaRPr/>
          </a:p>
        </p:txBody>
      </p:sp>
      <p:sp>
        <p:nvSpPr>
          <p:cNvPr id="34" name="Google Shape;3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 name="Google Shape;4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All of that gets stored in data centers, which already burn more than one percent of the world's electricity. Every gigabyte you don't store is power you don't generate. The carbon cost of unwatched footage is real, and it's growing.</a:t>
            </a:r>
            <a:endParaRPr/>
          </a:p>
        </p:txBody>
      </p:sp>
      <p:sp>
        <p:nvSpPr>
          <p:cNvPr id="48" name="Google Shape;4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 the prompt asks three things — compress according to perceptual science, identify useful footage automatically, and stay private and scalable on the edge. We took on all three.</a:t>
            </a:r>
            <a:endParaRPr/>
          </a:p>
        </p:txBody>
      </p:sp>
      <p:sp>
        <p:nvSpPr>
          <p:cNvPr id="62" name="Google Shape;6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Before we dive in, here's our whole architecture in five sentences. One — don't record what nobody will watch. Two — don't spend bits on things nobody looks at. Three — compress the way humans see, not the way math measures. Four — do the thinking at the camera, not in the cloud. Five — borrow the idea from neural codecs, but not the whole system. Everything we built follows from these five lines. Atharv will pick it up from here.</a:t>
            </a:r>
            <a:endParaRPr/>
          </a:p>
        </p:txBody>
      </p:sp>
      <p:sp>
        <p:nvSpPr>
          <p:cNvPr id="79" name="Google Shape;7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Thanks Sai. The fun part of this project is that our compression isn't built on arbitrary math — it's built on actual decades-old neuroscience. Three principles, three slides, then we'll show you how to turn them into bits saved.</a:t>
            </a:r>
            <a:endParaRPr/>
          </a:p>
        </p:txBody>
      </p:sp>
      <p:sp>
        <p:nvSpPr>
          <p:cNvPr id="103" name="Google Shape;10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Principle one: your eyes don't see everything in a frame equally. They're drawn to faces, to motion, to contrast. Itti, Koch and Niebur proved this in nineteen ninety-eight — and the implication is that huge portions of every camera frame are being looked at by literally nobody. Even when somebody is watching.</a:t>
            </a:r>
            <a:endParaRPr/>
          </a:p>
        </p:txBody>
      </p:sp>
      <p:sp>
        <p:nvSpPr>
          <p:cNvPr id="114" name="Google Shape;11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So what actually makes a region 'salient'? Two big buckets. The first is perceptual — humans always look at faces first, then motion, then high-contrast edges and color pops, and there's even a measurable center-of-frame bias. The second is semantic — modern AI adds object class, so a person matters more than a chair, and a license plate matters more than a tree. Our system uses both.</a:t>
            </a:r>
            <a:endParaRPr/>
          </a:p>
        </p:txBody>
      </p:sp>
      <p:sp>
        <p:nvSpPr>
          <p:cNvPr id="126" name="Google Shape;12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Principle two: the sharp center of your vision — the fovea — is about one degree wide. Hold up your thumb at arm's length. That's it. Everything else is your peripheral vision, and it's surprisingly blurry. So in any given moment, ninety-nine percent of what your camera captures in pin-sharp detail is detail your eye couldn't have resolved anyway.</a:t>
            </a:r>
            <a:endParaRPr/>
          </a:p>
        </p:txBody>
      </p:sp>
      <p:sp>
        <p:nvSpPr>
          <p:cNvPr id="158" name="Google Shape;15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Principle three: the Just-Noticeable-Difference. There's a measurable threshold below which the eye literally cannot tell that quality has dropped. Fast motion and busy textures hide compression artifacts even better — your brain is too busy keeping up to notice the imperfection. So there's real, measurable headroom to compress harder without anyone seeing it.</a:t>
            </a:r>
            <a:endParaRPr/>
          </a:p>
        </p:txBody>
      </p:sp>
      <p:sp>
        <p:nvSpPr>
          <p:cNvPr id="169" name="Google Shape;16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Put it all together and you get our compression strategy in one line. Find what the eye looks at — the people, the faces, the motion — and keep it sharp. Blur everything else. The encoder sees a simpler image. A simpler image needs fewer bits. Dhairya is going to show you how this actually runs on a piece of real hardware.</a:t>
            </a:r>
            <a:endParaRPr/>
          </a:p>
        </p:txBody>
      </p:sp>
      <p:sp>
        <p:nvSpPr>
          <p:cNvPr id="180" name="Google Shape;18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Thanks Atharv. So — how does this run on a real camera? Our pipeline has three stages, and the whole thing fits on a Raspberry Pi 5 — which is right over there, actually running.</a:t>
            </a:r>
            <a:endParaRPr/>
          </a:p>
        </p:txBody>
      </p:sp>
      <p:sp>
        <p:nvSpPr>
          <p:cNvPr id="212" name="Google Shape;212;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Here's the full architecture. A frame comes in at the top. Two things happen in parallel — a gate decides whether to record at all, and a saliency estimator figures out what's important. They feed into a compression core that produces the final clip plus an event log.</a:t>
            </a:r>
            <a:endParaRPr/>
          </a:p>
        </p:txBody>
      </p:sp>
      <p:sp>
        <p:nvSpPr>
          <p:cNvPr id="221" name="Google Shape;221;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Stage A is the gate — principle one in action. Don't record what nobody will watch. Lightweight motion detection plus a tiny YOLO person-detector. In our tests this gate triggered correctly on forty point two percent of frames — which exactly matched when a person was actually in the room. So we cut the recording time by sixty percent before doing any compression at all.</a:t>
            </a:r>
            <a:endParaRPr/>
          </a:p>
        </p:txBody>
      </p:sp>
      <p:sp>
        <p:nvSpPr>
          <p:cNvPr id="234" name="Google Shape;234;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Stage B — the saliency estimator. Principle two. Once we are recording, we generate an attention map for every frame, using a beautifully elegant algorithm called Spectral Residual that runs at over a hundred frames per second on a basic CPU. No GPU. No cloud. The orange heatmap on the right is what the camera 'thinks' a human eye is about to look at.</a:t>
            </a:r>
            <a:endParaRPr/>
          </a:p>
        </p:txBody>
      </p:sp>
      <p:sp>
        <p:nvSpPr>
          <p:cNvPr id="256" name="Google Shape;256;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Stage C — saliency-aware compression. We use that attention map to spatially blur the boring parts of the frame, and hand the result to a standard H.265 encoder. Because the background is now simpler, the encoder needs far fewer bits to store the same video. The people stay crisp. The wall behind them quietly disappears.</a:t>
            </a:r>
            <a:endParaRPr/>
          </a:p>
        </p:txBody>
      </p:sp>
      <p:sp>
        <p:nvSpPr>
          <p:cNvPr id="279" name="Google Shape;279;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Now — principle five. Why didn't we just use a pure neural codec? We genuinely tried to. Modern AI compressors are incredible — they can hit three-hundred-x compression in research papers. But they need a real GPU and several gigabytes of RAM. A fifty-dollar home camera has neither. So we borrowed the philosophy — spend bits only on what matters — and applied it through a tiny model guiding a standard encoder. All of the benefit, none of the supercomputer.</a:t>
            </a:r>
            <a:endParaRPr/>
          </a:p>
        </p:txBody>
      </p:sp>
      <p:sp>
        <p:nvSpPr>
          <p:cNvPr id="315" name="Google Shape;315;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Principle four — do the thinking at the camera. Raw frames never leave the device. The Pi does the gating, the saliency, and the compression. Only the small compressed clips go to the cloud. That's privacy by architecture, not by promise — and it scales, because every camera in the network is its own little processing unit.</a:t>
            </a:r>
            <a:endParaRPr/>
          </a:p>
        </p:txBody>
      </p:sp>
      <p:sp>
        <p:nvSpPr>
          <p:cNvPr id="343" name="Google Shape;343;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And this is what it actually runs on. A Raspberry Pi 5 plus a standard USB webcam — about ninety-five dollars total. We brought it with us today, and if there's time during questions we'd love to demo it live. Aamirali — take us into the numbers.</a:t>
            </a:r>
            <a:endParaRPr/>
          </a:p>
        </p:txBody>
      </p:sp>
      <p:sp>
        <p:nvSpPr>
          <p:cNvPr id="371" name="Google Shape;371;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Thanks Dhairya. So — the obvious question. Does any of this actually work? Two big findings.</a:t>
            </a:r>
            <a:endParaRPr/>
          </a:p>
        </p:txBody>
      </p:sp>
      <p:sp>
        <p:nvSpPr>
          <p:cNvPr id="397" name="Google Shape;397;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First, qualitatively. On the left is the original CCTV frame. The second panel is our saliency map — notice how it lights up exactly on the people and the action, and ignores the empty pool table. The third panel is standard H.265 compression at sixty-two kilobytes. The fourth is ours, at the same quality setting — but it's twenty-four percent smaller, at forty-seven kilobytes. And the people are still sharp.</a:t>
            </a:r>
            <a:endParaRPr/>
          </a:p>
        </p:txBody>
      </p:sp>
      <p:sp>
        <p:nvSpPr>
          <p:cNvPr id="406" name="Google Shape;406;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Quantitatively, at the same base quality, our system drops file size from one hundred and thirteen kilobytes down to eighty-seven. That's a twenty-three point four percent reduction. The gate still catches one hundred percent of the useful frames. We're storing a quarter less, and missing zero events.</a:t>
            </a:r>
            <a:endParaRPr/>
          </a:p>
        </p:txBody>
      </p:sp>
      <p:sp>
        <p:nvSpPr>
          <p:cNvPr id="420" name="Google Shape;420;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5" name="Google Shape;505;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Here's the full rate-distortion curve over twenty real CCTV clips. The grey line is standard uniform H.265. The blue line is us. At small file sizes — the left side of the chart, where home cameras actually live — our line matches or beats the baseline. We win where it counts.</a:t>
            </a:r>
            <a:endParaRPr/>
          </a:p>
        </p:txBody>
      </p:sp>
      <p:sp>
        <p:nvSpPr>
          <p:cNvPr id="506" name="Google Shape;506;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Now — you'll notice our PSNR score looks worse on paper, and that's worth addressing head-on. PSNR is a metric from the nineteen eighties that compares pixel-by-pixel. It treats our intentional background blur as 'error,' even though no human can actually see the difference. We're being penalised for doing exactly what we set out to do. Wang and Bovik wrote a whole paper in two thousand nine saying pixel math doesn't match human viewing. Low PSNR isn't a bug — it's the whole point.</a:t>
            </a:r>
            <a:endParaRPr/>
          </a:p>
        </p:txBody>
      </p:sp>
      <p:sp>
        <p:nvSpPr>
          <p:cNvPr id="517" name="Google Shape;517;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Second finding — the gate itself. We record on forty point two percent of frames. That number exactly matches the ground truth of when a person was actually in the room. We caught one hundred percent of the events while recording less than half the time.</a:t>
            </a:r>
            <a:endParaRPr/>
          </a:p>
        </p:txBody>
      </p:sp>
      <p:sp>
        <p:nvSpPr>
          <p:cNvPr id="540" name="Google Shape;54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5" name="Google Shape;5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Now scale this up. Twenty-three percent less storage per camera. One point three five terabytes saved per camera per year. Over thirty kilograms of CO₂ avoided, per camera, every year. Multiply by the hundreds of millions of home cameras out there and you're looking at gigawatt-hours of electricity that never has to be generated. Sustainability isn't a feature we added — it's the whole reason this project exists.</a:t>
            </a:r>
            <a:endParaRPr/>
          </a:p>
        </p:txBody>
      </p:sp>
      <p:sp>
        <p:nvSpPr>
          <p:cNvPr id="556" name="Google Shape;5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Honest limitations. Our current numbers are from a controlled scene — twenty CCTV clips, one hundred and fifty seconds total. Next steps are real hardware benchmarks on the Pi, switching to VMAF — the modern Netflix-style perceptual metric — and moving from spatial blur to per-block quantization inside H.265 itself. Same idea, even less visible.</a:t>
            </a:r>
            <a:endParaRPr/>
          </a:p>
        </p:txBody>
      </p:sp>
      <p:sp>
        <p:nvSpPr>
          <p:cNvPr id="577" name="Google Shape;577;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That's our project. Twenty-three percent less storage, one hundred percent of the useful events, on a ninety-five dollar camera. We'd love to take your questions — and the Pi is plugged in and running, if you'd like to see it work.</a:t>
            </a:r>
            <a:endParaRPr/>
          </a:p>
        </p:txBody>
      </p:sp>
      <p:sp>
        <p:nvSpPr>
          <p:cNvPr id="598" name="Google Shape;598;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omments" Target="../comments/comment1.xml"/><Relationship Id="rId4" Type="http://schemas.openxmlformats.org/officeDocument/2006/relationships/image" Target="../media/image7.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omments" Target="../comments/comment2.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comments" Target="../comments/comment3.xml"/><Relationship Id="rId4" Type="http://schemas.openxmlformats.org/officeDocument/2006/relationships/image" Target="../media/image5.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11" name="Shape 11"/>
        <p:cNvGrpSpPr/>
        <p:nvPr/>
      </p:nvGrpSpPr>
      <p:grpSpPr>
        <a:xfrm>
          <a:off x="0" y="0"/>
          <a:ext cx="0" cy="0"/>
          <a:chOff x="0" y="0"/>
          <a:chExt cx="0" cy="0"/>
        </a:xfrm>
      </p:grpSpPr>
      <p:sp>
        <p:nvSpPr>
          <p:cNvPr id="12" name="Google Shape;12;p1"/>
          <p:cNvSpPr/>
          <p:nvPr/>
        </p:nvSpPr>
        <p:spPr>
          <a:xfrm>
            <a:off x="16192500" y="1333500"/>
            <a:ext cx="762000" cy="762000"/>
          </a:xfrm>
          <a:prstGeom prst="ellipse">
            <a:avLst/>
          </a:prstGeom>
          <a:solidFill>
            <a:srgbClr val="DF4823">
              <a:alpha val="9490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1333500" y="1714500"/>
            <a:ext cx="16089630" cy="2743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650"/>
              <a:buFont typeface="Courier New"/>
              <a:buNone/>
            </a:pPr>
            <a:r>
              <a:rPr lang="en-US" sz="1650">
                <a:solidFill>
                  <a:srgbClr val="88837A"/>
                </a:solidFill>
                <a:latin typeface="Courier New"/>
                <a:ea typeface="Courier New"/>
                <a:cs typeface="Courier New"/>
                <a:sym typeface="Courier New"/>
              </a:rPr>
              <a:t xml:space="preserve">TEAM C2 · </a:t>
            </a:r>
            <a:r>
              <a:rPr lang="en-US" sz="1650">
                <a:solidFill>
                  <a:srgbClr val="DF4823"/>
                </a:solidFill>
                <a:latin typeface="Courier New"/>
                <a:ea typeface="Courier New"/>
                <a:cs typeface="Courier New"/>
                <a:sym typeface="Courier New"/>
              </a:rPr>
              <a:t xml:space="preserve">STEAM ICAC 2026 </a:t>
            </a:r>
            <a:r>
              <a:rPr lang="en-US" sz="1650">
                <a:solidFill>
                  <a:srgbClr val="88837A"/>
                </a:solidFill>
                <a:latin typeface="Courier New"/>
                <a:ea typeface="Courier New"/>
                <a:cs typeface="Courier New"/>
                <a:sym typeface="Courier New"/>
              </a:rPr>
              <a:t>· COMPUTER SCIENCE</a:t>
            </a:r>
            <a:endParaRPr sz="1650">
              <a:solidFill>
                <a:schemeClr val="dk1"/>
              </a:solidFill>
              <a:latin typeface="Calibri"/>
              <a:ea typeface="Calibri"/>
              <a:cs typeface="Calibri"/>
              <a:sym typeface="Calibri"/>
            </a:endParaRPr>
          </a:p>
        </p:txBody>
      </p:sp>
      <p:sp>
        <p:nvSpPr>
          <p:cNvPr id="14" name="Google Shape;14;p1"/>
          <p:cNvSpPr/>
          <p:nvPr/>
        </p:nvSpPr>
        <p:spPr>
          <a:xfrm>
            <a:off x="1333500" y="2796540"/>
            <a:ext cx="14163174" cy="4619625"/>
          </a:xfrm>
          <a:prstGeom prst="rect">
            <a:avLst/>
          </a:prstGeom>
          <a:noFill/>
          <a:ln>
            <a:noFill/>
          </a:ln>
        </p:spPr>
        <p:txBody>
          <a:bodyPr anchorCtr="0" anchor="t" bIns="25400" lIns="25400" spcFirstLastPara="1" rIns="25400" wrap="square" tIns="25400">
            <a:normAutofit/>
          </a:bodyPr>
          <a:lstStyle/>
          <a:p>
            <a:pPr indent="0" lvl="0" marL="0" marR="0" rtl="0" algn="l">
              <a:lnSpc>
                <a:spcPct val="82000"/>
              </a:lnSpc>
              <a:spcBef>
                <a:spcPts val="0"/>
              </a:spcBef>
              <a:spcAft>
                <a:spcPts val="0"/>
              </a:spcAft>
              <a:buClr>
                <a:srgbClr val="1A1820"/>
              </a:buClr>
              <a:buSzPts val="12750"/>
              <a:buFont typeface="Georgia"/>
              <a:buNone/>
            </a:pPr>
            <a:r>
              <a:rPr lang="en-US" sz="12750">
                <a:solidFill>
                  <a:srgbClr val="1A1820"/>
                </a:solidFill>
                <a:latin typeface="Georgia"/>
                <a:ea typeface="Georgia"/>
                <a:cs typeface="Georgia"/>
                <a:sym typeface="Georgia"/>
              </a:rPr>
              <a:t xml:space="preserve">Storing only what the </a:t>
            </a:r>
            <a:r>
              <a:rPr i="1" lang="en-US" sz="12750">
                <a:solidFill>
                  <a:srgbClr val="DF4823"/>
                </a:solidFill>
                <a:latin typeface="Georgia"/>
                <a:ea typeface="Georgia"/>
                <a:cs typeface="Georgia"/>
                <a:sym typeface="Georgia"/>
              </a:rPr>
              <a:t xml:space="preserve">eye </a:t>
            </a:r>
            <a:r>
              <a:rPr lang="en-US" sz="12750">
                <a:solidFill>
                  <a:srgbClr val="1A1820"/>
                </a:solidFill>
                <a:latin typeface="Georgia"/>
                <a:ea typeface="Georgia"/>
                <a:cs typeface="Georgia"/>
                <a:sym typeface="Georgia"/>
              </a:rPr>
              <a:t>actually sees.</a:t>
            </a:r>
            <a:endParaRPr sz="12750">
              <a:solidFill>
                <a:schemeClr val="dk1"/>
              </a:solidFill>
              <a:latin typeface="Calibri"/>
              <a:ea typeface="Calibri"/>
              <a:cs typeface="Calibri"/>
              <a:sym typeface="Calibri"/>
            </a:endParaRPr>
          </a:p>
        </p:txBody>
      </p:sp>
      <p:sp>
        <p:nvSpPr>
          <p:cNvPr id="15" name="Google Shape;15;p1"/>
          <p:cNvSpPr/>
          <p:nvPr/>
        </p:nvSpPr>
        <p:spPr>
          <a:xfrm>
            <a:off x="1333500" y="7795260"/>
            <a:ext cx="156210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1333500" y="8107680"/>
            <a:ext cx="6237307"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TEAM C2</a:t>
            </a:r>
            <a:endParaRPr sz="1350">
              <a:solidFill>
                <a:schemeClr val="dk1"/>
              </a:solidFill>
              <a:latin typeface="Calibri"/>
              <a:ea typeface="Calibri"/>
              <a:cs typeface="Calibri"/>
              <a:sym typeface="Calibri"/>
            </a:endParaRPr>
          </a:p>
        </p:txBody>
      </p:sp>
      <p:sp>
        <p:nvSpPr>
          <p:cNvPr id="17" name="Google Shape;17;p1"/>
          <p:cNvSpPr/>
          <p:nvPr/>
        </p:nvSpPr>
        <p:spPr>
          <a:xfrm>
            <a:off x="1333500" y="8420100"/>
            <a:ext cx="6237307" cy="14097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1A1820"/>
              </a:buClr>
              <a:buSzPts val="1800"/>
              <a:buFont typeface="Arial"/>
              <a:buNone/>
            </a:pPr>
            <a:r>
              <a:rPr lang="en-US" sz="1800">
                <a:solidFill>
                  <a:srgbClr val="1A1820"/>
                </a:solidFill>
                <a:latin typeface="Arial"/>
                <a:ea typeface="Arial"/>
                <a:cs typeface="Arial"/>
                <a:sym typeface="Arial"/>
              </a:rPr>
              <a:t>Sai Amartya Balamurugan Lakshmi Praba Atharv Gokule Dhairya Shah Aamirali Tinwala</a:t>
            </a:r>
            <a:endParaRPr sz="1800">
              <a:solidFill>
                <a:schemeClr val="dk1"/>
              </a:solidFill>
              <a:latin typeface="Calibri"/>
              <a:ea typeface="Calibri"/>
              <a:cs typeface="Calibri"/>
              <a:sym typeface="Calibri"/>
            </a:endParaRPr>
          </a:p>
        </p:txBody>
      </p:sp>
      <p:sp>
        <p:nvSpPr>
          <p:cNvPr id="18" name="Google Shape;18;p1"/>
          <p:cNvSpPr/>
          <p:nvPr/>
        </p:nvSpPr>
        <p:spPr>
          <a:xfrm>
            <a:off x="7846338" y="8107680"/>
            <a:ext cx="4455184"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PROJECT</a:t>
            </a:r>
            <a:endParaRPr sz="1350">
              <a:solidFill>
                <a:schemeClr val="dk1"/>
              </a:solidFill>
              <a:latin typeface="Calibri"/>
              <a:ea typeface="Calibri"/>
              <a:cs typeface="Calibri"/>
              <a:sym typeface="Calibri"/>
            </a:endParaRPr>
          </a:p>
        </p:txBody>
      </p:sp>
      <p:sp>
        <p:nvSpPr>
          <p:cNvPr id="19" name="Google Shape;19;p1"/>
          <p:cNvSpPr/>
          <p:nvPr/>
        </p:nvSpPr>
        <p:spPr>
          <a:xfrm>
            <a:off x="7846338" y="8420100"/>
            <a:ext cx="4455184" cy="10668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1A1820"/>
              </a:buClr>
              <a:buSzPts val="1800"/>
              <a:buFont typeface="Arial"/>
              <a:buNone/>
            </a:pPr>
            <a:r>
              <a:rPr lang="en-US" sz="1800">
                <a:solidFill>
                  <a:srgbClr val="1A1820"/>
                </a:solidFill>
                <a:latin typeface="Arial"/>
                <a:ea typeface="Arial"/>
                <a:cs typeface="Arial"/>
                <a:sym typeface="Arial"/>
              </a:rPr>
              <a:t>Home-surveillance video compression using AI-estimated saliency</a:t>
            </a:r>
            <a:endParaRPr sz="1800">
              <a:solidFill>
                <a:schemeClr val="dk1"/>
              </a:solidFill>
              <a:latin typeface="Calibri"/>
              <a:ea typeface="Calibri"/>
              <a:cs typeface="Calibri"/>
              <a:sym typeface="Calibri"/>
            </a:endParaRPr>
          </a:p>
        </p:txBody>
      </p:sp>
      <p:sp>
        <p:nvSpPr>
          <p:cNvPr id="20" name="Google Shape;20;p1"/>
          <p:cNvSpPr/>
          <p:nvPr/>
        </p:nvSpPr>
        <p:spPr>
          <a:xfrm>
            <a:off x="12628959" y="8107680"/>
            <a:ext cx="4455184"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PROTOTYPE</a:t>
            </a:r>
            <a:endParaRPr sz="1350">
              <a:solidFill>
                <a:schemeClr val="dk1"/>
              </a:solidFill>
              <a:latin typeface="Calibri"/>
              <a:ea typeface="Calibri"/>
              <a:cs typeface="Calibri"/>
              <a:sym typeface="Calibri"/>
            </a:endParaRPr>
          </a:p>
        </p:txBody>
      </p:sp>
      <p:sp>
        <p:nvSpPr>
          <p:cNvPr id="21" name="Google Shape;21;p1"/>
          <p:cNvSpPr/>
          <p:nvPr/>
        </p:nvSpPr>
        <p:spPr>
          <a:xfrm>
            <a:off x="12628959" y="8420100"/>
            <a:ext cx="4455184" cy="10668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 xml:space="preserve">Live demo </a:t>
            </a:r>
            <a:r>
              <a:rPr lang="en-US" sz="1800">
                <a:solidFill>
                  <a:srgbClr val="1A1820"/>
                </a:solidFill>
                <a:latin typeface="Arial"/>
                <a:ea typeface="Arial"/>
                <a:cs typeface="Arial"/>
                <a:sym typeface="Arial"/>
              </a:rPr>
              <a:t>Raspberry Pi 5 + USB webcam</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26" name="Shape 26"/>
        <p:cNvGrpSpPr/>
        <p:nvPr/>
      </p:nvGrpSpPr>
      <p:grpSpPr>
        <a:xfrm>
          <a:off x="0" y="0"/>
          <a:ext cx="0" cy="0"/>
          <a:chOff x="0" y="0"/>
          <a:chExt cx="0" cy="0"/>
        </a:xfrm>
      </p:grpSpPr>
      <p:sp>
        <p:nvSpPr>
          <p:cNvPr id="27" name="Google Shape;27;p2"/>
          <p:cNvSpPr/>
          <p:nvPr/>
        </p:nvSpPr>
        <p:spPr>
          <a:xfrm>
            <a:off x="1333500" y="1331595"/>
            <a:ext cx="264228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A NUMBER TO START WITH</a:t>
            </a:r>
            <a:endParaRPr sz="1350">
              <a:solidFill>
                <a:schemeClr val="dk1"/>
              </a:solidFill>
              <a:latin typeface="Calibri"/>
              <a:ea typeface="Calibri"/>
              <a:cs typeface="Calibri"/>
              <a:sym typeface="Calibri"/>
            </a:endParaRPr>
          </a:p>
        </p:txBody>
      </p:sp>
      <p:sp>
        <p:nvSpPr>
          <p:cNvPr id="28" name="Google Shape;28;p2"/>
          <p:cNvSpPr/>
          <p:nvPr/>
        </p:nvSpPr>
        <p:spPr>
          <a:xfrm>
            <a:off x="1210962" y="902043"/>
            <a:ext cx="9545396" cy="6761772"/>
          </a:xfrm>
          <a:prstGeom prst="rect">
            <a:avLst/>
          </a:prstGeom>
          <a:noFill/>
          <a:ln>
            <a:noFill/>
          </a:ln>
        </p:spPr>
        <p:txBody>
          <a:bodyPr anchorCtr="0" anchor="t" bIns="25400" lIns="25400" spcFirstLastPara="1" rIns="25400" wrap="square" tIns="25400">
            <a:normAutofit/>
          </a:bodyPr>
          <a:lstStyle/>
          <a:p>
            <a:pPr indent="0" lvl="0" marL="0" marR="0" rtl="0" algn="l">
              <a:lnSpc>
                <a:spcPct val="114750"/>
              </a:lnSpc>
              <a:spcBef>
                <a:spcPts val="0"/>
              </a:spcBef>
              <a:spcAft>
                <a:spcPts val="0"/>
              </a:spcAft>
              <a:buClr>
                <a:srgbClr val="1A1820"/>
              </a:buClr>
              <a:buSzPts val="40000"/>
              <a:buFont typeface="Georgia"/>
              <a:buNone/>
            </a:pPr>
            <a:r>
              <a:rPr lang="en-US" sz="40000">
                <a:solidFill>
                  <a:srgbClr val="1A1820"/>
                </a:solidFill>
                <a:latin typeface="Georgia"/>
                <a:ea typeface="Georgia"/>
                <a:cs typeface="Georgia"/>
                <a:sym typeface="Georgia"/>
              </a:rPr>
              <a:t>95</a:t>
            </a:r>
            <a:r>
              <a:rPr i="1" lang="en-US" sz="35100">
                <a:solidFill>
                  <a:srgbClr val="DF4823"/>
                </a:solidFill>
                <a:latin typeface="Georgia"/>
                <a:ea typeface="Georgia"/>
                <a:cs typeface="Georgia"/>
                <a:sym typeface="Georgia"/>
              </a:rPr>
              <a:t>%</a:t>
            </a:r>
            <a:endParaRPr sz="40000">
              <a:solidFill>
                <a:schemeClr val="dk1"/>
              </a:solidFill>
              <a:latin typeface="Calibri"/>
              <a:ea typeface="Calibri"/>
              <a:cs typeface="Calibri"/>
              <a:sym typeface="Calibri"/>
            </a:endParaRPr>
          </a:p>
        </p:txBody>
      </p:sp>
      <p:sp>
        <p:nvSpPr>
          <p:cNvPr id="29" name="Google Shape;29;p2"/>
          <p:cNvSpPr/>
          <p:nvPr/>
        </p:nvSpPr>
        <p:spPr>
          <a:xfrm>
            <a:off x="1333500" y="8197215"/>
            <a:ext cx="12694497" cy="98679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423F46"/>
              </a:buClr>
              <a:buSzPts val="2850"/>
              <a:buFont typeface="Arial"/>
              <a:buNone/>
            </a:pPr>
            <a:r>
              <a:rPr lang="en-US" sz="2850">
                <a:solidFill>
                  <a:srgbClr val="423F46"/>
                </a:solidFill>
                <a:latin typeface="Arial"/>
                <a:ea typeface="Arial"/>
                <a:cs typeface="Arial"/>
                <a:sym typeface="Arial"/>
              </a:rPr>
              <a:t xml:space="preserve">of all home security camera footage is </a:t>
            </a:r>
            <a:r>
              <a:rPr i="1" lang="en-US" sz="2850">
                <a:solidFill>
                  <a:srgbClr val="DF4823"/>
                </a:solidFill>
                <a:latin typeface="Georgia"/>
                <a:ea typeface="Georgia"/>
                <a:cs typeface="Georgia"/>
                <a:sym typeface="Georgia"/>
              </a:rPr>
              <a:t xml:space="preserve">never watched </a:t>
            </a:r>
            <a:r>
              <a:rPr lang="en-US" sz="2850">
                <a:solidFill>
                  <a:srgbClr val="423F46"/>
                </a:solidFill>
                <a:latin typeface="Arial"/>
                <a:ea typeface="Arial"/>
                <a:cs typeface="Arial"/>
                <a:sym typeface="Arial"/>
              </a:rPr>
              <a:t>by anyone. Cameras are recording empty rooms — twenty-four hours a day, just in case.</a:t>
            </a:r>
            <a:endParaRPr sz="2850">
              <a:solidFill>
                <a:schemeClr val="dk1"/>
              </a:solidFill>
              <a:latin typeface="Calibri"/>
              <a:ea typeface="Calibri"/>
              <a:cs typeface="Calibri"/>
              <a:sym typeface="Calibri"/>
            </a:endParaRPr>
          </a:p>
        </p:txBody>
      </p:sp>
      <p:sp>
        <p:nvSpPr>
          <p:cNvPr id="30" name="Google Shape;30;p2"/>
          <p:cNvSpPr/>
          <p:nvPr/>
        </p:nvSpPr>
        <p:spPr>
          <a:xfrm>
            <a:off x="1333500" y="9540240"/>
            <a:ext cx="605076"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SAI</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35" name="Shape 35"/>
        <p:cNvGrpSpPr/>
        <p:nvPr/>
      </p:nvGrpSpPr>
      <p:grpSpPr>
        <a:xfrm>
          <a:off x="0" y="0"/>
          <a:ext cx="0" cy="0"/>
          <a:chOff x="0" y="0"/>
          <a:chExt cx="0" cy="0"/>
        </a:xfrm>
      </p:grpSpPr>
      <p:sp>
        <p:nvSpPr>
          <p:cNvPr id="36" name="Google Shape;36;p3"/>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THE SCALE OF THE WASTE</a:t>
            </a:r>
            <a:endParaRPr sz="1350">
              <a:solidFill>
                <a:schemeClr val="dk1"/>
              </a:solidFill>
              <a:latin typeface="Calibri"/>
              <a:ea typeface="Calibri"/>
              <a:cs typeface="Calibri"/>
              <a:sym typeface="Calibri"/>
            </a:endParaRPr>
          </a:p>
        </p:txBody>
      </p:sp>
      <p:sp>
        <p:nvSpPr>
          <p:cNvPr id="37" name="Google Shape;37;p3"/>
          <p:cNvSpPr/>
          <p:nvPr/>
        </p:nvSpPr>
        <p:spPr>
          <a:xfrm>
            <a:off x="1333500" y="1760220"/>
            <a:ext cx="14716125" cy="3454837"/>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9300"/>
              <a:buFont typeface="Georgia"/>
              <a:buNone/>
            </a:pPr>
            <a:r>
              <a:rPr lang="en-US" sz="9300">
                <a:solidFill>
                  <a:srgbClr val="1A1820"/>
                </a:solidFill>
                <a:latin typeface="Georgia"/>
                <a:ea typeface="Georgia"/>
                <a:cs typeface="Georgia"/>
                <a:sym typeface="Georgia"/>
              </a:rPr>
              <a:t xml:space="preserve">Hundreds of millions of cameras. </a:t>
            </a:r>
            <a:r>
              <a:rPr i="1" lang="en-US" sz="9300">
                <a:solidFill>
                  <a:srgbClr val="1A1820"/>
                </a:solidFill>
                <a:latin typeface="Georgia"/>
                <a:ea typeface="Georgia"/>
                <a:cs typeface="Georgia"/>
                <a:sym typeface="Georgia"/>
              </a:rPr>
              <a:t>Always on.</a:t>
            </a:r>
            <a:endParaRPr sz="9300">
              <a:solidFill>
                <a:schemeClr val="dk1"/>
              </a:solidFill>
              <a:latin typeface="Calibri"/>
              <a:ea typeface="Calibri"/>
              <a:cs typeface="Calibri"/>
              <a:sym typeface="Calibri"/>
            </a:endParaRPr>
          </a:p>
        </p:txBody>
      </p:sp>
      <p:sp>
        <p:nvSpPr>
          <p:cNvPr id="38" name="Google Shape;38;p3"/>
          <p:cNvSpPr/>
          <p:nvPr/>
        </p:nvSpPr>
        <p:spPr>
          <a:xfrm>
            <a:off x="1333500" y="7917180"/>
            <a:ext cx="5127711"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STREAMING RATE</a:t>
            </a:r>
            <a:endParaRPr sz="1350">
              <a:solidFill>
                <a:schemeClr val="dk1"/>
              </a:solidFill>
              <a:latin typeface="Calibri"/>
              <a:ea typeface="Calibri"/>
              <a:cs typeface="Calibri"/>
              <a:sym typeface="Calibri"/>
            </a:endParaRPr>
          </a:p>
        </p:txBody>
      </p:sp>
      <p:sp>
        <p:nvSpPr>
          <p:cNvPr id="39" name="Google Shape;39;p3"/>
          <p:cNvSpPr/>
          <p:nvPr/>
        </p:nvSpPr>
        <p:spPr>
          <a:xfrm>
            <a:off x="1333500" y="8229600"/>
            <a:ext cx="5127711" cy="9525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A1820"/>
              </a:buClr>
              <a:buSzPts val="7200"/>
              <a:buFont typeface="Courier New"/>
              <a:buNone/>
            </a:pPr>
            <a:r>
              <a:rPr lang="en-US" sz="7200">
                <a:solidFill>
                  <a:srgbClr val="1A1820"/>
                </a:solidFill>
                <a:latin typeface="Courier New"/>
                <a:ea typeface="Courier New"/>
                <a:cs typeface="Courier New"/>
                <a:sym typeface="Courier New"/>
              </a:rPr>
              <a:t xml:space="preserve">1.5 </a:t>
            </a:r>
            <a:r>
              <a:rPr lang="en-US" sz="1500">
                <a:solidFill>
                  <a:srgbClr val="88837A"/>
                </a:solidFill>
                <a:latin typeface="Courier New"/>
                <a:ea typeface="Courier New"/>
                <a:cs typeface="Courier New"/>
                <a:sym typeface="Courier New"/>
              </a:rPr>
              <a:t>Mbps</a:t>
            </a:r>
            <a:endParaRPr sz="7200">
              <a:solidFill>
                <a:schemeClr val="dk1"/>
              </a:solidFill>
              <a:latin typeface="Calibri"/>
              <a:ea typeface="Calibri"/>
              <a:cs typeface="Calibri"/>
              <a:sym typeface="Calibri"/>
            </a:endParaRPr>
          </a:p>
        </p:txBody>
      </p:sp>
      <p:sp>
        <p:nvSpPr>
          <p:cNvPr id="40" name="Google Shape;40;p3"/>
          <p:cNvSpPr/>
          <p:nvPr/>
        </p:nvSpPr>
        <p:spPr>
          <a:xfrm>
            <a:off x="6654761" y="7917180"/>
            <a:ext cx="5127711"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PER CAMERA, PER YEAR</a:t>
            </a:r>
            <a:endParaRPr sz="1350">
              <a:solidFill>
                <a:schemeClr val="dk1"/>
              </a:solidFill>
              <a:latin typeface="Calibri"/>
              <a:ea typeface="Calibri"/>
              <a:cs typeface="Calibri"/>
              <a:sym typeface="Calibri"/>
            </a:endParaRPr>
          </a:p>
        </p:txBody>
      </p:sp>
      <p:sp>
        <p:nvSpPr>
          <p:cNvPr id="41" name="Google Shape;41;p3"/>
          <p:cNvSpPr/>
          <p:nvPr/>
        </p:nvSpPr>
        <p:spPr>
          <a:xfrm>
            <a:off x="6654761" y="8229600"/>
            <a:ext cx="5127711" cy="9525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A1820"/>
              </a:buClr>
              <a:buSzPts val="7200"/>
              <a:buFont typeface="Courier New"/>
              <a:buNone/>
            </a:pPr>
            <a:r>
              <a:rPr lang="en-US" sz="7200">
                <a:solidFill>
                  <a:srgbClr val="1A1820"/>
                </a:solidFill>
                <a:latin typeface="Courier New"/>
                <a:ea typeface="Courier New"/>
                <a:cs typeface="Courier New"/>
                <a:sym typeface="Courier New"/>
              </a:rPr>
              <a:t xml:space="preserve">5.9 </a:t>
            </a:r>
            <a:r>
              <a:rPr lang="en-US" sz="1500">
                <a:solidFill>
                  <a:srgbClr val="88837A"/>
                </a:solidFill>
                <a:latin typeface="Courier New"/>
                <a:ea typeface="Courier New"/>
                <a:cs typeface="Courier New"/>
                <a:sym typeface="Courier New"/>
              </a:rPr>
              <a:t>TB</a:t>
            </a:r>
            <a:endParaRPr sz="7200">
              <a:solidFill>
                <a:schemeClr val="dk1"/>
              </a:solidFill>
              <a:latin typeface="Calibri"/>
              <a:ea typeface="Calibri"/>
              <a:cs typeface="Calibri"/>
              <a:sym typeface="Calibri"/>
            </a:endParaRPr>
          </a:p>
        </p:txBody>
      </p:sp>
      <p:sp>
        <p:nvSpPr>
          <p:cNvPr id="42" name="Google Shape;42;p3"/>
          <p:cNvSpPr/>
          <p:nvPr/>
        </p:nvSpPr>
        <p:spPr>
          <a:xfrm>
            <a:off x="11976021" y="7917180"/>
            <a:ext cx="5127711"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OF WHICH, EVER WATCHED</a:t>
            </a:r>
            <a:endParaRPr sz="1350">
              <a:solidFill>
                <a:schemeClr val="dk1"/>
              </a:solidFill>
              <a:latin typeface="Calibri"/>
              <a:ea typeface="Calibri"/>
              <a:cs typeface="Calibri"/>
              <a:sym typeface="Calibri"/>
            </a:endParaRPr>
          </a:p>
        </p:txBody>
      </p:sp>
      <p:sp>
        <p:nvSpPr>
          <p:cNvPr id="43" name="Google Shape;43;p3"/>
          <p:cNvSpPr/>
          <p:nvPr/>
        </p:nvSpPr>
        <p:spPr>
          <a:xfrm>
            <a:off x="11976021" y="8229600"/>
            <a:ext cx="5127711" cy="9525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DF4823"/>
              </a:buClr>
              <a:buSzPts val="7200"/>
              <a:buFont typeface="Courier New"/>
              <a:buNone/>
            </a:pPr>
            <a:r>
              <a:rPr lang="en-US" sz="7200">
                <a:solidFill>
                  <a:srgbClr val="DF4823"/>
                </a:solidFill>
                <a:latin typeface="Courier New"/>
                <a:ea typeface="Courier New"/>
                <a:cs typeface="Courier New"/>
                <a:sym typeface="Courier New"/>
              </a:rPr>
              <a:t>&lt; 5</a:t>
            </a:r>
            <a:r>
              <a:rPr lang="en-US" sz="1500">
                <a:solidFill>
                  <a:srgbClr val="88837A"/>
                </a:solidFill>
                <a:latin typeface="Courier New"/>
                <a:ea typeface="Courier New"/>
                <a:cs typeface="Courier New"/>
                <a:sym typeface="Courier New"/>
              </a:rPr>
              <a:t>%</a:t>
            </a:r>
            <a:endParaRPr sz="7200">
              <a:solidFill>
                <a:schemeClr val="dk1"/>
              </a:solidFill>
              <a:latin typeface="Calibri"/>
              <a:ea typeface="Calibri"/>
              <a:cs typeface="Calibri"/>
              <a:sym typeface="Calibri"/>
            </a:endParaRPr>
          </a:p>
        </p:txBody>
      </p:sp>
      <p:sp>
        <p:nvSpPr>
          <p:cNvPr id="44" name="Google Shape;44;p3"/>
          <p:cNvSpPr/>
          <p:nvPr/>
        </p:nvSpPr>
        <p:spPr>
          <a:xfrm>
            <a:off x="1333500" y="9540240"/>
            <a:ext cx="605076"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SAI</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49" name="Shape 49"/>
        <p:cNvGrpSpPr/>
        <p:nvPr/>
      </p:nvGrpSpPr>
      <p:grpSpPr>
        <a:xfrm>
          <a:off x="0" y="0"/>
          <a:ext cx="0" cy="0"/>
          <a:chOff x="0" y="0"/>
          <a:chExt cx="0" cy="0"/>
        </a:xfrm>
      </p:grpSpPr>
      <p:sp>
        <p:nvSpPr>
          <p:cNvPr id="50" name="Google Shape;50;p4"/>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WHERE IT ALL GOES</a:t>
            </a:r>
            <a:endParaRPr sz="1350">
              <a:solidFill>
                <a:schemeClr val="dk1"/>
              </a:solidFill>
              <a:latin typeface="Calibri"/>
              <a:ea typeface="Calibri"/>
              <a:cs typeface="Calibri"/>
              <a:sym typeface="Calibri"/>
            </a:endParaRPr>
          </a:p>
        </p:txBody>
      </p:sp>
      <p:sp>
        <p:nvSpPr>
          <p:cNvPr id="51" name="Google Shape;51;p4"/>
          <p:cNvSpPr/>
          <p:nvPr/>
        </p:nvSpPr>
        <p:spPr>
          <a:xfrm>
            <a:off x="1333500" y="1760220"/>
            <a:ext cx="14716125" cy="232100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9300"/>
              <a:buFont typeface="Georgia"/>
              <a:buNone/>
            </a:pPr>
            <a:r>
              <a:rPr lang="en-US" sz="9300">
                <a:solidFill>
                  <a:srgbClr val="1A1820"/>
                </a:solidFill>
                <a:latin typeface="Georgia"/>
                <a:ea typeface="Georgia"/>
                <a:cs typeface="Georgia"/>
                <a:sym typeface="Georgia"/>
              </a:rPr>
              <a:t xml:space="preserve">Every unwatched gigabyte is </a:t>
            </a:r>
            <a:r>
              <a:rPr i="1" lang="en-US" sz="9300">
                <a:solidFill>
                  <a:srgbClr val="DF4823"/>
                </a:solidFill>
                <a:latin typeface="Georgia"/>
                <a:ea typeface="Georgia"/>
                <a:cs typeface="Georgia"/>
                <a:sym typeface="Georgia"/>
              </a:rPr>
              <a:t xml:space="preserve">electricity </a:t>
            </a:r>
            <a:r>
              <a:rPr lang="en-US" sz="9300">
                <a:solidFill>
                  <a:srgbClr val="1A1820"/>
                </a:solidFill>
                <a:latin typeface="Georgia"/>
                <a:ea typeface="Georgia"/>
                <a:cs typeface="Georgia"/>
                <a:sym typeface="Georgia"/>
              </a:rPr>
              <a:t>we burn anyway.</a:t>
            </a:r>
            <a:endParaRPr sz="9300">
              <a:solidFill>
                <a:schemeClr val="dk1"/>
              </a:solidFill>
              <a:latin typeface="Calibri"/>
              <a:ea typeface="Calibri"/>
              <a:cs typeface="Calibri"/>
              <a:sym typeface="Calibri"/>
            </a:endParaRPr>
          </a:p>
        </p:txBody>
      </p:sp>
      <p:sp>
        <p:nvSpPr>
          <p:cNvPr id="52" name="Google Shape;52;p4"/>
          <p:cNvSpPr/>
          <p:nvPr/>
        </p:nvSpPr>
        <p:spPr>
          <a:xfrm>
            <a:off x="1333500" y="6554625"/>
            <a:ext cx="7750500" cy="23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2250">
                <a:solidFill>
                  <a:srgbClr val="88837A"/>
                </a:solidFill>
                <a:latin typeface="Courier New"/>
                <a:ea typeface="Courier New"/>
                <a:cs typeface="Courier New"/>
                <a:sym typeface="Courier New"/>
              </a:rPr>
              <a:t>GLOBAL ELECTRICITY USED BY DATA CENTERS</a:t>
            </a:r>
            <a:endParaRPr sz="2250">
              <a:solidFill>
                <a:schemeClr val="dk1"/>
              </a:solidFill>
              <a:latin typeface="Calibri"/>
              <a:ea typeface="Calibri"/>
              <a:cs typeface="Calibri"/>
              <a:sym typeface="Calibri"/>
            </a:endParaRPr>
          </a:p>
        </p:txBody>
      </p:sp>
      <p:sp>
        <p:nvSpPr>
          <p:cNvPr id="53" name="Google Shape;53;p4"/>
          <p:cNvSpPr/>
          <p:nvPr/>
        </p:nvSpPr>
        <p:spPr>
          <a:xfrm>
            <a:off x="1134625" y="6657374"/>
            <a:ext cx="7750500" cy="1927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A1820"/>
              </a:buClr>
              <a:buSzPts val="18000"/>
              <a:buFont typeface="Courier New"/>
              <a:buNone/>
            </a:pPr>
            <a:r>
              <a:rPr lang="en-US" sz="18000">
                <a:solidFill>
                  <a:srgbClr val="1A1820"/>
                </a:solidFill>
                <a:latin typeface="Courier New"/>
                <a:ea typeface="Courier New"/>
                <a:cs typeface="Courier New"/>
                <a:sym typeface="Courier New"/>
              </a:rPr>
              <a:t>~1.3</a:t>
            </a:r>
            <a:r>
              <a:rPr lang="en-US" sz="4500">
                <a:solidFill>
                  <a:srgbClr val="88837A"/>
                </a:solidFill>
                <a:latin typeface="Courier New"/>
                <a:ea typeface="Courier New"/>
                <a:cs typeface="Courier New"/>
                <a:sym typeface="Courier New"/>
              </a:rPr>
              <a:t>%</a:t>
            </a:r>
            <a:endParaRPr sz="18000">
              <a:solidFill>
                <a:schemeClr val="dk1"/>
              </a:solidFill>
              <a:latin typeface="Calibri"/>
              <a:ea typeface="Calibri"/>
              <a:cs typeface="Calibri"/>
              <a:sym typeface="Calibri"/>
            </a:endParaRPr>
          </a:p>
        </p:txBody>
      </p:sp>
      <p:sp>
        <p:nvSpPr>
          <p:cNvPr id="54" name="Google Shape;54;p4"/>
          <p:cNvSpPr/>
          <p:nvPr/>
        </p:nvSpPr>
        <p:spPr>
          <a:xfrm>
            <a:off x="9429750" y="4805124"/>
            <a:ext cx="7524750" cy="4338876"/>
          </a:xfrm>
          <a:prstGeom prst="roundRect">
            <a:avLst>
              <a:gd fmla="val 878" name="adj"/>
            </a:avLst>
          </a:prstGeom>
          <a:solidFill>
            <a:srgbClr val="ECE6D7"/>
          </a:solidFill>
          <a:ln cap="flat" cmpd="sng" w="9525">
            <a:solidFill>
              <a:srgbClr val="88837A"/>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4"/>
          <p:cNvSpPr/>
          <p:nvPr/>
        </p:nvSpPr>
        <p:spPr>
          <a:xfrm>
            <a:off x="12415481" y="6489740"/>
            <a:ext cx="1553170" cy="16764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88837A"/>
              </a:buClr>
              <a:buSzPts val="900"/>
              <a:buFont typeface="Courier New"/>
              <a:buNone/>
            </a:pPr>
            <a:r>
              <a:rPr lang="en-US" sz="900">
                <a:solidFill>
                  <a:srgbClr val="88837A"/>
                </a:solidFill>
                <a:latin typeface="Courier New"/>
                <a:ea typeface="Courier New"/>
                <a:cs typeface="Courier New"/>
                <a:sym typeface="Courier New"/>
              </a:rPr>
              <a:t>IMAGE PLACEHOLDER</a:t>
            </a:r>
            <a:endParaRPr sz="900">
              <a:solidFill>
                <a:schemeClr val="dk1"/>
              </a:solidFill>
              <a:latin typeface="Calibri"/>
              <a:ea typeface="Calibri"/>
              <a:cs typeface="Calibri"/>
              <a:sym typeface="Calibri"/>
            </a:endParaRPr>
          </a:p>
        </p:txBody>
      </p:sp>
      <p:sp>
        <p:nvSpPr>
          <p:cNvPr id="56" name="Google Shape;56;p4"/>
          <p:cNvSpPr/>
          <p:nvPr/>
        </p:nvSpPr>
        <p:spPr>
          <a:xfrm>
            <a:off x="10347008" y="6790730"/>
            <a:ext cx="5690235" cy="706755"/>
          </a:xfrm>
          <a:prstGeom prst="rect">
            <a:avLst/>
          </a:prstGeom>
          <a:noFill/>
          <a:ln>
            <a:noFill/>
          </a:ln>
        </p:spPr>
        <p:txBody>
          <a:bodyPr anchorCtr="0" anchor="t" bIns="25400" lIns="25400" spcFirstLastPara="1" rIns="25400" wrap="square" tIns="25400">
            <a:normAutofit/>
          </a:bodyPr>
          <a:lstStyle/>
          <a:p>
            <a:pPr indent="0" lvl="0" marL="0" marR="0" rtl="0" algn="ctr">
              <a:lnSpc>
                <a:spcPct val="135000"/>
              </a:lnSpc>
              <a:spcBef>
                <a:spcPts val="0"/>
              </a:spcBef>
              <a:spcAft>
                <a:spcPts val="0"/>
              </a:spcAft>
              <a:buClr>
                <a:srgbClr val="1A1820"/>
              </a:buClr>
              <a:buSzPts val="1950"/>
              <a:buFont typeface="Georgia"/>
              <a:buNone/>
            </a:pPr>
            <a:r>
              <a:rPr i="1" lang="en-US" sz="1950">
                <a:solidFill>
                  <a:srgbClr val="1A1820"/>
                </a:solidFill>
                <a:latin typeface="Georgia"/>
                <a:ea typeface="Georgia"/>
                <a:cs typeface="Georgia"/>
                <a:sym typeface="Georgia"/>
              </a:rPr>
              <a:t>Photo or render of a data-center hall — long rows of server racks with indicator lights.</a:t>
            </a:r>
            <a:endParaRPr sz="1950">
              <a:solidFill>
                <a:schemeClr val="dk1"/>
              </a:solidFill>
              <a:latin typeface="Calibri"/>
              <a:ea typeface="Calibri"/>
              <a:cs typeface="Calibri"/>
              <a:sym typeface="Calibri"/>
            </a:endParaRPr>
          </a:p>
        </p:txBody>
      </p:sp>
      <p:sp>
        <p:nvSpPr>
          <p:cNvPr id="57" name="Google Shape;57;p4"/>
          <p:cNvSpPr/>
          <p:nvPr/>
        </p:nvSpPr>
        <p:spPr>
          <a:xfrm>
            <a:off x="1333500" y="9540240"/>
            <a:ext cx="605076"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SAI</a:t>
            </a:r>
            <a:endParaRPr sz="1200">
              <a:solidFill>
                <a:schemeClr val="dk1"/>
              </a:solidFill>
              <a:latin typeface="Calibri"/>
              <a:ea typeface="Calibri"/>
              <a:cs typeface="Calibri"/>
              <a:sym typeface="Calibri"/>
            </a:endParaRPr>
          </a:p>
        </p:txBody>
      </p:sp>
      <p:pic>
        <p:nvPicPr>
          <p:cNvPr descr="How many servers does a data center have? - RackSolutions" id="58" name="Google Shape;58;p4"/>
          <p:cNvPicPr preferRelativeResize="0"/>
          <p:nvPr/>
        </p:nvPicPr>
        <p:blipFill rotWithShape="1">
          <a:blip r:embed="rId3">
            <a:alphaModFix/>
          </a:blip>
          <a:srcRect b="0" l="0" r="0" t="0"/>
          <a:stretch/>
        </p:blipFill>
        <p:spPr>
          <a:xfrm>
            <a:off x="9339556" y="4865369"/>
            <a:ext cx="7614944" cy="42786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63" name="Shape 63"/>
        <p:cNvGrpSpPr/>
        <p:nvPr/>
      </p:nvGrpSpPr>
      <p:grpSpPr>
        <a:xfrm>
          <a:off x="0" y="0"/>
          <a:ext cx="0" cy="0"/>
          <a:chOff x="0" y="0"/>
          <a:chExt cx="0" cy="0"/>
        </a:xfrm>
      </p:grpSpPr>
      <p:sp>
        <p:nvSpPr>
          <p:cNvPr id="64" name="Google Shape;64;p5"/>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THE PROMPT</a:t>
            </a:r>
            <a:endParaRPr sz="1350">
              <a:solidFill>
                <a:schemeClr val="dk1"/>
              </a:solidFill>
              <a:latin typeface="Calibri"/>
              <a:ea typeface="Calibri"/>
              <a:cs typeface="Calibri"/>
              <a:sym typeface="Calibri"/>
            </a:endParaRPr>
          </a:p>
        </p:txBody>
      </p:sp>
      <p:sp>
        <p:nvSpPr>
          <p:cNvPr id="65" name="Google Shape;65;p5"/>
          <p:cNvSpPr/>
          <p:nvPr/>
        </p:nvSpPr>
        <p:spPr>
          <a:xfrm>
            <a:off x="1333500" y="1760220"/>
            <a:ext cx="14716125" cy="233624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9300"/>
              <a:buFont typeface="Georgia"/>
              <a:buNone/>
            </a:pPr>
            <a:r>
              <a:rPr lang="en-US" sz="9300">
                <a:solidFill>
                  <a:srgbClr val="1A1820"/>
                </a:solidFill>
                <a:latin typeface="Georgia"/>
                <a:ea typeface="Georgia"/>
                <a:cs typeface="Georgia"/>
                <a:sym typeface="Georgia"/>
              </a:rPr>
              <a:t xml:space="preserve">How do we record </a:t>
            </a:r>
            <a:r>
              <a:rPr i="1" lang="en-US" sz="9300">
                <a:solidFill>
                  <a:srgbClr val="1A1820"/>
                </a:solidFill>
                <a:latin typeface="Georgia"/>
                <a:ea typeface="Georgia"/>
                <a:cs typeface="Georgia"/>
                <a:sym typeface="Georgia"/>
              </a:rPr>
              <a:t xml:space="preserve">less, </a:t>
            </a:r>
            <a:r>
              <a:rPr lang="en-US" sz="9300">
                <a:solidFill>
                  <a:srgbClr val="1A1820"/>
                </a:solidFill>
                <a:latin typeface="Georgia"/>
                <a:ea typeface="Georgia"/>
                <a:cs typeface="Georgia"/>
                <a:sym typeface="Georgia"/>
              </a:rPr>
              <a:t xml:space="preserve">but lose </a:t>
            </a:r>
            <a:r>
              <a:rPr i="1" lang="en-US" sz="9300">
                <a:solidFill>
                  <a:srgbClr val="DF4823"/>
                </a:solidFill>
                <a:latin typeface="Georgia"/>
                <a:ea typeface="Georgia"/>
                <a:cs typeface="Georgia"/>
                <a:sym typeface="Georgia"/>
              </a:rPr>
              <a:t>nothing?</a:t>
            </a:r>
            <a:endParaRPr sz="9300">
              <a:solidFill>
                <a:schemeClr val="dk1"/>
              </a:solidFill>
              <a:latin typeface="Calibri"/>
              <a:ea typeface="Calibri"/>
              <a:cs typeface="Calibri"/>
              <a:sym typeface="Calibri"/>
            </a:endParaRPr>
          </a:p>
        </p:txBody>
      </p:sp>
      <p:sp>
        <p:nvSpPr>
          <p:cNvPr id="66" name="Google Shape;66;p5"/>
          <p:cNvSpPr/>
          <p:nvPr/>
        </p:nvSpPr>
        <p:spPr>
          <a:xfrm>
            <a:off x="1333500" y="7810500"/>
            <a:ext cx="4902161" cy="15240"/>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5"/>
          <p:cNvSpPr/>
          <p:nvPr/>
        </p:nvSpPr>
        <p:spPr>
          <a:xfrm>
            <a:off x="1333500" y="8092440"/>
            <a:ext cx="5049225"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Q1 · COMPRESSION</a:t>
            </a:r>
            <a:endParaRPr sz="1350">
              <a:solidFill>
                <a:schemeClr val="dk1"/>
              </a:solidFill>
              <a:latin typeface="Calibri"/>
              <a:ea typeface="Calibri"/>
              <a:cs typeface="Calibri"/>
              <a:sym typeface="Calibri"/>
            </a:endParaRPr>
          </a:p>
        </p:txBody>
      </p:sp>
      <p:sp>
        <p:nvSpPr>
          <p:cNvPr id="68" name="Google Shape;68;p5"/>
          <p:cNvSpPr/>
          <p:nvPr/>
        </p:nvSpPr>
        <p:spPr>
          <a:xfrm>
            <a:off x="1333500" y="8423910"/>
            <a:ext cx="5049225" cy="75819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1A1820"/>
              </a:buClr>
              <a:buSzPts val="2700"/>
              <a:buFont typeface="Arial"/>
              <a:buNone/>
            </a:pPr>
            <a:r>
              <a:rPr lang="en-US" sz="2700">
                <a:solidFill>
                  <a:srgbClr val="1A1820"/>
                </a:solidFill>
                <a:latin typeface="Arial"/>
                <a:ea typeface="Arial"/>
                <a:cs typeface="Arial"/>
                <a:sym typeface="Arial"/>
              </a:rPr>
              <a:t>Compress according to human perceptual science.</a:t>
            </a:r>
            <a:endParaRPr sz="2700">
              <a:solidFill>
                <a:schemeClr val="dk1"/>
              </a:solidFill>
              <a:latin typeface="Calibri"/>
              <a:ea typeface="Calibri"/>
              <a:cs typeface="Calibri"/>
              <a:sym typeface="Calibri"/>
            </a:endParaRPr>
          </a:p>
        </p:txBody>
      </p:sp>
      <p:sp>
        <p:nvSpPr>
          <p:cNvPr id="69" name="Google Shape;69;p5"/>
          <p:cNvSpPr/>
          <p:nvPr/>
        </p:nvSpPr>
        <p:spPr>
          <a:xfrm>
            <a:off x="6692861" y="7810500"/>
            <a:ext cx="4902161" cy="15240"/>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5"/>
          <p:cNvSpPr/>
          <p:nvPr/>
        </p:nvSpPr>
        <p:spPr>
          <a:xfrm>
            <a:off x="6692861" y="8092440"/>
            <a:ext cx="5049225"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Q2 · IDENTIFICATION</a:t>
            </a:r>
            <a:endParaRPr sz="1350">
              <a:solidFill>
                <a:schemeClr val="dk1"/>
              </a:solidFill>
              <a:latin typeface="Calibri"/>
              <a:ea typeface="Calibri"/>
              <a:cs typeface="Calibri"/>
              <a:sym typeface="Calibri"/>
            </a:endParaRPr>
          </a:p>
        </p:txBody>
      </p:sp>
      <p:sp>
        <p:nvSpPr>
          <p:cNvPr id="71" name="Google Shape;71;p5"/>
          <p:cNvSpPr/>
          <p:nvPr/>
        </p:nvSpPr>
        <p:spPr>
          <a:xfrm>
            <a:off x="6692861" y="8423910"/>
            <a:ext cx="5049225" cy="75819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1A1820"/>
              </a:buClr>
              <a:buSzPts val="2700"/>
              <a:buFont typeface="Arial"/>
              <a:buNone/>
            </a:pPr>
            <a:r>
              <a:rPr lang="en-US" sz="2700">
                <a:solidFill>
                  <a:srgbClr val="1A1820"/>
                </a:solidFill>
                <a:latin typeface="Arial"/>
                <a:ea typeface="Arial"/>
                <a:cs typeface="Arial"/>
                <a:sym typeface="Arial"/>
              </a:rPr>
              <a:t>Automatically identify "useful" footage.</a:t>
            </a:r>
            <a:endParaRPr sz="2700">
              <a:solidFill>
                <a:schemeClr val="dk1"/>
              </a:solidFill>
              <a:latin typeface="Calibri"/>
              <a:ea typeface="Calibri"/>
              <a:cs typeface="Calibri"/>
              <a:sym typeface="Calibri"/>
            </a:endParaRPr>
          </a:p>
        </p:txBody>
      </p:sp>
      <p:sp>
        <p:nvSpPr>
          <p:cNvPr id="72" name="Google Shape;72;p5"/>
          <p:cNvSpPr/>
          <p:nvPr/>
        </p:nvSpPr>
        <p:spPr>
          <a:xfrm>
            <a:off x="12052221" y="7810500"/>
            <a:ext cx="4902161" cy="15240"/>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5"/>
          <p:cNvSpPr/>
          <p:nvPr/>
        </p:nvSpPr>
        <p:spPr>
          <a:xfrm>
            <a:off x="12052221" y="8092440"/>
            <a:ext cx="5049225"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Q3 · EDGE</a:t>
            </a:r>
            <a:endParaRPr sz="1350">
              <a:solidFill>
                <a:schemeClr val="dk1"/>
              </a:solidFill>
              <a:latin typeface="Calibri"/>
              <a:ea typeface="Calibri"/>
              <a:cs typeface="Calibri"/>
              <a:sym typeface="Calibri"/>
            </a:endParaRPr>
          </a:p>
        </p:txBody>
      </p:sp>
      <p:sp>
        <p:nvSpPr>
          <p:cNvPr id="74" name="Google Shape;74;p5"/>
          <p:cNvSpPr/>
          <p:nvPr/>
        </p:nvSpPr>
        <p:spPr>
          <a:xfrm>
            <a:off x="12052221" y="8423910"/>
            <a:ext cx="5049225" cy="75819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1A1820"/>
              </a:buClr>
              <a:buSzPts val="2700"/>
              <a:buFont typeface="Arial"/>
              <a:buNone/>
            </a:pPr>
            <a:r>
              <a:rPr lang="en-US" sz="2700">
                <a:solidFill>
                  <a:srgbClr val="1A1820"/>
                </a:solidFill>
                <a:latin typeface="Arial"/>
                <a:ea typeface="Arial"/>
                <a:cs typeface="Arial"/>
                <a:sym typeface="Arial"/>
              </a:rPr>
              <a:t>Stay scalable, precise, and privacy-conscious.</a:t>
            </a:r>
            <a:endParaRPr sz="2700">
              <a:solidFill>
                <a:schemeClr val="dk1"/>
              </a:solidFill>
              <a:latin typeface="Calibri"/>
              <a:ea typeface="Calibri"/>
              <a:cs typeface="Calibri"/>
              <a:sym typeface="Calibri"/>
            </a:endParaRPr>
          </a:p>
        </p:txBody>
      </p:sp>
      <p:sp>
        <p:nvSpPr>
          <p:cNvPr id="75" name="Google Shape;75;p5"/>
          <p:cNvSpPr/>
          <p:nvPr/>
        </p:nvSpPr>
        <p:spPr>
          <a:xfrm>
            <a:off x="1333500" y="9540240"/>
            <a:ext cx="605076"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SAI</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80" name="Shape 80"/>
        <p:cNvGrpSpPr/>
        <p:nvPr/>
      </p:nvGrpSpPr>
      <p:grpSpPr>
        <a:xfrm>
          <a:off x="0" y="0"/>
          <a:ext cx="0" cy="0"/>
          <a:chOff x="0" y="0"/>
          <a:chExt cx="0" cy="0"/>
        </a:xfrm>
      </p:grpSpPr>
      <p:sp>
        <p:nvSpPr>
          <p:cNvPr id="81" name="Google Shape;81;p6"/>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OUR ENTIRE ARCHITECTURE, IN FIVE SENTENCES</a:t>
            </a:r>
            <a:endParaRPr sz="1350">
              <a:solidFill>
                <a:schemeClr val="dk1"/>
              </a:solidFill>
              <a:latin typeface="Calibri"/>
              <a:ea typeface="Calibri"/>
              <a:cs typeface="Calibri"/>
              <a:sym typeface="Calibri"/>
            </a:endParaRPr>
          </a:p>
        </p:txBody>
      </p:sp>
      <p:sp>
        <p:nvSpPr>
          <p:cNvPr id="82" name="Google Shape;82;p6"/>
          <p:cNvSpPr/>
          <p:nvPr/>
        </p:nvSpPr>
        <p:spPr>
          <a:xfrm>
            <a:off x="1333500" y="1722120"/>
            <a:ext cx="16089630" cy="84272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6600"/>
              <a:buFont typeface="Georgia"/>
              <a:buNone/>
            </a:pPr>
            <a:r>
              <a:rPr lang="en-US" sz="6600">
                <a:solidFill>
                  <a:srgbClr val="1A1820"/>
                </a:solidFill>
                <a:latin typeface="Georgia"/>
                <a:ea typeface="Georgia"/>
                <a:cs typeface="Georgia"/>
                <a:sym typeface="Georgia"/>
              </a:rPr>
              <a:t>Five principles, then we build.</a:t>
            </a:r>
            <a:endParaRPr sz="6600">
              <a:solidFill>
                <a:schemeClr val="dk1"/>
              </a:solidFill>
              <a:latin typeface="Calibri"/>
              <a:ea typeface="Calibri"/>
              <a:cs typeface="Calibri"/>
              <a:sym typeface="Calibri"/>
            </a:endParaRPr>
          </a:p>
        </p:txBody>
      </p:sp>
      <p:sp>
        <p:nvSpPr>
          <p:cNvPr id="83" name="Google Shape;83;p6"/>
          <p:cNvSpPr/>
          <p:nvPr/>
        </p:nvSpPr>
        <p:spPr>
          <a:xfrm>
            <a:off x="1333500" y="3002994"/>
            <a:ext cx="156210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6"/>
          <p:cNvSpPr/>
          <p:nvPr/>
        </p:nvSpPr>
        <p:spPr>
          <a:xfrm>
            <a:off x="1333500" y="3220164"/>
            <a:ext cx="838200" cy="5334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DF4823"/>
              </a:buClr>
              <a:buSzPts val="3900"/>
              <a:buFont typeface="Georgia"/>
              <a:buNone/>
            </a:pPr>
            <a:r>
              <a:rPr i="1" lang="en-US" sz="3900">
                <a:solidFill>
                  <a:srgbClr val="DF4823"/>
                </a:solidFill>
                <a:latin typeface="Georgia"/>
                <a:ea typeface="Georgia"/>
                <a:cs typeface="Georgia"/>
                <a:sym typeface="Georgia"/>
              </a:rPr>
              <a:t>i</a:t>
            </a:r>
            <a:endParaRPr sz="3900">
              <a:solidFill>
                <a:schemeClr val="dk1"/>
              </a:solidFill>
              <a:latin typeface="Calibri"/>
              <a:ea typeface="Calibri"/>
              <a:cs typeface="Calibri"/>
              <a:sym typeface="Calibri"/>
            </a:endParaRPr>
          </a:p>
        </p:txBody>
      </p:sp>
      <p:sp>
        <p:nvSpPr>
          <p:cNvPr id="85" name="Google Shape;85;p6"/>
          <p:cNvSpPr/>
          <p:nvPr/>
        </p:nvSpPr>
        <p:spPr>
          <a:xfrm>
            <a:off x="2438400" y="3281124"/>
            <a:ext cx="14951583" cy="478155"/>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3150"/>
              <a:buFont typeface="Georgia"/>
              <a:buNone/>
            </a:pPr>
            <a:r>
              <a:rPr lang="en-US" sz="3150">
                <a:solidFill>
                  <a:srgbClr val="1A1820"/>
                </a:solidFill>
                <a:latin typeface="Georgia"/>
                <a:ea typeface="Georgia"/>
                <a:cs typeface="Georgia"/>
                <a:sym typeface="Georgia"/>
              </a:rPr>
              <a:t xml:space="preserve">Don't </a:t>
            </a:r>
            <a:r>
              <a:rPr i="1" lang="en-US" sz="3150">
                <a:solidFill>
                  <a:srgbClr val="DF4823"/>
                </a:solidFill>
                <a:latin typeface="Georgia"/>
                <a:ea typeface="Georgia"/>
                <a:cs typeface="Georgia"/>
                <a:sym typeface="Georgia"/>
              </a:rPr>
              <a:t xml:space="preserve">record </a:t>
            </a:r>
            <a:r>
              <a:rPr lang="en-US" sz="3150">
                <a:solidFill>
                  <a:srgbClr val="1A1820"/>
                </a:solidFill>
                <a:latin typeface="Georgia"/>
                <a:ea typeface="Georgia"/>
                <a:cs typeface="Georgia"/>
                <a:sym typeface="Georgia"/>
              </a:rPr>
              <a:t>what nobody will watch.</a:t>
            </a:r>
            <a:endParaRPr sz="3150">
              <a:solidFill>
                <a:schemeClr val="dk1"/>
              </a:solidFill>
              <a:latin typeface="Calibri"/>
              <a:ea typeface="Calibri"/>
              <a:cs typeface="Calibri"/>
              <a:sym typeface="Calibri"/>
            </a:endParaRPr>
          </a:p>
        </p:txBody>
      </p:sp>
      <p:sp>
        <p:nvSpPr>
          <p:cNvPr id="86" name="Google Shape;86;p6"/>
          <p:cNvSpPr/>
          <p:nvPr/>
        </p:nvSpPr>
        <p:spPr>
          <a:xfrm>
            <a:off x="1333500" y="4159330"/>
            <a:ext cx="156210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6"/>
          <p:cNvSpPr/>
          <p:nvPr/>
        </p:nvSpPr>
        <p:spPr>
          <a:xfrm>
            <a:off x="1333500" y="4376499"/>
            <a:ext cx="838200" cy="5334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DF4823"/>
              </a:buClr>
              <a:buSzPts val="3900"/>
              <a:buFont typeface="Georgia"/>
              <a:buNone/>
            </a:pPr>
            <a:r>
              <a:rPr i="1" lang="en-US" sz="3900">
                <a:solidFill>
                  <a:srgbClr val="DF4823"/>
                </a:solidFill>
                <a:latin typeface="Georgia"/>
                <a:ea typeface="Georgia"/>
                <a:cs typeface="Georgia"/>
                <a:sym typeface="Georgia"/>
              </a:rPr>
              <a:t>ii</a:t>
            </a:r>
            <a:endParaRPr sz="3900">
              <a:solidFill>
                <a:schemeClr val="dk1"/>
              </a:solidFill>
              <a:latin typeface="Calibri"/>
              <a:ea typeface="Calibri"/>
              <a:cs typeface="Calibri"/>
              <a:sym typeface="Calibri"/>
            </a:endParaRPr>
          </a:p>
        </p:txBody>
      </p:sp>
      <p:sp>
        <p:nvSpPr>
          <p:cNvPr id="88" name="Google Shape;88;p6"/>
          <p:cNvSpPr/>
          <p:nvPr/>
        </p:nvSpPr>
        <p:spPr>
          <a:xfrm>
            <a:off x="2438400" y="4437459"/>
            <a:ext cx="14951583" cy="478155"/>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3150"/>
              <a:buFont typeface="Georgia"/>
              <a:buNone/>
            </a:pPr>
            <a:r>
              <a:rPr lang="en-US" sz="3150">
                <a:solidFill>
                  <a:srgbClr val="1A1820"/>
                </a:solidFill>
                <a:latin typeface="Georgia"/>
                <a:ea typeface="Georgia"/>
                <a:cs typeface="Georgia"/>
                <a:sym typeface="Georgia"/>
              </a:rPr>
              <a:t xml:space="preserve">Don't </a:t>
            </a:r>
            <a:r>
              <a:rPr i="1" lang="en-US" sz="3150">
                <a:solidFill>
                  <a:srgbClr val="DF4823"/>
                </a:solidFill>
                <a:latin typeface="Georgia"/>
                <a:ea typeface="Georgia"/>
                <a:cs typeface="Georgia"/>
                <a:sym typeface="Georgia"/>
              </a:rPr>
              <a:t xml:space="preserve">spend bits </a:t>
            </a:r>
            <a:r>
              <a:rPr lang="en-US" sz="3150">
                <a:solidFill>
                  <a:srgbClr val="1A1820"/>
                </a:solidFill>
                <a:latin typeface="Georgia"/>
                <a:ea typeface="Georgia"/>
                <a:cs typeface="Georgia"/>
                <a:sym typeface="Georgia"/>
              </a:rPr>
              <a:t>on things nobody looks at.</a:t>
            </a:r>
            <a:endParaRPr sz="3150">
              <a:solidFill>
                <a:schemeClr val="dk1"/>
              </a:solidFill>
              <a:latin typeface="Calibri"/>
              <a:ea typeface="Calibri"/>
              <a:cs typeface="Calibri"/>
              <a:sym typeface="Calibri"/>
            </a:endParaRPr>
          </a:p>
        </p:txBody>
      </p:sp>
      <p:sp>
        <p:nvSpPr>
          <p:cNvPr id="89" name="Google Shape;89;p6"/>
          <p:cNvSpPr/>
          <p:nvPr/>
        </p:nvSpPr>
        <p:spPr>
          <a:xfrm>
            <a:off x="1333500" y="5315664"/>
            <a:ext cx="156210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6"/>
          <p:cNvSpPr/>
          <p:nvPr/>
        </p:nvSpPr>
        <p:spPr>
          <a:xfrm>
            <a:off x="1333500" y="5532834"/>
            <a:ext cx="838200" cy="5334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DF4823"/>
              </a:buClr>
              <a:buSzPts val="3900"/>
              <a:buFont typeface="Georgia"/>
              <a:buNone/>
            </a:pPr>
            <a:r>
              <a:rPr i="1" lang="en-US" sz="3900">
                <a:solidFill>
                  <a:srgbClr val="DF4823"/>
                </a:solidFill>
                <a:latin typeface="Georgia"/>
                <a:ea typeface="Georgia"/>
                <a:cs typeface="Georgia"/>
                <a:sym typeface="Georgia"/>
              </a:rPr>
              <a:t>iii</a:t>
            </a:r>
            <a:endParaRPr sz="3900">
              <a:solidFill>
                <a:schemeClr val="dk1"/>
              </a:solidFill>
              <a:latin typeface="Calibri"/>
              <a:ea typeface="Calibri"/>
              <a:cs typeface="Calibri"/>
              <a:sym typeface="Calibri"/>
            </a:endParaRPr>
          </a:p>
        </p:txBody>
      </p:sp>
      <p:sp>
        <p:nvSpPr>
          <p:cNvPr id="91" name="Google Shape;91;p6"/>
          <p:cNvSpPr/>
          <p:nvPr/>
        </p:nvSpPr>
        <p:spPr>
          <a:xfrm>
            <a:off x="2438400" y="5593795"/>
            <a:ext cx="14951583" cy="478155"/>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3150"/>
              <a:buFont typeface="Georgia"/>
              <a:buNone/>
            </a:pPr>
            <a:r>
              <a:rPr lang="en-US" sz="3150">
                <a:solidFill>
                  <a:srgbClr val="1A1820"/>
                </a:solidFill>
                <a:latin typeface="Georgia"/>
                <a:ea typeface="Georgia"/>
                <a:cs typeface="Georgia"/>
                <a:sym typeface="Georgia"/>
              </a:rPr>
              <a:t xml:space="preserve">Compress the way </a:t>
            </a:r>
            <a:r>
              <a:rPr i="1" lang="en-US" sz="3150">
                <a:solidFill>
                  <a:srgbClr val="DF4823"/>
                </a:solidFill>
                <a:latin typeface="Georgia"/>
                <a:ea typeface="Georgia"/>
                <a:cs typeface="Georgia"/>
                <a:sym typeface="Georgia"/>
              </a:rPr>
              <a:t>humans see</a:t>
            </a:r>
            <a:r>
              <a:rPr lang="en-US" sz="3150">
                <a:solidFill>
                  <a:srgbClr val="1A1820"/>
                </a:solidFill>
                <a:latin typeface="Georgia"/>
                <a:ea typeface="Georgia"/>
                <a:cs typeface="Georgia"/>
                <a:sym typeface="Georgia"/>
              </a:rPr>
              <a:t>, not the way math measures.</a:t>
            </a:r>
            <a:endParaRPr sz="3150">
              <a:solidFill>
                <a:schemeClr val="dk1"/>
              </a:solidFill>
              <a:latin typeface="Calibri"/>
              <a:ea typeface="Calibri"/>
              <a:cs typeface="Calibri"/>
              <a:sym typeface="Calibri"/>
            </a:endParaRPr>
          </a:p>
        </p:txBody>
      </p:sp>
      <p:sp>
        <p:nvSpPr>
          <p:cNvPr id="92" name="Google Shape;92;p6"/>
          <p:cNvSpPr/>
          <p:nvPr/>
        </p:nvSpPr>
        <p:spPr>
          <a:xfrm>
            <a:off x="1333500" y="6472000"/>
            <a:ext cx="156210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6"/>
          <p:cNvSpPr/>
          <p:nvPr/>
        </p:nvSpPr>
        <p:spPr>
          <a:xfrm>
            <a:off x="1333500" y="6689170"/>
            <a:ext cx="838200" cy="5334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DF4823"/>
              </a:buClr>
              <a:buSzPts val="3900"/>
              <a:buFont typeface="Georgia"/>
              <a:buNone/>
            </a:pPr>
            <a:r>
              <a:rPr i="1" lang="en-US" sz="3900">
                <a:solidFill>
                  <a:srgbClr val="DF4823"/>
                </a:solidFill>
                <a:latin typeface="Georgia"/>
                <a:ea typeface="Georgia"/>
                <a:cs typeface="Georgia"/>
                <a:sym typeface="Georgia"/>
              </a:rPr>
              <a:t>iv</a:t>
            </a:r>
            <a:endParaRPr sz="3900">
              <a:solidFill>
                <a:schemeClr val="dk1"/>
              </a:solidFill>
              <a:latin typeface="Calibri"/>
              <a:ea typeface="Calibri"/>
              <a:cs typeface="Calibri"/>
              <a:sym typeface="Calibri"/>
            </a:endParaRPr>
          </a:p>
        </p:txBody>
      </p:sp>
      <p:sp>
        <p:nvSpPr>
          <p:cNvPr id="94" name="Google Shape;94;p6"/>
          <p:cNvSpPr/>
          <p:nvPr/>
        </p:nvSpPr>
        <p:spPr>
          <a:xfrm>
            <a:off x="2438400" y="6750129"/>
            <a:ext cx="14951583" cy="478155"/>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3150"/>
              <a:buFont typeface="Georgia"/>
              <a:buNone/>
            </a:pPr>
            <a:r>
              <a:rPr lang="en-US" sz="3150">
                <a:solidFill>
                  <a:srgbClr val="1A1820"/>
                </a:solidFill>
                <a:latin typeface="Georgia"/>
                <a:ea typeface="Georgia"/>
                <a:cs typeface="Georgia"/>
                <a:sym typeface="Georgia"/>
              </a:rPr>
              <a:t xml:space="preserve">Do the thinking </a:t>
            </a:r>
            <a:r>
              <a:rPr i="1" lang="en-US" sz="3150">
                <a:solidFill>
                  <a:srgbClr val="DF4823"/>
                </a:solidFill>
                <a:latin typeface="Georgia"/>
                <a:ea typeface="Georgia"/>
                <a:cs typeface="Georgia"/>
                <a:sym typeface="Georgia"/>
              </a:rPr>
              <a:t>at the camera</a:t>
            </a:r>
            <a:r>
              <a:rPr lang="en-US" sz="3150">
                <a:solidFill>
                  <a:srgbClr val="1A1820"/>
                </a:solidFill>
                <a:latin typeface="Georgia"/>
                <a:ea typeface="Georgia"/>
                <a:cs typeface="Georgia"/>
                <a:sym typeface="Georgia"/>
              </a:rPr>
              <a:t>, not in the cloud.</a:t>
            </a:r>
            <a:endParaRPr sz="3150">
              <a:solidFill>
                <a:schemeClr val="dk1"/>
              </a:solidFill>
              <a:latin typeface="Calibri"/>
              <a:ea typeface="Calibri"/>
              <a:cs typeface="Calibri"/>
              <a:sym typeface="Calibri"/>
            </a:endParaRPr>
          </a:p>
        </p:txBody>
      </p:sp>
      <p:sp>
        <p:nvSpPr>
          <p:cNvPr id="95" name="Google Shape;95;p6"/>
          <p:cNvSpPr/>
          <p:nvPr/>
        </p:nvSpPr>
        <p:spPr>
          <a:xfrm>
            <a:off x="1333500" y="8556069"/>
            <a:ext cx="156210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6"/>
          <p:cNvSpPr/>
          <p:nvPr/>
        </p:nvSpPr>
        <p:spPr>
          <a:xfrm>
            <a:off x="1333500" y="7628334"/>
            <a:ext cx="156210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6"/>
          <p:cNvSpPr/>
          <p:nvPr/>
        </p:nvSpPr>
        <p:spPr>
          <a:xfrm>
            <a:off x="1333500" y="7845504"/>
            <a:ext cx="838200" cy="5334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DF4823"/>
              </a:buClr>
              <a:buSzPts val="3900"/>
              <a:buFont typeface="Georgia"/>
              <a:buNone/>
            </a:pPr>
            <a:r>
              <a:rPr i="1" lang="en-US" sz="3900">
                <a:solidFill>
                  <a:srgbClr val="DF4823"/>
                </a:solidFill>
                <a:latin typeface="Georgia"/>
                <a:ea typeface="Georgia"/>
                <a:cs typeface="Georgia"/>
                <a:sym typeface="Georgia"/>
              </a:rPr>
              <a:t>v</a:t>
            </a:r>
            <a:endParaRPr sz="3900">
              <a:solidFill>
                <a:schemeClr val="dk1"/>
              </a:solidFill>
              <a:latin typeface="Calibri"/>
              <a:ea typeface="Calibri"/>
              <a:cs typeface="Calibri"/>
              <a:sym typeface="Calibri"/>
            </a:endParaRPr>
          </a:p>
        </p:txBody>
      </p:sp>
      <p:sp>
        <p:nvSpPr>
          <p:cNvPr id="98" name="Google Shape;98;p6"/>
          <p:cNvSpPr/>
          <p:nvPr/>
        </p:nvSpPr>
        <p:spPr>
          <a:xfrm>
            <a:off x="2438400" y="7906464"/>
            <a:ext cx="14951583" cy="478155"/>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3150"/>
              <a:buFont typeface="Georgia"/>
              <a:buNone/>
            </a:pPr>
            <a:r>
              <a:rPr lang="en-US" sz="3150">
                <a:solidFill>
                  <a:srgbClr val="1A1820"/>
                </a:solidFill>
                <a:latin typeface="Georgia"/>
                <a:ea typeface="Georgia"/>
                <a:cs typeface="Georgia"/>
                <a:sym typeface="Georgia"/>
              </a:rPr>
              <a:t xml:space="preserve">Borrow the </a:t>
            </a:r>
            <a:r>
              <a:rPr i="1" lang="en-US" sz="3150">
                <a:solidFill>
                  <a:srgbClr val="DF4823"/>
                </a:solidFill>
                <a:latin typeface="Georgia"/>
                <a:ea typeface="Georgia"/>
                <a:cs typeface="Georgia"/>
                <a:sym typeface="Georgia"/>
              </a:rPr>
              <a:t xml:space="preserve">idea </a:t>
            </a:r>
            <a:r>
              <a:rPr lang="en-US" sz="3150">
                <a:solidFill>
                  <a:srgbClr val="1A1820"/>
                </a:solidFill>
                <a:latin typeface="Georgia"/>
                <a:ea typeface="Georgia"/>
                <a:cs typeface="Georgia"/>
                <a:sym typeface="Georgia"/>
              </a:rPr>
              <a:t>from neural codecs — not the whole system.</a:t>
            </a:r>
            <a:endParaRPr sz="3150">
              <a:solidFill>
                <a:schemeClr val="dk1"/>
              </a:solidFill>
              <a:latin typeface="Calibri"/>
              <a:ea typeface="Calibri"/>
              <a:cs typeface="Calibri"/>
              <a:sym typeface="Calibri"/>
            </a:endParaRPr>
          </a:p>
        </p:txBody>
      </p:sp>
      <p:sp>
        <p:nvSpPr>
          <p:cNvPr id="99" name="Google Shape;99;p6"/>
          <p:cNvSpPr/>
          <p:nvPr/>
        </p:nvSpPr>
        <p:spPr>
          <a:xfrm>
            <a:off x="1333500" y="9540240"/>
            <a:ext cx="1620203"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SAI → ATHARV</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104" name="Shape 104"/>
        <p:cNvGrpSpPr/>
        <p:nvPr/>
      </p:nvGrpSpPr>
      <p:grpSpPr>
        <a:xfrm>
          <a:off x="0" y="0"/>
          <a:ext cx="0" cy="0"/>
          <a:chOff x="0" y="0"/>
          <a:chExt cx="0" cy="0"/>
        </a:xfrm>
      </p:grpSpPr>
      <p:sp>
        <p:nvSpPr>
          <p:cNvPr id="105" name="Google Shape;105;p7"/>
          <p:cNvSpPr/>
          <p:nvPr/>
        </p:nvSpPr>
        <p:spPr>
          <a:xfrm>
            <a:off x="1333500" y="3099078"/>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F0E6"/>
              </a:buClr>
              <a:buSzPts val="1350"/>
              <a:buFont typeface="Courier New"/>
              <a:buNone/>
            </a:pPr>
            <a:r>
              <a:rPr lang="en-US" sz="1350">
                <a:solidFill>
                  <a:srgbClr val="F4F0E6"/>
                </a:solidFill>
                <a:latin typeface="Courier New"/>
                <a:ea typeface="Courier New"/>
                <a:cs typeface="Courier New"/>
                <a:sym typeface="Courier New"/>
              </a:rPr>
              <a:t>PART II</a:t>
            </a:r>
            <a:endParaRPr sz="1350">
              <a:solidFill>
                <a:schemeClr val="dk1"/>
              </a:solidFill>
              <a:latin typeface="Calibri"/>
              <a:ea typeface="Calibri"/>
              <a:cs typeface="Calibri"/>
              <a:sym typeface="Calibri"/>
            </a:endParaRPr>
          </a:p>
        </p:txBody>
      </p:sp>
      <p:sp>
        <p:nvSpPr>
          <p:cNvPr id="106" name="Google Shape;106;p7"/>
          <p:cNvSpPr/>
          <p:nvPr/>
        </p:nvSpPr>
        <p:spPr>
          <a:xfrm>
            <a:off x="1333500" y="3571525"/>
            <a:ext cx="4581900" cy="1379100"/>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000000"/>
              </a:buClr>
              <a:buSzPts val="9300"/>
              <a:buFont typeface="Georgia"/>
              <a:buNone/>
            </a:pPr>
            <a:r>
              <a:rPr lang="en-US" sz="9300">
                <a:solidFill>
                  <a:srgbClr val="000000"/>
                </a:solidFill>
                <a:latin typeface="Georgia"/>
                <a:ea typeface="Georgia"/>
                <a:cs typeface="Georgia"/>
                <a:sym typeface="Georgia"/>
              </a:rPr>
              <a:t>Built</a:t>
            </a:r>
            <a:r>
              <a:rPr lang="en-US" sz="9300">
                <a:latin typeface="Georgia"/>
                <a:ea typeface="Georgia"/>
                <a:cs typeface="Georgia"/>
                <a:sym typeface="Georgia"/>
              </a:rPr>
              <a:t xml:space="preserve"> </a:t>
            </a:r>
            <a:r>
              <a:rPr lang="en-US" sz="9300">
                <a:solidFill>
                  <a:srgbClr val="000000"/>
                </a:solidFill>
                <a:latin typeface="Georgia"/>
                <a:ea typeface="Georgia"/>
                <a:cs typeface="Georgia"/>
                <a:sym typeface="Georgia"/>
              </a:rPr>
              <a:t>on</a:t>
            </a:r>
            <a:endParaRPr sz="9300">
              <a:solidFill>
                <a:schemeClr val="dk1"/>
              </a:solidFill>
              <a:latin typeface="Calibri"/>
              <a:ea typeface="Calibri"/>
              <a:cs typeface="Calibri"/>
              <a:sym typeface="Calibri"/>
            </a:endParaRPr>
          </a:p>
        </p:txBody>
      </p:sp>
      <p:sp>
        <p:nvSpPr>
          <p:cNvPr id="107" name="Google Shape;107;p7"/>
          <p:cNvSpPr/>
          <p:nvPr/>
        </p:nvSpPr>
        <p:spPr>
          <a:xfrm>
            <a:off x="5786626" y="3476211"/>
            <a:ext cx="5866500" cy="1569600"/>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DF4823"/>
              </a:buClr>
              <a:buSzPts val="8602"/>
              <a:buFont typeface="Georgia"/>
              <a:buNone/>
            </a:pPr>
            <a:r>
              <a:rPr i="1" lang="en-US" sz="8603">
                <a:solidFill>
                  <a:srgbClr val="DF4823"/>
                </a:solidFill>
                <a:latin typeface="Georgia"/>
                <a:ea typeface="Georgia"/>
                <a:cs typeface="Georgia"/>
                <a:sym typeface="Georgia"/>
              </a:rPr>
              <a:t>perception,</a:t>
            </a:r>
            <a:endParaRPr sz="8603">
              <a:solidFill>
                <a:schemeClr val="dk1"/>
              </a:solidFill>
              <a:latin typeface="Calibri"/>
              <a:ea typeface="Calibri"/>
              <a:cs typeface="Calibri"/>
              <a:sym typeface="Calibri"/>
            </a:endParaRPr>
          </a:p>
        </p:txBody>
      </p:sp>
      <p:sp>
        <p:nvSpPr>
          <p:cNvPr id="108" name="Google Shape;108;p7"/>
          <p:cNvSpPr/>
          <p:nvPr/>
        </p:nvSpPr>
        <p:spPr>
          <a:xfrm>
            <a:off x="1442000" y="5004438"/>
            <a:ext cx="8794500" cy="1379100"/>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000000"/>
              </a:buClr>
              <a:buSzPts val="9300"/>
              <a:buFont typeface="Georgia"/>
              <a:buNone/>
            </a:pPr>
            <a:r>
              <a:rPr lang="en-US" sz="9300">
                <a:solidFill>
                  <a:srgbClr val="000000"/>
                </a:solidFill>
                <a:latin typeface="Georgia"/>
                <a:ea typeface="Georgia"/>
                <a:cs typeface="Georgia"/>
                <a:sym typeface="Georgia"/>
              </a:rPr>
              <a:t>not on math.</a:t>
            </a:r>
            <a:endParaRPr sz="9300">
              <a:solidFill>
                <a:schemeClr val="dk1"/>
              </a:solidFill>
              <a:latin typeface="Calibri"/>
              <a:ea typeface="Calibri"/>
              <a:cs typeface="Calibri"/>
              <a:sym typeface="Calibri"/>
            </a:endParaRPr>
          </a:p>
        </p:txBody>
      </p:sp>
      <p:sp>
        <p:nvSpPr>
          <p:cNvPr id="109" name="Google Shape;109;p7"/>
          <p:cNvSpPr/>
          <p:nvPr/>
        </p:nvSpPr>
        <p:spPr>
          <a:xfrm>
            <a:off x="1333500" y="6437352"/>
            <a:ext cx="10791825" cy="97917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F4F0E6"/>
              </a:buClr>
              <a:buSzPts val="2850"/>
              <a:buFont typeface="Arial"/>
              <a:buNone/>
            </a:pPr>
            <a:r>
              <a:rPr lang="en-US" sz="2850">
                <a:solidFill>
                  <a:srgbClr val="F4F0E6"/>
                </a:solidFill>
                <a:latin typeface="Arial"/>
                <a:ea typeface="Arial"/>
                <a:cs typeface="Arial"/>
                <a:sym typeface="Arial"/>
              </a:rPr>
              <a:t>Three principles from visual neuroscience tell us where the human eye spends its attention — and where it doesn't.</a:t>
            </a:r>
            <a:endParaRPr sz="2850">
              <a:solidFill>
                <a:schemeClr val="dk1"/>
              </a:solidFill>
              <a:latin typeface="Calibri"/>
              <a:ea typeface="Calibri"/>
              <a:cs typeface="Calibri"/>
              <a:sym typeface="Calibri"/>
            </a:endParaRPr>
          </a:p>
        </p:txBody>
      </p:sp>
      <p:sp>
        <p:nvSpPr>
          <p:cNvPr id="110" name="Google Shape;110;p7"/>
          <p:cNvSpPr/>
          <p:nvPr/>
        </p:nvSpPr>
        <p:spPr>
          <a:xfrm>
            <a:off x="1333500" y="9540240"/>
            <a:ext cx="943451"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4F0E6"/>
              </a:buClr>
              <a:buSzPts val="1200"/>
              <a:buFont typeface="Courier New"/>
              <a:buNone/>
            </a:pPr>
            <a:r>
              <a:rPr lang="en-US" sz="1200">
                <a:solidFill>
                  <a:srgbClr val="F4F0E6"/>
                </a:solidFill>
                <a:latin typeface="Courier New"/>
                <a:ea typeface="Courier New"/>
                <a:cs typeface="Courier New"/>
                <a:sym typeface="Courier New"/>
              </a:rPr>
              <a:t>ATHARV</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115" name="Shape 115"/>
        <p:cNvGrpSpPr/>
        <p:nvPr/>
      </p:nvGrpSpPr>
      <p:grpSpPr>
        <a:xfrm>
          <a:off x="0" y="0"/>
          <a:ext cx="0" cy="0"/>
          <a:chOff x="0" y="0"/>
          <a:chExt cx="0" cy="0"/>
        </a:xfrm>
      </p:grpSpPr>
      <p:sp>
        <p:nvSpPr>
          <p:cNvPr id="116" name="Google Shape;116;p8"/>
          <p:cNvSpPr/>
          <p:nvPr/>
        </p:nvSpPr>
        <p:spPr>
          <a:xfrm>
            <a:off x="1333500" y="2052399"/>
            <a:ext cx="7409079"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I · SALIENCY</a:t>
            </a:r>
            <a:endParaRPr sz="1350">
              <a:solidFill>
                <a:schemeClr val="dk1"/>
              </a:solidFill>
              <a:latin typeface="Calibri"/>
              <a:ea typeface="Calibri"/>
              <a:cs typeface="Calibri"/>
              <a:sym typeface="Calibri"/>
            </a:endParaRPr>
          </a:p>
        </p:txBody>
      </p:sp>
      <p:sp>
        <p:nvSpPr>
          <p:cNvPr id="117" name="Google Shape;117;p8"/>
          <p:cNvSpPr/>
          <p:nvPr/>
        </p:nvSpPr>
        <p:spPr>
          <a:xfrm>
            <a:off x="1333500" y="2593419"/>
            <a:ext cx="7409079" cy="4134326"/>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8400"/>
              <a:buFont typeface="Georgia"/>
              <a:buNone/>
            </a:pPr>
            <a:r>
              <a:rPr lang="en-US" sz="8400">
                <a:solidFill>
                  <a:srgbClr val="1A1820"/>
                </a:solidFill>
                <a:latin typeface="Georgia"/>
                <a:ea typeface="Georgia"/>
                <a:cs typeface="Georgia"/>
                <a:sym typeface="Georgia"/>
              </a:rPr>
              <a:t xml:space="preserve">Your eyes don't see </a:t>
            </a:r>
            <a:r>
              <a:rPr i="1" lang="en-US" sz="8400">
                <a:solidFill>
                  <a:srgbClr val="1A1820"/>
                </a:solidFill>
                <a:latin typeface="Georgia"/>
                <a:ea typeface="Georgia"/>
                <a:cs typeface="Georgia"/>
                <a:sym typeface="Georgia"/>
              </a:rPr>
              <a:t xml:space="preserve">everything </a:t>
            </a:r>
            <a:r>
              <a:rPr lang="en-US" sz="8400">
                <a:solidFill>
                  <a:srgbClr val="1A1820"/>
                </a:solidFill>
                <a:latin typeface="Georgia"/>
                <a:ea typeface="Georgia"/>
                <a:cs typeface="Georgia"/>
                <a:sym typeface="Georgia"/>
              </a:rPr>
              <a:t>equally.</a:t>
            </a:r>
            <a:endParaRPr sz="8400">
              <a:solidFill>
                <a:schemeClr val="dk1"/>
              </a:solidFill>
              <a:latin typeface="Calibri"/>
              <a:ea typeface="Calibri"/>
              <a:cs typeface="Calibri"/>
              <a:sym typeface="Calibri"/>
            </a:endParaRPr>
          </a:p>
        </p:txBody>
      </p:sp>
      <p:sp>
        <p:nvSpPr>
          <p:cNvPr id="118" name="Google Shape;118;p8"/>
          <p:cNvSpPr/>
          <p:nvPr/>
        </p:nvSpPr>
        <p:spPr>
          <a:xfrm>
            <a:off x="1333500" y="6907946"/>
            <a:ext cx="7063800" cy="86670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2250"/>
              <a:buFont typeface="Arial"/>
              <a:buNone/>
            </a:pPr>
            <a:r>
              <a:rPr lang="en-US" sz="2250">
                <a:solidFill>
                  <a:srgbClr val="423F46"/>
                </a:solidFill>
                <a:latin typeface="Arial"/>
                <a:ea typeface="Arial"/>
                <a:cs typeface="Arial"/>
                <a:sym typeface="Arial"/>
              </a:rPr>
              <a:t>Humans are drawn to motion, faces and contrast. We barely register the wall behind them.</a:t>
            </a:r>
            <a:endParaRPr sz="2250">
              <a:solidFill>
                <a:schemeClr val="dk1"/>
              </a:solidFill>
              <a:latin typeface="Calibri"/>
              <a:ea typeface="Calibri"/>
              <a:cs typeface="Calibri"/>
              <a:sym typeface="Calibri"/>
            </a:endParaRPr>
          </a:p>
        </p:txBody>
      </p:sp>
      <p:sp>
        <p:nvSpPr>
          <p:cNvPr id="119" name="Google Shape;119;p8"/>
          <p:cNvSpPr/>
          <p:nvPr/>
        </p:nvSpPr>
        <p:spPr>
          <a:xfrm>
            <a:off x="1333500" y="8204121"/>
            <a:ext cx="7409079" cy="2590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500"/>
              <a:buFont typeface="Courier New"/>
              <a:buNone/>
            </a:pPr>
            <a:r>
              <a:rPr lang="en-US" sz="1500">
                <a:solidFill>
                  <a:srgbClr val="88837A"/>
                </a:solidFill>
                <a:latin typeface="Courier New"/>
                <a:ea typeface="Courier New"/>
                <a:cs typeface="Courier New"/>
                <a:sym typeface="Courier New"/>
              </a:rPr>
              <a:t>Itti, Koch &amp; Niebur · IEEE TPAMI · 1998</a:t>
            </a:r>
            <a:endParaRPr sz="1500">
              <a:solidFill>
                <a:schemeClr val="dk1"/>
              </a:solidFill>
              <a:latin typeface="Calibri"/>
              <a:ea typeface="Calibri"/>
              <a:cs typeface="Calibri"/>
              <a:sym typeface="Calibri"/>
            </a:endParaRPr>
          </a:p>
        </p:txBody>
      </p:sp>
      <p:sp>
        <p:nvSpPr>
          <p:cNvPr id="120" name="Google Shape;120;p8"/>
          <p:cNvSpPr/>
          <p:nvPr/>
        </p:nvSpPr>
        <p:spPr>
          <a:xfrm>
            <a:off x="9288780" y="1333500"/>
            <a:ext cx="7665720" cy="7810500"/>
          </a:xfrm>
          <a:prstGeom prst="roundRect">
            <a:avLst>
              <a:gd fmla="val 497" name="adj"/>
            </a:avLst>
          </a:prstGeom>
          <a:solidFill>
            <a:srgbClr val="1A1820"/>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1" name="Google Shape;121;p8"/>
          <p:cNvPicPr preferRelativeResize="0"/>
          <p:nvPr/>
        </p:nvPicPr>
        <p:blipFill rotWithShape="1">
          <a:blip r:embed="rId3">
            <a:alphaModFix/>
          </a:blip>
          <a:srcRect b="0" l="0" r="0" t="0"/>
          <a:stretch/>
        </p:blipFill>
        <p:spPr>
          <a:xfrm>
            <a:off x="10373677" y="3952875"/>
            <a:ext cx="5495925" cy="2571750"/>
          </a:xfrm>
          <a:prstGeom prst="rect">
            <a:avLst/>
          </a:prstGeom>
          <a:noFill/>
          <a:ln>
            <a:noFill/>
          </a:ln>
        </p:spPr>
      </p:pic>
      <p:sp>
        <p:nvSpPr>
          <p:cNvPr id="122" name="Google Shape;122;p8"/>
          <p:cNvSpPr/>
          <p:nvPr/>
        </p:nvSpPr>
        <p:spPr>
          <a:xfrm>
            <a:off x="1333500" y="9540240"/>
            <a:ext cx="943451"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ATHARV</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127" name="Shape 127"/>
        <p:cNvGrpSpPr/>
        <p:nvPr/>
      </p:nvGrpSpPr>
      <p:grpSpPr>
        <a:xfrm>
          <a:off x="0" y="0"/>
          <a:ext cx="0" cy="0"/>
          <a:chOff x="0" y="0"/>
          <a:chExt cx="0" cy="0"/>
        </a:xfrm>
      </p:grpSpPr>
      <p:sp>
        <p:nvSpPr>
          <p:cNvPr id="128" name="Google Shape;128;p9"/>
          <p:cNvSpPr/>
          <p:nvPr/>
        </p:nvSpPr>
        <p:spPr>
          <a:xfrm>
            <a:off x="1333500" y="105918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248"/>
              <a:buFont typeface="Courier New"/>
              <a:buNone/>
            </a:pPr>
            <a:r>
              <a:rPr lang="en-US" sz="1249">
                <a:solidFill>
                  <a:srgbClr val="88837A"/>
                </a:solidFill>
                <a:latin typeface="Courier New"/>
                <a:ea typeface="Courier New"/>
                <a:cs typeface="Courier New"/>
                <a:sym typeface="Courier New"/>
              </a:rPr>
              <a:t>SO WHAT MAKES A REGION "SALIENT"?</a:t>
            </a:r>
            <a:endParaRPr sz="1249">
              <a:solidFill>
                <a:schemeClr val="dk1"/>
              </a:solidFill>
              <a:latin typeface="Calibri"/>
              <a:ea typeface="Calibri"/>
              <a:cs typeface="Calibri"/>
              <a:sym typeface="Calibri"/>
            </a:endParaRPr>
          </a:p>
        </p:txBody>
      </p:sp>
      <p:sp>
        <p:nvSpPr>
          <p:cNvPr id="129" name="Google Shape;129;p9"/>
          <p:cNvSpPr/>
          <p:nvPr/>
        </p:nvSpPr>
        <p:spPr>
          <a:xfrm>
            <a:off x="1333500" y="1520491"/>
            <a:ext cx="16089630" cy="1654969"/>
          </a:xfrm>
          <a:prstGeom prst="rect">
            <a:avLst/>
          </a:prstGeom>
          <a:noFill/>
          <a:ln>
            <a:noFill/>
          </a:ln>
        </p:spPr>
        <p:txBody>
          <a:bodyPr anchorCtr="0" anchor="t" bIns="25400" lIns="25400" spcFirstLastPara="1" rIns="25400" wrap="square" tIns="25400">
            <a:normAutofit/>
          </a:bodyPr>
          <a:lstStyle/>
          <a:p>
            <a:pPr indent="0" lvl="0" marL="0" marR="0" rtl="0" algn="l">
              <a:lnSpc>
                <a:spcPct val="86000"/>
              </a:lnSpc>
              <a:spcBef>
                <a:spcPts val="0"/>
              </a:spcBef>
              <a:spcAft>
                <a:spcPts val="0"/>
              </a:spcAft>
              <a:buClr>
                <a:srgbClr val="1A1820"/>
              </a:buClr>
              <a:buSzPts val="6105"/>
              <a:buFont typeface="Georgia"/>
              <a:buNone/>
            </a:pPr>
            <a:r>
              <a:rPr lang="en-US" sz="6105">
                <a:solidFill>
                  <a:srgbClr val="1A1820"/>
                </a:solidFill>
                <a:latin typeface="Georgia"/>
                <a:ea typeface="Georgia"/>
                <a:cs typeface="Georgia"/>
                <a:sym typeface="Georgia"/>
              </a:rPr>
              <a:t xml:space="preserve">A salient region is based on </a:t>
            </a:r>
            <a:r>
              <a:rPr i="1" lang="en-US" sz="6105">
                <a:solidFill>
                  <a:srgbClr val="1A1820"/>
                </a:solidFill>
                <a:latin typeface="Georgia"/>
                <a:ea typeface="Georgia"/>
                <a:cs typeface="Georgia"/>
                <a:sym typeface="Georgia"/>
              </a:rPr>
              <a:t xml:space="preserve">how </a:t>
            </a:r>
            <a:r>
              <a:rPr lang="en-US" sz="6105">
                <a:solidFill>
                  <a:srgbClr val="1A1820"/>
                </a:solidFill>
                <a:latin typeface="Georgia"/>
                <a:ea typeface="Georgia"/>
                <a:cs typeface="Georgia"/>
                <a:sym typeface="Georgia"/>
              </a:rPr>
              <a:t xml:space="preserve">you see and </a:t>
            </a:r>
            <a:r>
              <a:rPr i="1" lang="en-US" sz="6105">
                <a:solidFill>
                  <a:srgbClr val="DF4823"/>
                </a:solidFill>
                <a:latin typeface="Georgia"/>
                <a:ea typeface="Georgia"/>
                <a:cs typeface="Georgia"/>
                <a:sym typeface="Georgia"/>
              </a:rPr>
              <a:t xml:space="preserve">what </a:t>
            </a:r>
            <a:r>
              <a:rPr lang="en-US" sz="6105">
                <a:solidFill>
                  <a:srgbClr val="1A1820"/>
                </a:solidFill>
                <a:latin typeface="Georgia"/>
                <a:ea typeface="Georgia"/>
                <a:cs typeface="Georgia"/>
                <a:sym typeface="Georgia"/>
              </a:rPr>
              <a:t>you see.</a:t>
            </a:r>
            <a:endParaRPr sz="6105">
              <a:solidFill>
                <a:schemeClr val="dk1"/>
              </a:solidFill>
              <a:latin typeface="Calibri"/>
              <a:ea typeface="Calibri"/>
              <a:cs typeface="Calibri"/>
              <a:sym typeface="Calibri"/>
            </a:endParaRPr>
          </a:p>
        </p:txBody>
      </p:sp>
      <p:sp>
        <p:nvSpPr>
          <p:cNvPr id="130" name="Google Shape;130;p9"/>
          <p:cNvSpPr/>
          <p:nvPr/>
        </p:nvSpPr>
        <p:spPr>
          <a:xfrm>
            <a:off x="1333500" y="3758089"/>
            <a:ext cx="7809357"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200"/>
              <a:buFont typeface="Courier New"/>
              <a:buNone/>
            </a:pPr>
            <a:r>
              <a:rPr lang="en-US" sz="1200">
                <a:solidFill>
                  <a:srgbClr val="DF4823"/>
                </a:solidFill>
                <a:latin typeface="Courier New"/>
                <a:ea typeface="Courier New"/>
                <a:cs typeface="Courier New"/>
                <a:sym typeface="Courier New"/>
              </a:rPr>
              <a:t>PERCEPTUAL FACTORS</a:t>
            </a:r>
            <a:endParaRPr sz="1200">
              <a:solidFill>
                <a:schemeClr val="dk1"/>
              </a:solidFill>
              <a:latin typeface="Calibri"/>
              <a:ea typeface="Calibri"/>
              <a:cs typeface="Calibri"/>
              <a:sym typeface="Calibri"/>
            </a:endParaRPr>
          </a:p>
        </p:txBody>
      </p:sp>
      <p:sp>
        <p:nvSpPr>
          <p:cNvPr id="131" name="Google Shape;131;p9"/>
          <p:cNvSpPr/>
          <p:nvPr/>
        </p:nvSpPr>
        <p:spPr>
          <a:xfrm>
            <a:off x="1333500" y="4161949"/>
            <a:ext cx="75819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9"/>
          <p:cNvSpPr/>
          <p:nvPr/>
        </p:nvSpPr>
        <p:spPr>
          <a:xfrm>
            <a:off x="1333500" y="4341019"/>
            <a:ext cx="2747010" cy="33147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2100"/>
              <a:buFont typeface="Georgia"/>
              <a:buNone/>
            </a:pPr>
            <a:r>
              <a:rPr i="1" lang="en-US" sz="2100">
                <a:solidFill>
                  <a:srgbClr val="1A1820"/>
                </a:solidFill>
                <a:latin typeface="Georgia"/>
                <a:ea typeface="Georgia"/>
                <a:cs typeface="Georgia"/>
                <a:sym typeface="Georgia"/>
              </a:rPr>
              <a:t>Faces &amp; people</a:t>
            </a:r>
            <a:endParaRPr sz="2100">
              <a:solidFill>
                <a:schemeClr val="dk1"/>
              </a:solidFill>
              <a:latin typeface="Calibri"/>
              <a:ea typeface="Calibri"/>
              <a:cs typeface="Calibri"/>
              <a:sym typeface="Calibri"/>
            </a:endParaRPr>
          </a:p>
        </p:txBody>
      </p:sp>
      <p:sp>
        <p:nvSpPr>
          <p:cNvPr id="133" name="Google Shape;133;p9"/>
          <p:cNvSpPr/>
          <p:nvPr/>
        </p:nvSpPr>
        <p:spPr>
          <a:xfrm>
            <a:off x="4229100" y="4379119"/>
            <a:ext cx="4826889" cy="5715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423F46"/>
              </a:buClr>
              <a:buSzPts val="1500"/>
              <a:buFont typeface="Arial"/>
              <a:buNone/>
            </a:pPr>
            <a:r>
              <a:rPr lang="en-US" sz="1500">
                <a:solidFill>
                  <a:srgbClr val="423F46"/>
                </a:solidFill>
                <a:latin typeface="Arial"/>
                <a:ea typeface="Arial"/>
                <a:cs typeface="Arial"/>
                <a:sym typeface="Arial"/>
              </a:rPr>
              <a:t>Humans look at faces first — almost always, almost involuntarily.</a:t>
            </a:r>
            <a:endParaRPr sz="1500">
              <a:solidFill>
                <a:schemeClr val="dk1"/>
              </a:solidFill>
              <a:latin typeface="Calibri"/>
              <a:ea typeface="Calibri"/>
              <a:cs typeface="Calibri"/>
              <a:sym typeface="Calibri"/>
            </a:endParaRPr>
          </a:p>
        </p:txBody>
      </p:sp>
      <p:sp>
        <p:nvSpPr>
          <p:cNvPr id="134" name="Google Shape;134;p9"/>
          <p:cNvSpPr/>
          <p:nvPr/>
        </p:nvSpPr>
        <p:spPr>
          <a:xfrm>
            <a:off x="1333500" y="5198269"/>
            <a:ext cx="75819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9"/>
          <p:cNvSpPr/>
          <p:nvPr/>
        </p:nvSpPr>
        <p:spPr>
          <a:xfrm>
            <a:off x="1333500" y="5377339"/>
            <a:ext cx="2747010" cy="33147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2100"/>
              <a:buFont typeface="Georgia"/>
              <a:buNone/>
            </a:pPr>
            <a:r>
              <a:rPr i="1" lang="en-US" sz="2100">
                <a:solidFill>
                  <a:srgbClr val="1A1820"/>
                </a:solidFill>
                <a:latin typeface="Georgia"/>
                <a:ea typeface="Georgia"/>
                <a:cs typeface="Georgia"/>
                <a:sym typeface="Georgia"/>
              </a:rPr>
              <a:t>Motion</a:t>
            </a:r>
            <a:endParaRPr sz="2100">
              <a:solidFill>
                <a:schemeClr val="dk1"/>
              </a:solidFill>
              <a:latin typeface="Calibri"/>
              <a:ea typeface="Calibri"/>
              <a:cs typeface="Calibri"/>
              <a:sym typeface="Calibri"/>
            </a:endParaRPr>
          </a:p>
        </p:txBody>
      </p:sp>
      <p:sp>
        <p:nvSpPr>
          <p:cNvPr id="136" name="Google Shape;136;p9"/>
          <p:cNvSpPr/>
          <p:nvPr/>
        </p:nvSpPr>
        <p:spPr>
          <a:xfrm>
            <a:off x="4229100" y="5415439"/>
            <a:ext cx="4826889" cy="5715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423F46"/>
              </a:buClr>
              <a:buSzPts val="1500"/>
              <a:buFont typeface="Arial"/>
              <a:buNone/>
            </a:pPr>
            <a:r>
              <a:rPr lang="en-US" sz="1500">
                <a:solidFill>
                  <a:srgbClr val="423F46"/>
                </a:solidFill>
                <a:latin typeface="Arial"/>
                <a:ea typeface="Arial"/>
                <a:cs typeface="Arial"/>
                <a:sym typeface="Arial"/>
              </a:rPr>
              <a:t>Moving regions draw the eye. Static background compresses freely.</a:t>
            </a:r>
            <a:endParaRPr sz="1500">
              <a:solidFill>
                <a:schemeClr val="dk1"/>
              </a:solidFill>
              <a:latin typeface="Calibri"/>
              <a:ea typeface="Calibri"/>
              <a:cs typeface="Calibri"/>
              <a:sym typeface="Calibri"/>
            </a:endParaRPr>
          </a:p>
        </p:txBody>
      </p:sp>
      <p:sp>
        <p:nvSpPr>
          <p:cNvPr id="137" name="Google Shape;137;p9"/>
          <p:cNvSpPr/>
          <p:nvPr/>
        </p:nvSpPr>
        <p:spPr>
          <a:xfrm>
            <a:off x="1333500" y="6234589"/>
            <a:ext cx="75819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9"/>
          <p:cNvSpPr/>
          <p:nvPr/>
        </p:nvSpPr>
        <p:spPr>
          <a:xfrm>
            <a:off x="1333500" y="6413659"/>
            <a:ext cx="2747010" cy="33147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2100"/>
              <a:buFont typeface="Georgia"/>
              <a:buNone/>
            </a:pPr>
            <a:r>
              <a:rPr i="1" lang="en-US" sz="2100">
                <a:solidFill>
                  <a:srgbClr val="1A1820"/>
                </a:solidFill>
                <a:latin typeface="Georgia"/>
                <a:ea typeface="Georgia"/>
                <a:cs typeface="Georgia"/>
                <a:sym typeface="Georgia"/>
              </a:rPr>
              <a:t>Edges &amp; texture</a:t>
            </a:r>
            <a:endParaRPr sz="2100">
              <a:solidFill>
                <a:schemeClr val="dk1"/>
              </a:solidFill>
              <a:latin typeface="Calibri"/>
              <a:ea typeface="Calibri"/>
              <a:cs typeface="Calibri"/>
              <a:sym typeface="Calibri"/>
            </a:endParaRPr>
          </a:p>
        </p:txBody>
      </p:sp>
      <p:sp>
        <p:nvSpPr>
          <p:cNvPr id="139" name="Google Shape;139;p9"/>
          <p:cNvSpPr/>
          <p:nvPr/>
        </p:nvSpPr>
        <p:spPr>
          <a:xfrm>
            <a:off x="4229100" y="6451759"/>
            <a:ext cx="4826889"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423F46"/>
              </a:buClr>
              <a:buSzPts val="1500"/>
              <a:buFont typeface="Arial"/>
              <a:buNone/>
            </a:pPr>
            <a:r>
              <a:rPr lang="en-US" sz="1500">
                <a:solidFill>
                  <a:srgbClr val="423F46"/>
                </a:solidFill>
                <a:latin typeface="Arial"/>
                <a:ea typeface="Arial"/>
                <a:cs typeface="Arial"/>
                <a:sym typeface="Arial"/>
              </a:rPr>
              <a:t>Sharp boundaries hold information. Flat regions don't.</a:t>
            </a:r>
            <a:endParaRPr sz="1500">
              <a:solidFill>
                <a:schemeClr val="dk1"/>
              </a:solidFill>
              <a:latin typeface="Calibri"/>
              <a:ea typeface="Calibri"/>
              <a:cs typeface="Calibri"/>
              <a:sym typeface="Calibri"/>
            </a:endParaRPr>
          </a:p>
        </p:txBody>
      </p:sp>
      <p:sp>
        <p:nvSpPr>
          <p:cNvPr id="140" name="Google Shape;140;p9"/>
          <p:cNvSpPr/>
          <p:nvPr/>
        </p:nvSpPr>
        <p:spPr>
          <a:xfrm>
            <a:off x="1333500" y="7004209"/>
            <a:ext cx="75819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9"/>
          <p:cNvSpPr/>
          <p:nvPr/>
        </p:nvSpPr>
        <p:spPr>
          <a:xfrm>
            <a:off x="1333500" y="7183279"/>
            <a:ext cx="2747010" cy="33147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2100"/>
              <a:buFont typeface="Georgia"/>
              <a:buNone/>
            </a:pPr>
            <a:r>
              <a:rPr i="1" lang="en-US" sz="2100">
                <a:solidFill>
                  <a:srgbClr val="1A1820"/>
                </a:solidFill>
                <a:latin typeface="Georgia"/>
                <a:ea typeface="Georgia"/>
                <a:cs typeface="Georgia"/>
                <a:sym typeface="Georgia"/>
              </a:rPr>
              <a:t>Contrast &amp; color pop</a:t>
            </a:r>
            <a:endParaRPr sz="2100">
              <a:solidFill>
                <a:schemeClr val="dk1"/>
              </a:solidFill>
              <a:latin typeface="Calibri"/>
              <a:ea typeface="Calibri"/>
              <a:cs typeface="Calibri"/>
              <a:sym typeface="Calibri"/>
            </a:endParaRPr>
          </a:p>
        </p:txBody>
      </p:sp>
      <p:sp>
        <p:nvSpPr>
          <p:cNvPr id="142" name="Google Shape;142;p9"/>
          <p:cNvSpPr/>
          <p:nvPr/>
        </p:nvSpPr>
        <p:spPr>
          <a:xfrm>
            <a:off x="4229100" y="7221379"/>
            <a:ext cx="4826889" cy="5715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423F46"/>
              </a:buClr>
              <a:buSzPts val="1500"/>
              <a:buFont typeface="Arial"/>
              <a:buNone/>
            </a:pPr>
            <a:r>
              <a:rPr lang="en-US" sz="1500">
                <a:solidFill>
                  <a:srgbClr val="423F46"/>
                </a:solidFill>
                <a:latin typeface="Arial"/>
                <a:ea typeface="Arial"/>
                <a:cs typeface="Arial"/>
                <a:sym typeface="Arial"/>
              </a:rPr>
              <a:t>A red jacket on a grey street is loud. A grey one is invisible.</a:t>
            </a:r>
            <a:endParaRPr sz="1500">
              <a:solidFill>
                <a:schemeClr val="dk1"/>
              </a:solidFill>
              <a:latin typeface="Calibri"/>
              <a:ea typeface="Calibri"/>
              <a:cs typeface="Calibri"/>
              <a:sym typeface="Calibri"/>
            </a:endParaRPr>
          </a:p>
        </p:txBody>
      </p:sp>
      <p:sp>
        <p:nvSpPr>
          <p:cNvPr id="143" name="Google Shape;143;p9"/>
          <p:cNvSpPr/>
          <p:nvPr/>
        </p:nvSpPr>
        <p:spPr>
          <a:xfrm>
            <a:off x="1333500" y="8695849"/>
            <a:ext cx="75819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9"/>
          <p:cNvSpPr/>
          <p:nvPr/>
        </p:nvSpPr>
        <p:spPr>
          <a:xfrm>
            <a:off x="1333500" y="8040529"/>
            <a:ext cx="75819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9"/>
          <p:cNvSpPr/>
          <p:nvPr/>
        </p:nvSpPr>
        <p:spPr>
          <a:xfrm>
            <a:off x="1333500" y="8219599"/>
            <a:ext cx="2747010" cy="33147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2100"/>
              <a:buFont typeface="Georgia"/>
              <a:buNone/>
            </a:pPr>
            <a:r>
              <a:rPr i="1" lang="en-US" sz="2100">
                <a:solidFill>
                  <a:srgbClr val="1A1820"/>
                </a:solidFill>
                <a:latin typeface="Georgia"/>
                <a:ea typeface="Georgia"/>
                <a:cs typeface="Georgia"/>
                <a:sym typeface="Georgia"/>
              </a:rPr>
              <a:t>Center bias</a:t>
            </a:r>
            <a:endParaRPr sz="2100">
              <a:solidFill>
                <a:schemeClr val="dk1"/>
              </a:solidFill>
              <a:latin typeface="Calibri"/>
              <a:ea typeface="Calibri"/>
              <a:cs typeface="Calibri"/>
              <a:sym typeface="Calibri"/>
            </a:endParaRPr>
          </a:p>
        </p:txBody>
      </p:sp>
      <p:sp>
        <p:nvSpPr>
          <p:cNvPr id="146" name="Google Shape;146;p9"/>
          <p:cNvSpPr/>
          <p:nvPr/>
        </p:nvSpPr>
        <p:spPr>
          <a:xfrm>
            <a:off x="4229100" y="8257699"/>
            <a:ext cx="4826889"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423F46"/>
              </a:buClr>
              <a:buSzPts val="1500"/>
              <a:buFont typeface="Arial"/>
              <a:buNone/>
            </a:pPr>
            <a:r>
              <a:rPr lang="en-US" sz="1500">
                <a:solidFill>
                  <a:srgbClr val="423F46"/>
                </a:solidFill>
                <a:latin typeface="Arial"/>
                <a:ea typeface="Arial"/>
                <a:cs typeface="Arial"/>
                <a:sym typeface="Arial"/>
              </a:rPr>
              <a:t>Eyes statistically gravitate to the middle of the frame.</a:t>
            </a:r>
            <a:endParaRPr sz="1500">
              <a:solidFill>
                <a:schemeClr val="dk1"/>
              </a:solidFill>
              <a:latin typeface="Calibri"/>
              <a:ea typeface="Calibri"/>
              <a:cs typeface="Calibri"/>
              <a:sym typeface="Calibri"/>
            </a:endParaRPr>
          </a:p>
        </p:txBody>
      </p:sp>
      <p:sp>
        <p:nvSpPr>
          <p:cNvPr id="147" name="Google Shape;147;p9"/>
          <p:cNvSpPr/>
          <p:nvPr/>
        </p:nvSpPr>
        <p:spPr>
          <a:xfrm>
            <a:off x="9372600" y="3758089"/>
            <a:ext cx="7809357"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200"/>
              <a:buFont typeface="Courier New"/>
              <a:buNone/>
            </a:pPr>
            <a:r>
              <a:rPr lang="en-US" sz="1200">
                <a:solidFill>
                  <a:srgbClr val="DF4823"/>
                </a:solidFill>
                <a:latin typeface="Courier New"/>
                <a:ea typeface="Courier New"/>
                <a:cs typeface="Courier New"/>
                <a:sym typeface="Courier New"/>
              </a:rPr>
              <a:t>SEMANTIC FACTORS</a:t>
            </a:r>
            <a:endParaRPr sz="1200">
              <a:solidFill>
                <a:schemeClr val="dk1"/>
              </a:solidFill>
              <a:latin typeface="Calibri"/>
              <a:ea typeface="Calibri"/>
              <a:cs typeface="Calibri"/>
              <a:sym typeface="Calibri"/>
            </a:endParaRPr>
          </a:p>
        </p:txBody>
      </p:sp>
      <p:sp>
        <p:nvSpPr>
          <p:cNvPr id="148" name="Google Shape;148;p9"/>
          <p:cNvSpPr/>
          <p:nvPr/>
        </p:nvSpPr>
        <p:spPr>
          <a:xfrm>
            <a:off x="9372600" y="4161949"/>
            <a:ext cx="75819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9"/>
          <p:cNvSpPr/>
          <p:nvPr/>
        </p:nvSpPr>
        <p:spPr>
          <a:xfrm>
            <a:off x="9372600" y="4341019"/>
            <a:ext cx="2747010" cy="33147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2100"/>
              <a:buFont typeface="Georgia"/>
              <a:buNone/>
            </a:pPr>
            <a:r>
              <a:rPr i="1" lang="en-US" sz="2100">
                <a:solidFill>
                  <a:srgbClr val="1A1820"/>
                </a:solidFill>
                <a:latin typeface="Georgia"/>
                <a:ea typeface="Georgia"/>
                <a:cs typeface="Georgia"/>
                <a:sym typeface="Georgia"/>
              </a:rPr>
              <a:t>Object class</a:t>
            </a:r>
            <a:endParaRPr sz="2100">
              <a:solidFill>
                <a:schemeClr val="dk1"/>
              </a:solidFill>
              <a:latin typeface="Calibri"/>
              <a:ea typeface="Calibri"/>
              <a:cs typeface="Calibri"/>
              <a:sym typeface="Calibri"/>
            </a:endParaRPr>
          </a:p>
        </p:txBody>
      </p:sp>
      <p:sp>
        <p:nvSpPr>
          <p:cNvPr id="150" name="Google Shape;150;p9"/>
          <p:cNvSpPr/>
          <p:nvPr/>
        </p:nvSpPr>
        <p:spPr>
          <a:xfrm>
            <a:off x="12268200" y="4379119"/>
            <a:ext cx="4826889" cy="5715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423F46"/>
              </a:buClr>
              <a:buSzPts val="1500"/>
              <a:buFont typeface="Arial"/>
              <a:buNone/>
            </a:pPr>
            <a:r>
              <a:rPr lang="en-US" sz="1500">
                <a:solidFill>
                  <a:srgbClr val="423F46"/>
                </a:solidFill>
                <a:latin typeface="Arial"/>
                <a:ea typeface="Arial"/>
                <a:cs typeface="Arial"/>
                <a:sym typeface="Arial"/>
              </a:rPr>
              <a:t>A person matters more than a chair. A license plate matters more than a tree.</a:t>
            </a:r>
            <a:endParaRPr sz="1500">
              <a:solidFill>
                <a:schemeClr val="dk1"/>
              </a:solidFill>
              <a:latin typeface="Calibri"/>
              <a:ea typeface="Calibri"/>
              <a:cs typeface="Calibri"/>
              <a:sym typeface="Calibri"/>
            </a:endParaRPr>
          </a:p>
        </p:txBody>
      </p:sp>
      <p:sp>
        <p:nvSpPr>
          <p:cNvPr id="151" name="Google Shape;151;p9"/>
          <p:cNvSpPr/>
          <p:nvPr/>
        </p:nvSpPr>
        <p:spPr>
          <a:xfrm>
            <a:off x="9372600" y="5198269"/>
            <a:ext cx="75819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9"/>
          <p:cNvSpPr/>
          <p:nvPr/>
        </p:nvSpPr>
        <p:spPr>
          <a:xfrm>
            <a:off x="9372600" y="5377339"/>
            <a:ext cx="2747010" cy="33147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2100"/>
              <a:buFont typeface="Georgia"/>
              <a:buNone/>
            </a:pPr>
            <a:r>
              <a:rPr i="1" lang="en-US" sz="2100">
                <a:solidFill>
                  <a:srgbClr val="1A1820"/>
                </a:solidFill>
                <a:latin typeface="Georgia"/>
                <a:ea typeface="Georgia"/>
                <a:cs typeface="Georgia"/>
                <a:sym typeface="Georgia"/>
              </a:rPr>
              <a:t>Task relevance</a:t>
            </a:r>
            <a:endParaRPr sz="2100">
              <a:solidFill>
                <a:schemeClr val="dk1"/>
              </a:solidFill>
              <a:latin typeface="Calibri"/>
              <a:ea typeface="Calibri"/>
              <a:cs typeface="Calibri"/>
              <a:sym typeface="Calibri"/>
            </a:endParaRPr>
          </a:p>
        </p:txBody>
      </p:sp>
      <p:sp>
        <p:nvSpPr>
          <p:cNvPr id="153" name="Google Shape;153;p9"/>
          <p:cNvSpPr/>
          <p:nvPr/>
        </p:nvSpPr>
        <p:spPr>
          <a:xfrm>
            <a:off x="12268200" y="5415439"/>
            <a:ext cx="4826889" cy="5715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423F46"/>
              </a:buClr>
              <a:buSzPts val="1500"/>
              <a:buFont typeface="Arial"/>
              <a:buNone/>
            </a:pPr>
            <a:r>
              <a:rPr lang="en-US" sz="1500">
                <a:solidFill>
                  <a:srgbClr val="423F46"/>
                </a:solidFill>
                <a:latin typeface="Arial"/>
                <a:ea typeface="Arial"/>
                <a:cs typeface="Arial"/>
                <a:sym typeface="Arial"/>
              </a:rPr>
              <a:t>For security: "did someone come in" matters. Carpet patterns don't.</a:t>
            </a:r>
            <a:endParaRPr sz="1500">
              <a:solidFill>
                <a:schemeClr val="dk1"/>
              </a:solidFill>
              <a:latin typeface="Calibri"/>
              <a:ea typeface="Calibri"/>
              <a:cs typeface="Calibri"/>
              <a:sym typeface="Calibri"/>
            </a:endParaRPr>
          </a:p>
        </p:txBody>
      </p:sp>
      <p:sp>
        <p:nvSpPr>
          <p:cNvPr id="154" name="Google Shape;154;p9"/>
          <p:cNvSpPr/>
          <p:nvPr/>
        </p:nvSpPr>
        <p:spPr>
          <a:xfrm>
            <a:off x="1333500" y="9540240"/>
            <a:ext cx="943451"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ATHARV</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159" name="Shape 159"/>
        <p:cNvGrpSpPr/>
        <p:nvPr/>
      </p:nvGrpSpPr>
      <p:grpSpPr>
        <a:xfrm>
          <a:off x="0" y="0"/>
          <a:ext cx="0" cy="0"/>
          <a:chOff x="0" y="0"/>
          <a:chExt cx="0" cy="0"/>
        </a:xfrm>
      </p:grpSpPr>
      <p:sp>
        <p:nvSpPr>
          <p:cNvPr id="160" name="Google Shape;160;p10"/>
          <p:cNvSpPr/>
          <p:nvPr/>
        </p:nvSpPr>
        <p:spPr>
          <a:xfrm>
            <a:off x="1333500" y="2869287"/>
            <a:ext cx="8016732"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II · PERIPHERAL VISION</a:t>
            </a:r>
            <a:endParaRPr sz="1350">
              <a:solidFill>
                <a:schemeClr val="dk1"/>
              </a:solidFill>
              <a:latin typeface="Calibri"/>
              <a:ea typeface="Calibri"/>
              <a:cs typeface="Calibri"/>
              <a:sym typeface="Calibri"/>
            </a:endParaRPr>
          </a:p>
        </p:txBody>
      </p:sp>
      <p:sp>
        <p:nvSpPr>
          <p:cNvPr id="161" name="Google Shape;161;p10"/>
          <p:cNvSpPr/>
          <p:nvPr/>
        </p:nvSpPr>
        <p:spPr>
          <a:xfrm>
            <a:off x="1333500" y="3410307"/>
            <a:ext cx="8016732" cy="2086213"/>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8400"/>
              <a:buFont typeface="Georgia"/>
              <a:buNone/>
            </a:pPr>
            <a:r>
              <a:rPr lang="en-US" sz="8400">
                <a:solidFill>
                  <a:srgbClr val="1A1820"/>
                </a:solidFill>
                <a:latin typeface="Georgia"/>
                <a:ea typeface="Georgia"/>
                <a:cs typeface="Georgia"/>
                <a:sym typeface="Georgia"/>
              </a:rPr>
              <a:t xml:space="preserve">Only </a:t>
            </a:r>
            <a:r>
              <a:rPr i="1" lang="en-US" sz="8400">
                <a:solidFill>
                  <a:srgbClr val="DF4823"/>
                </a:solidFill>
                <a:latin typeface="Georgia"/>
                <a:ea typeface="Georgia"/>
                <a:cs typeface="Georgia"/>
                <a:sym typeface="Georgia"/>
              </a:rPr>
              <a:t xml:space="preserve">1° </a:t>
            </a:r>
            <a:r>
              <a:rPr lang="en-US" sz="8400">
                <a:solidFill>
                  <a:srgbClr val="1A1820"/>
                </a:solidFill>
                <a:latin typeface="Georgia"/>
                <a:ea typeface="Georgia"/>
                <a:cs typeface="Georgia"/>
                <a:sym typeface="Georgia"/>
              </a:rPr>
              <a:t>of your vision is sharp.</a:t>
            </a:r>
            <a:endParaRPr sz="8400">
              <a:solidFill>
                <a:schemeClr val="dk1"/>
              </a:solidFill>
              <a:latin typeface="Calibri"/>
              <a:ea typeface="Calibri"/>
              <a:cs typeface="Calibri"/>
              <a:sym typeface="Calibri"/>
            </a:endParaRPr>
          </a:p>
        </p:txBody>
      </p:sp>
      <p:sp>
        <p:nvSpPr>
          <p:cNvPr id="162" name="Google Shape;162;p10"/>
          <p:cNvSpPr/>
          <p:nvPr/>
        </p:nvSpPr>
        <p:spPr>
          <a:xfrm>
            <a:off x="1333500" y="5983091"/>
            <a:ext cx="7063740" cy="1281113"/>
          </a:xfrm>
          <a:prstGeom prst="rect">
            <a:avLst/>
          </a:prstGeom>
          <a:noFill/>
          <a:ln>
            <a:noFill/>
          </a:ln>
        </p:spPr>
        <p:txBody>
          <a:bodyPr anchorCtr="0" anchor="t" bIns="25400" lIns="25400" spcFirstLastPara="1" rIns="25400" wrap="square" tIns="25400">
            <a:normAutofit/>
          </a:bodyPr>
          <a:lstStyle/>
          <a:p>
            <a:pPr indent="0" lvl="0" marL="0" marR="0" rtl="0" algn="l">
              <a:lnSpc>
                <a:spcPct val="125000"/>
              </a:lnSpc>
              <a:spcBef>
                <a:spcPts val="0"/>
              </a:spcBef>
              <a:spcAft>
                <a:spcPts val="0"/>
              </a:spcAft>
              <a:buClr>
                <a:srgbClr val="423F46"/>
              </a:buClr>
              <a:buSzPts val="2081"/>
              <a:buFont typeface="Arial"/>
              <a:buNone/>
            </a:pPr>
            <a:r>
              <a:rPr lang="en-US" sz="2081">
                <a:solidFill>
                  <a:srgbClr val="423F46"/>
                </a:solidFill>
                <a:latin typeface="Arial"/>
                <a:ea typeface="Arial"/>
                <a:cs typeface="Arial"/>
                <a:sym typeface="Arial"/>
              </a:rPr>
              <a:t>The fovea — the sharp centre of your eye — is tiny. Everything beyond it is your peripheral vision, and it's surprisingly blurry.</a:t>
            </a:r>
            <a:endParaRPr sz="2081">
              <a:solidFill>
                <a:schemeClr val="dk1"/>
              </a:solidFill>
              <a:latin typeface="Calibri"/>
              <a:ea typeface="Calibri"/>
              <a:cs typeface="Calibri"/>
              <a:sym typeface="Calibri"/>
            </a:endParaRPr>
          </a:p>
        </p:txBody>
      </p:sp>
      <p:sp>
        <p:nvSpPr>
          <p:cNvPr id="163" name="Google Shape;163;p10"/>
          <p:cNvSpPr/>
          <p:nvPr/>
        </p:nvSpPr>
        <p:spPr>
          <a:xfrm>
            <a:off x="1333500" y="7646313"/>
            <a:ext cx="8016732" cy="259080"/>
          </a:xfrm>
          <a:prstGeom prst="rect">
            <a:avLst/>
          </a:prstGeom>
          <a:noFill/>
          <a:ln>
            <a:noFill/>
          </a:ln>
        </p:spPr>
        <p:txBody>
          <a:bodyPr anchorCtr="0" anchor="t" bIns="25400" lIns="25400" spcFirstLastPara="1" rIns="25400" wrap="square" tIns="25400">
            <a:normAutofit/>
          </a:bodyPr>
          <a:lstStyle/>
          <a:p>
            <a:pPr indent="0" lvl="0" marL="0" marR="0" rtl="0" algn="l">
              <a:lnSpc>
                <a:spcPct val="90000"/>
              </a:lnSpc>
              <a:spcBef>
                <a:spcPts val="0"/>
              </a:spcBef>
              <a:spcAft>
                <a:spcPts val="0"/>
              </a:spcAft>
              <a:buClr>
                <a:srgbClr val="88837A"/>
              </a:buClr>
              <a:buSzPts val="1387"/>
              <a:buFont typeface="Courier New"/>
              <a:buNone/>
            </a:pPr>
            <a:r>
              <a:rPr lang="en-US" sz="1388">
                <a:solidFill>
                  <a:srgbClr val="88837A"/>
                </a:solidFill>
                <a:latin typeface="Courier New"/>
                <a:ea typeface="Courier New"/>
                <a:cs typeface="Courier New"/>
                <a:sym typeface="Courier New"/>
              </a:rPr>
              <a:t>Geisler &amp; Perry · SPIE Human Vision · 1998</a:t>
            </a:r>
            <a:endParaRPr sz="1388">
              <a:solidFill>
                <a:schemeClr val="dk1"/>
              </a:solidFill>
              <a:latin typeface="Calibri"/>
              <a:ea typeface="Calibri"/>
              <a:cs typeface="Calibri"/>
              <a:sym typeface="Calibri"/>
            </a:endParaRPr>
          </a:p>
        </p:txBody>
      </p:sp>
      <p:pic>
        <p:nvPicPr>
          <p:cNvPr descr="preencoded.png" id="164" name="Google Shape;164;p10"/>
          <p:cNvPicPr preferRelativeResize="0"/>
          <p:nvPr/>
        </p:nvPicPr>
        <p:blipFill rotWithShape="1">
          <a:blip r:embed="rId3">
            <a:alphaModFix/>
          </a:blip>
          <a:srcRect b="0" l="0" r="0" t="0"/>
          <a:stretch/>
        </p:blipFill>
        <p:spPr>
          <a:xfrm>
            <a:off x="10559058" y="2381250"/>
            <a:ext cx="5715000" cy="5715000"/>
          </a:xfrm>
          <a:prstGeom prst="rect">
            <a:avLst/>
          </a:prstGeom>
          <a:noFill/>
          <a:ln>
            <a:noFill/>
          </a:ln>
        </p:spPr>
      </p:pic>
      <p:sp>
        <p:nvSpPr>
          <p:cNvPr id="165" name="Google Shape;165;p10"/>
          <p:cNvSpPr/>
          <p:nvPr/>
        </p:nvSpPr>
        <p:spPr>
          <a:xfrm>
            <a:off x="1333500" y="9540240"/>
            <a:ext cx="943451"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ATHARV</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170" name="Shape 170"/>
        <p:cNvGrpSpPr/>
        <p:nvPr/>
      </p:nvGrpSpPr>
      <p:grpSpPr>
        <a:xfrm>
          <a:off x="0" y="0"/>
          <a:ext cx="0" cy="0"/>
          <a:chOff x="0" y="0"/>
          <a:chExt cx="0" cy="0"/>
        </a:xfrm>
      </p:grpSpPr>
      <p:sp>
        <p:nvSpPr>
          <p:cNvPr id="171" name="Google Shape;171;p11"/>
          <p:cNvSpPr/>
          <p:nvPr/>
        </p:nvSpPr>
        <p:spPr>
          <a:xfrm>
            <a:off x="1333500" y="2255877"/>
            <a:ext cx="8016732"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III · JUST-NOTICEABLE-DIFFERENCE</a:t>
            </a:r>
            <a:endParaRPr sz="1350">
              <a:solidFill>
                <a:schemeClr val="dk1"/>
              </a:solidFill>
              <a:latin typeface="Calibri"/>
              <a:ea typeface="Calibri"/>
              <a:cs typeface="Calibri"/>
              <a:sym typeface="Calibri"/>
            </a:endParaRPr>
          </a:p>
        </p:txBody>
      </p:sp>
      <p:sp>
        <p:nvSpPr>
          <p:cNvPr id="172" name="Google Shape;172;p11"/>
          <p:cNvSpPr/>
          <p:nvPr/>
        </p:nvSpPr>
        <p:spPr>
          <a:xfrm>
            <a:off x="1333500" y="2796897"/>
            <a:ext cx="8016732" cy="2898577"/>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7800"/>
              <a:buFont typeface="Georgia"/>
              <a:buNone/>
            </a:pPr>
            <a:r>
              <a:rPr lang="en-US" sz="7800">
                <a:solidFill>
                  <a:srgbClr val="1A1820"/>
                </a:solidFill>
                <a:latin typeface="Georgia"/>
                <a:ea typeface="Georgia"/>
                <a:cs typeface="Georgia"/>
                <a:sym typeface="Georgia"/>
              </a:rPr>
              <a:t xml:space="preserve">There's a threshold the </a:t>
            </a:r>
            <a:r>
              <a:rPr i="1" lang="en-US" sz="7800">
                <a:solidFill>
                  <a:srgbClr val="DF4823"/>
                </a:solidFill>
                <a:latin typeface="Georgia"/>
                <a:ea typeface="Georgia"/>
                <a:cs typeface="Georgia"/>
                <a:sym typeface="Georgia"/>
              </a:rPr>
              <a:t>eye can't cross.</a:t>
            </a:r>
            <a:endParaRPr sz="7800">
              <a:solidFill>
                <a:schemeClr val="dk1"/>
              </a:solidFill>
              <a:latin typeface="Calibri"/>
              <a:ea typeface="Calibri"/>
              <a:cs typeface="Calibri"/>
              <a:sym typeface="Calibri"/>
            </a:endParaRPr>
          </a:p>
        </p:txBody>
      </p:sp>
      <p:sp>
        <p:nvSpPr>
          <p:cNvPr id="173" name="Google Shape;173;p11"/>
          <p:cNvSpPr/>
          <p:nvPr/>
        </p:nvSpPr>
        <p:spPr>
          <a:xfrm>
            <a:off x="1333500" y="6521853"/>
            <a:ext cx="7063800" cy="169560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2081"/>
              <a:buFont typeface="Arial"/>
              <a:buNone/>
            </a:pPr>
            <a:r>
              <a:rPr lang="en-US" sz="2081">
                <a:solidFill>
                  <a:srgbClr val="423F46"/>
                </a:solidFill>
                <a:latin typeface="Arial"/>
                <a:ea typeface="Arial"/>
                <a:cs typeface="Arial"/>
                <a:sym typeface="Arial"/>
              </a:rPr>
              <a:t>A measurable point below which the eye literally cannot tell quality has dropped. Fast motion and busy textures hide artifacts even further — the brain is too busy to notice.</a:t>
            </a:r>
            <a:endParaRPr sz="2081">
              <a:solidFill>
                <a:schemeClr val="dk1"/>
              </a:solidFill>
              <a:latin typeface="Calibri"/>
              <a:ea typeface="Calibri"/>
              <a:cs typeface="Calibri"/>
              <a:sym typeface="Calibri"/>
            </a:endParaRPr>
          </a:p>
        </p:txBody>
      </p:sp>
      <p:sp>
        <p:nvSpPr>
          <p:cNvPr id="174" name="Google Shape;174;p11"/>
          <p:cNvSpPr/>
          <p:nvPr/>
        </p:nvSpPr>
        <p:spPr>
          <a:xfrm>
            <a:off x="1333500" y="8217449"/>
            <a:ext cx="8016600" cy="259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500"/>
              <a:buFont typeface="Courier New"/>
              <a:buNone/>
            </a:pPr>
            <a:r>
              <a:rPr lang="en-US" sz="1500">
                <a:solidFill>
                  <a:srgbClr val="88837A"/>
                </a:solidFill>
                <a:latin typeface="Courier New"/>
                <a:ea typeface="Courier New"/>
                <a:cs typeface="Courier New"/>
                <a:sym typeface="Courier New"/>
              </a:rPr>
              <a:t>Yang et al. · Signal Processing · 2005</a:t>
            </a:r>
            <a:endParaRPr sz="1500">
              <a:solidFill>
                <a:schemeClr val="dk1"/>
              </a:solidFill>
              <a:latin typeface="Calibri"/>
              <a:ea typeface="Calibri"/>
              <a:cs typeface="Calibri"/>
              <a:sym typeface="Calibri"/>
            </a:endParaRPr>
          </a:p>
        </p:txBody>
      </p:sp>
      <p:pic>
        <p:nvPicPr>
          <p:cNvPr descr="preencoded.png" id="175" name="Google Shape;175;p11"/>
          <p:cNvPicPr preferRelativeResize="0"/>
          <p:nvPr/>
        </p:nvPicPr>
        <p:blipFill rotWithShape="1">
          <a:blip r:embed="rId3">
            <a:alphaModFix/>
          </a:blip>
          <a:srcRect b="0" l="0" r="0" t="0"/>
          <a:stretch/>
        </p:blipFill>
        <p:spPr>
          <a:xfrm>
            <a:off x="9878735" y="2345174"/>
            <a:ext cx="7075765" cy="5749052"/>
          </a:xfrm>
          <a:prstGeom prst="rect">
            <a:avLst/>
          </a:prstGeom>
          <a:noFill/>
          <a:ln>
            <a:noFill/>
          </a:ln>
        </p:spPr>
      </p:pic>
      <p:sp>
        <p:nvSpPr>
          <p:cNvPr id="176" name="Google Shape;176;p11"/>
          <p:cNvSpPr/>
          <p:nvPr/>
        </p:nvSpPr>
        <p:spPr>
          <a:xfrm>
            <a:off x="1333500" y="9540240"/>
            <a:ext cx="943451"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ATHARV</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181" name="Shape 181"/>
        <p:cNvGrpSpPr/>
        <p:nvPr/>
      </p:nvGrpSpPr>
      <p:grpSpPr>
        <a:xfrm>
          <a:off x="0" y="0"/>
          <a:ext cx="0" cy="0"/>
          <a:chOff x="0" y="0"/>
          <a:chExt cx="0" cy="0"/>
        </a:xfrm>
      </p:grpSpPr>
      <p:sp>
        <p:nvSpPr>
          <p:cNvPr id="182" name="Google Shape;182;p12"/>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PUTTING IT TOGETHER</a:t>
            </a:r>
            <a:endParaRPr sz="1350">
              <a:solidFill>
                <a:schemeClr val="dk1"/>
              </a:solidFill>
              <a:latin typeface="Calibri"/>
              <a:ea typeface="Calibri"/>
              <a:cs typeface="Calibri"/>
              <a:sym typeface="Calibri"/>
            </a:endParaRPr>
          </a:p>
        </p:txBody>
      </p:sp>
      <p:sp>
        <p:nvSpPr>
          <p:cNvPr id="183" name="Google Shape;183;p12"/>
          <p:cNvSpPr/>
          <p:nvPr/>
        </p:nvSpPr>
        <p:spPr>
          <a:xfrm>
            <a:off x="1333500" y="1760220"/>
            <a:ext cx="15697200" cy="233624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9300"/>
              <a:buFont typeface="Georgia"/>
              <a:buNone/>
            </a:pPr>
            <a:r>
              <a:rPr lang="en-US" sz="9300">
                <a:solidFill>
                  <a:srgbClr val="1A1820"/>
                </a:solidFill>
                <a:latin typeface="Georgia"/>
                <a:ea typeface="Georgia"/>
                <a:cs typeface="Georgia"/>
                <a:sym typeface="Georgia"/>
              </a:rPr>
              <a:t xml:space="preserve">Keep what the eye </a:t>
            </a:r>
            <a:r>
              <a:rPr i="1" lang="en-US" sz="9300">
                <a:solidFill>
                  <a:srgbClr val="1A1820"/>
                </a:solidFill>
                <a:latin typeface="Georgia"/>
                <a:ea typeface="Georgia"/>
                <a:cs typeface="Georgia"/>
                <a:sym typeface="Georgia"/>
              </a:rPr>
              <a:t xml:space="preserve">finds. </a:t>
            </a:r>
            <a:r>
              <a:rPr lang="en-US" sz="9300">
                <a:solidFill>
                  <a:srgbClr val="1A1820"/>
                </a:solidFill>
                <a:latin typeface="Georgia"/>
                <a:ea typeface="Georgia"/>
                <a:cs typeface="Georgia"/>
                <a:sym typeface="Georgia"/>
              </a:rPr>
              <a:t xml:space="preserve">Replace what it </a:t>
            </a:r>
            <a:r>
              <a:rPr i="1" lang="en-US" sz="9300">
                <a:solidFill>
                  <a:srgbClr val="DF4823"/>
                </a:solidFill>
                <a:latin typeface="Georgia"/>
                <a:ea typeface="Georgia"/>
                <a:cs typeface="Georgia"/>
                <a:sym typeface="Georgia"/>
              </a:rPr>
              <a:t>ignores.</a:t>
            </a:r>
            <a:endParaRPr sz="9300">
              <a:solidFill>
                <a:schemeClr val="dk1"/>
              </a:solidFill>
              <a:latin typeface="Calibri"/>
              <a:ea typeface="Calibri"/>
              <a:cs typeface="Calibri"/>
              <a:sym typeface="Calibri"/>
            </a:endParaRPr>
          </a:p>
        </p:txBody>
      </p:sp>
      <p:sp>
        <p:nvSpPr>
          <p:cNvPr id="184" name="Google Shape;184;p12"/>
          <p:cNvSpPr/>
          <p:nvPr/>
        </p:nvSpPr>
        <p:spPr>
          <a:xfrm>
            <a:off x="1333500" y="4534614"/>
            <a:ext cx="7620000" cy="4609386"/>
          </a:xfrm>
          <a:prstGeom prst="roundRect">
            <a:avLst>
              <a:gd fmla="val 827" name="adj"/>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12"/>
          <p:cNvSpPr/>
          <p:nvPr/>
        </p:nvSpPr>
        <p:spPr>
          <a:xfrm>
            <a:off x="1809750" y="5010864"/>
            <a:ext cx="6867525"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SALIENT · KEEP SHARP</a:t>
            </a:r>
            <a:endParaRPr sz="1350">
              <a:solidFill>
                <a:schemeClr val="dk1"/>
              </a:solidFill>
              <a:latin typeface="Calibri"/>
              <a:ea typeface="Calibri"/>
              <a:cs typeface="Calibri"/>
              <a:sym typeface="Calibri"/>
            </a:endParaRPr>
          </a:p>
        </p:txBody>
      </p:sp>
      <p:sp>
        <p:nvSpPr>
          <p:cNvPr id="186" name="Google Shape;186;p12"/>
          <p:cNvSpPr/>
          <p:nvPr/>
        </p:nvSpPr>
        <p:spPr>
          <a:xfrm>
            <a:off x="1809750" y="5437584"/>
            <a:ext cx="6867525" cy="8763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DF4823"/>
              </a:buClr>
              <a:buSzPts val="6600"/>
              <a:buFont typeface="Georgia"/>
              <a:buNone/>
            </a:pPr>
            <a:r>
              <a:rPr i="1" lang="en-US" sz="6600">
                <a:solidFill>
                  <a:srgbClr val="DF4823"/>
                </a:solidFill>
                <a:latin typeface="Georgia"/>
                <a:ea typeface="Georgia"/>
                <a:cs typeface="Georgia"/>
                <a:sym typeface="Georgia"/>
              </a:rPr>
              <a:t>~30%</a:t>
            </a:r>
            <a:endParaRPr sz="6600">
              <a:solidFill>
                <a:schemeClr val="dk1"/>
              </a:solidFill>
              <a:latin typeface="Calibri"/>
              <a:ea typeface="Calibri"/>
              <a:cs typeface="Calibri"/>
              <a:sym typeface="Calibri"/>
            </a:endParaRPr>
          </a:p>
        </p:txBody>
      </p:sp>
      <p:sp>
        <p:nvSpPr>
          <p:cNvPr id="187" name="Google Shape;187;p12"/>
          <p:cNvSpPr/>
          <p:nvPr/>
        </p:nvSpPr>
        <p:spPr>
          <a:xfrm>
            <a:off x="1809750" y="6504384"/>
            <a:ext cx="6867525" cy="33147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F4F0E6"/>
              </a:buClr>
              <a:buSzPts val="1650"/>
              <a:buFont typeface="Arial"/>
              <a:buNone/>
            </a:pPr>
            <a:r>
              <a:rPr lang="en-US" sz="1650">
                <a:solidFill>
                  <a:srgbClr val="F4F0E6"/>
                </a:solidFill>
                <a:latin typeface="Arial"/>
                <a:ea typeface="Arial"/>
                <a:cs typeface="Arial"/>
                <a:sym typeface="Arial"/>
              </a:rPr>
              <a:t>People · faces · motion · high-contrast edges.</a:t>
            </a:r>
            <a:endParaRPr sz="1650">
              <a:solidFill>
                <a:schemeClr val="dk1"/>
              </a:solidFill>
              <a:latin typeface="Calibri"/>
              <a:ea typeface="Calibri"/>
              <a:cs typeface="Calibri"/>
              <a:sym typeface="Calibri"/>
            </a:endParaRPr>
          </a:p>
        </p:txBody>
      </p:sp>
      <p:sp>
        <p:nvSpPr>
          <p:cNvPr id="188" name="Google Shape;188;p12"/>
          <p:cNvSpPr/>
          <p:nvPr/>
        </p:nvSpPr>
        <p:spPr>
          <a:xfrm>
            <a:off x="1809750" y="8286750"/>
            <a:ext cx="867251" cy="342900"/>
          </a:xfrm>
          <a:prstGeom prst="roundRect">
            <a:avLst>
              <a:gd fmla="val 50000" name="adj"/>
            </a:avLst>
          </a:prstGeom>
          <a:noFill/>
          <a:ln cap="flat" cmpd="sng" w="9525">
            <a:solidFill>
              <a:srgbClr val="F4F0E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2"/>
          <p:cNvSpPr/>
          <p:nvPr/>
        </p:nvSpPr>
        <p:spPr>
          <a:xfrm>
            <a:off x="1950720" y="8370570"/>
            <a:ext cx="661511"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F0E6"/>
              </a:buClr>
              <a:buSzPts val="1200"/>
              <a:buFont typeface="Courier New"/>
              <a:buNone/>
            </a:pPr>
            <a:r>
              <a:rPr lang="en-US" sz="1200">
                <a:solidFill>
                  <a:srgbClr val="F4F0E6"/>
                </a:solidFill>
                <a:latin typeface="Courier New"/>
                <a:ea typeface="Courier New"/>
                <a:cs typeface="Courier New"/>
                <a:sym typeface="Courier New"/>
              </a:rPr>
              <a:t>people</a:t>
            </a:r>
            <a:endParaRPr sz="1200">
              <a:solidFill>
                <a:schemeClr val="dk1"/>
              </a:solidFill>
              <a:latin typeface="Calibri"/>
              <a:ea typeface="Calibri"/>
              <a:cs typeface="Calibri"/>
              <a:sym typeface="Calibri"/>
            </a:endParaRPr>
          </a:p>
        </p:txBody>
      </p:sp>
      <p:sp>
        <p:nvSpPr>
          <p:cNvPr id="190" name="Google Shape;190;p12"/>
          <p:cNvSpPr/>
          <p:nvPr/>
        </p:nvSpPr>
        <p:spPr>
          <a:xfrm>
            <a:off x="2776538" y="8286750"/>
            <a:ext cx="867251" cy="342900"/>
          </a:xfrm>
          <a:prstGeom prst="roundRect">
            <a:avLst>
              <a:gd fmla="val 50000" name="adj"/>
            </a:avLst>
          </a:prstGeom>
          <a:noFill/>
          <a:ln cap="flat" cmpd="sng" w="9525">
            <a:solidFill>
              <a:srgbClr val="F4F0E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12"/>
          <p:cNvSpPr/>
          <p:nvPr/>
        </p:nvSpPr>
        <p:spPr>
          <a:xfrm>
            <a:off x="2917508" y="8370570"/>
            <a:ext cx="661511"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F0E6"/>
              </a:buClr>
              <a:buSzPts val="1200"/>
              <a:buFont typeface="Courier New"/>
              <a:buNone/>
            </a:pPr>
            <a:r>
              <a:rPr lang="en-US" sz="1200">
                <a:solidFill>
                  <a:srgbClr val="F4F0E6"/>
                </a:solidFill>
                <a:latin typeface="Courier New"/>
                <a:ea typeface="Courier New"/>
                <a:cs typeface="Courier New"/>
                <a:sym typeface="Courier New"/>
              </a:rPr>
              <a:t>motion</a:t>
            </a:r>
            <a:endParaRPr sz="1200">
              <a:solidFill>
                <a:schemeClr val="dk1"/>
              </a:solidFill>
              <a:latin typeface="Calibri"/>
              <a:ea typeface="Calibri"/>
              <a:cs typeface="Calibri"/>
              <a:sym typeface="Calibri"/>
            </a:endParaRPr>
          </a:p>
        </p:txBody>
      </p:sp>
      <p:sp>
        <p:nvSpPr>
          <p:cNvPr id="192" name="Google Shape;192;p12"/>
          <p:cNvSpPr/>
          <p:nvPr/>
        </p:nvSpPr>
        <p:spPr>
          <a:xfrm>
            <a:off x="3743325" y="8286750"/>
            <a:ext cx="769739" cy="342900"/>
          </a:xfrm>
          <a:prstGeom prst="roundRect">
            <a:avLst>
              <a:gd fmla="val 50000" name="adj"/>
            </a:avLst>
          </a:prstGeom>
          <a:noFill/>
          <a:ln cap="flat" cmpd="sng" w="9525">
            <a:solidFill>
              <a:srgbClr val="F4F0E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12"/>
          <p:cNvSpPr/>
          <p:nvPr/>
        </p:nvSpPr>
        <p:spPr>
          <a:xfrm>
            <a:off x="3884295" y="8370570"/>
            <a:ext cx="563999"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F0E6"/>
              </a:buClr>
              <a:buSzPts val="1200"/>
              <a:buFont typeface="Courier New"/>
              <a:buNone/>
            </a:pPr>
            <a:r>
              <a:rPr lang="en-US" sz="1200">
                <a:solidFill>
                  <a:srgbClr val="F4F0E6"/>
                </a:solidFill>
                <a:latin typeface="Courier New"/>
                <a:ea typeface="Courier New"/>
                <a:cs typeface="Courier New"/>
                <a:sym typeface="Courier New"/>
              </a:rPr>
              <a:t>edges</a:t>
            </a:r>
            <a:endParaRPr sz="1200">
              <a:solidFill>
                <a:schemeClr val="dk1"/>
              </a:solidFill>
              <a:latin typeface="Calibri"/>
              <a:ea typeface="Calibri"/>
              <a:cs typeface="Calibri"/>
              <a:sym typeface="Calibri"/>
            </a:endParaRPr>
          </a:p>
        </p:txBody>
      </p:sp>
      <p:sp>
        <p:nvSpPr>
          <p:cNvPr id="194" name="Google Shape;194;p12"/>
          <p:cNvSpPr/>
          <p:nvPr/>
        </p:nvSpPr>
        <p:spPr>
          <a:xfrm>
            <a:off x="4612600" y="8286750"/>
            <a:ext cx="769739" cy="342900"/>
          </a:xfrm>
          <a:prstGeom prst="roundRect">
            <a:avLst>
              <a:gd fmla="val 50000" name="adj"/>
            </a:avLst>
          </a:prstGeom>
          <a:noFill/>
          <a:ln cap="flat" cmpd="sng" w="9525">
            <a:solidFill>
              <a:srgbClr val="F4F0E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2"/>
          <p:cNvSpPr/>
          <p:nvPr/>
        </p:nvSpPr>
        <p:spPr>
          <a:xfrm>
            <a:off x="4753570" y="8370570"/>
            <a:ext cx="563999"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F0E6"/>
              </a:buClr>
              <a:buSzPts val="1200"/>
              <a:buFont typeface="Courier New"/>
              <a:buNone/>
            </a:pPr>
            <a:r>
              <a:rPr lang="en-US" sz="1200">
                <a:solidFill>
                  <a:srgbClr val="F4F0E6"/>
                </a:solidFill>
                <a:latin typeface="Courier New"/>
                <a:ea typeface="Courier New"/>
                <a:cs typeface="Courier New"/>
                <a:sym typeface="Courier New"/>
              </a:rPr>
              <a:t>faces</a:t>
            </a:r>
            <a:endParaRPr sz="1200">
              <a:solidFill>
                <a:schemeClr val="dk1"/>
              </a:solidFill>
              <a:latin typeface="Calibri"/>
              <a:ea typeface="Calibri"/>
              <a:cs typeface="Calibri"/>
              <a:sym typeface="Calibri"/>
            </a:endParaRPr>
          </a:p>
        </p:txBody>
      </p:sp>
      <p:sp>
        <p:nvSpPr>
          <p:cNvPr id="196" name="Google Shape;196;p12"/>
          <p:cNvSpPr/>
          <p:nvPr/>
        </p:nvSpPr>
        <p:spPr>
          <a:xfrm>
            <a:off x="9334500" y="4534614"/>
            <a:ext cx="7620000" cy="4609386"/>
          </a:xfrm>
          <a:prstGeom prst="roundRect">
            <a:avLst>
              <a:gd fmla="val 827" name="adj"/>
            </a:avLst>
          </a:prstGeom>
          <a:solidFill>
            <a:srgbClr val="ECE6D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12"/>
          <p:cNvSpPr/>
          <p:nvPr/>
        </p:nvSpPr>
        <p:spPr>
          <a:xfrm>
            <a:off x="9810750" y="5010864"/>
            <a:ext cx="6867525"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PERIPHERAL · BLUR HARD</a:t>
            </a:r>
            <a:endParaRPr sz="1350">
              <a:solidFill>
                <a:schemeClr val="dk1"/>
              </a:solidFill>
              <a:latin typeface="Calibri"/>
              <a:ea typeface="Calibri"/>
              <a:cs typeface="Calibri"/>
              <a:sym typeface="Calibri"/>
            </a:endParaRPr>
          </a:p>
        </p:txBody>
      </p:sp>
      <p:sp>
        <p:nvSpPr>
          <p:cNvPr id="198" name="Google Shape;198;p12"/>
          <p:cNvSpPr/>
          <p:nvPr/>
        </p:nvSpPr>
        <p:spPr>
          <a:xfrm>
            <a:off x="9810750" y="5437584"/>
            <a:ext cx="6867525" cy="8763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A1820"/>
              </a:buClr>
              <a:buSzPts val="6600"/>
              <a:buFont typeface="Georgia"/>
              <a:buNone/>
            </a:pPr>
            <a:r>
              <a:rPr i="1" lang="en-US" sz="6600">
                <a:solidFill>
                  <a:srgbClr val="1A1820"/>
                </a:solidFill>
                <a:latin typeface="Georgia"/>
                <a:ea typeface="Georgia"/>
                <a:cs typeface="Georgia"/>
                <a:sym typeface="Georgia"/>
              </a:rPr>
              <a:t>~70%</a:t>
            </a:r>
            <a:endParaRPr sz="6600">
              <a:solidFill>
                <a:schemeClr val="dk1"/>
              </a:solidFill>
              <a:latin typeface="Calibri"/>
              <a:ea typeface="Calibri"/>
              <a:cs typeface="Calibri"/>
              <a:sym typeface="Calibri"/>
            </a:endParaRPr>
          </a:p>
        </p:txBody>
      </p:sp>
      <p:sp>
        <p:nvSpPr>
          <p:cNvPr id="199" name="Google Shape;199;p12"/>
          <p:cNvSpPr/>
          <p:nvPr/>
        </p:nvSpPr>
        <p:spPr>
          <a:xfrm>
            <a:off x="9810750" y="6504384"/>
            <a:ext cx="6867525" cy="33147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423F46"/>
              </a:buClr>
              <a:buSzPts val="1650"/>
              <a:buFont typeface="Arial"/>
              <a:buNone/>
            </a:pPr>
            <a:r>
              <a:rPr lang="en-US" sz="1650">
                <a:solidFill>
                  <a:srgbClr val="423F46"/>
                </a:solidFill>
                <a:latin typeface="Arial"/>
                <a:ea typeface="Arial"/>
                <a:cs typeface="Arial"/>
                <a:sym typeface="Arial"/>
              </a:rPr>
              <a:t>Walls · ceiling · static furniture · empty floor.</a:t>
            </a:r>
            <a:endParaRPr sz="1650">
              <a:solidFill>
                <a:schemeClr val="dk1"/>
              </a:solidFill>
              <a:latin typeface="Calibri"/>
              <a:ea typeface="Calibri"/>
              <a:cs typeface="Calibri"/>
              <a:sym typeface="Calibri"/>
            </a:endParaRPr>
          </a:p>
        </p:txBody>
      </p:sp>
      <p:sp>
        <p:nvSpPr>
          <p:cNvPr id="200" name="Google Shape;200;p12"/>
          <p:cNvSpPr/>
          <p:nvPr/>
        </p:nvSpPr>
        <p:spPr>
          <a:xfrm>
            <a:off x="9810750" y="8286750"/>
            <a:ext cx="769739"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2"/>
          <p:cNvSpPr/>
          <p:nvPr/>
        </p:nvSpPr>
        <p:spPr>
          <a:xfrm>
            <a:off x="9951720" y="8370570"/>
            <a:ext cx="563999"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walls</a:t>
            </a:r>
            <a:endParaRPr sz="1200">
              <a:solidFill>
                <a:schemeClr val="dk1"/>
              </a:solidFill>
              <a:latin typeface="Calibri"/>
              <a:ea typeface="Calibri"/>
              <a:cs typeface="Calibri"/>
              <a:sym typeface="Calibri"/>
            </a:endParaRPr>
          </a:p>
        </p:txBody>
      </p:sp>
      <p:sp>
        <p:nvSpPr>
          <p:cNvPr id="202" name="Google Shape;202;p12"/>
          <p:cNvSpPr/>
          <p:nvPr/>
        </p:nvSpPr>
        <p:spPr>
          <a:xfrm>
            <a:off x="10680026" y="8286750"/>
            <a:ext cx="964883"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2"/>
          <p:cNvSpPr/>
          <p:nvPr/>
        </p:nvSpPr>
        <p:spPr>
          <a:xfrm>
            <a:off x="10820996" y="8370570"/>
            <a:ext cx="759143"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ceiling</a:t>
            </a:r>
            <a:endParaRPr sz="1200">
              <a:solidFill>
                <a:schemeClr val="dk1"/>
              </a:solidFill>
              <a:latin typeface="Calibri"/>
              <a:ea typeface="Calibri"/>
              <a:cs typeface="Calibri"/>
              <a:sym typeface="Calibri"/>
            </a:endParaRPr>
          </a:p>
        </p:txBody>
      </p:sp>
      <p:sp>
        <p:nvSpPr>
          <p:cNvPr id="204" name="Google Shape;204;p12"/>
          <p:cNvSpPr/>
          <p:nvPr/>
        </p:nvSpPr>
        <p:spPr>
          <a:xfrm>
            <a:off x="11744445" y="8286750"/>
            <a:ext cx="1745218"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12"/>
          <p:cNvSpPr/>
          <p:nvPr/>
        </p:nvSpPr>
        <p:spPr>
          <a:xfrm>
            <a:off x="11885415" y="8370570"/>
            <a:ext cx="1539478"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static surfaces</a:t>
            </a:r>
            <a:endParaRPr sz="1200">
              <a:solidFill>
                <a:schemeClr val="dk1"/>
              </a:solidFill>
              <a:latin typeface="Calibri"/>
              <a:ea typeface="Calibri"/>
              <a:cs typeface="Calibri"/>
              <a:sym typeface="Calibri"/>
            </a:endParaRPr>
          </a:p>
        </p:txBody>
      </p:sp>
      <p:sp>
        <p:nvSpPr>
          <p:cNvPr id="206" name="Google Shape;206;p12"/>
          <p:cNvSpPr/>
          <p:nvPr/>
        </p:nvSpPr>
        <p:spPr>
          <a:xfrm>
            <a:off x="13589198" y="8286750"/>
            <a:ext cx="1355050"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12"/>
          <p:cNvSpPr/>
          <p:nvPr/>
        </p:nvSpPr>
        <p:spPr>
          <a:xfrm>
            <a:off x="13730168" y="8370570"/>
            <a:ext cx="1149310"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backgrounds</a:t>
            </a:r>
            <a:endParaRPr sz="1200">
              <a:solidFill>
                <a:schemeClr val="dk1"/>
              </a:solidFill>
              <a:latin typeface="Calibri"/>
              <a:ea typeface="Calibri"/>
              <a:cs typeface="Calibri"/>
              <a:sym typeface="Calibri"/>
            </a:endParaRPr>
          </a:p>
        </p:txBody>
      </p:sp>
      <p:sp>
        <p:nvSpPr>
          <p:cNvPr id="208" name="Google Shape;208;p12"/>
          <p:cNvSpPr/>
          <p:nvPr/>
        </p:nvSpPr>
        <p:spPr>
          <a:xfrm>
            <a:off x="1333500" y="9540240"/>
            <a:ext cx="2071449"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ATHARV → DHAIRYA</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213" name="Shape 213"/>
        <p:cNvGrpSpPr/>
        <p:nvPr/>
      </p:nvGrpSpPr>
      <p:grpSpPr>
        <a:xfrm>
          <a:off x="0" y="0"/>
          <a:ext cx="0" cy="0"/>
          <a:chOff x="0" y="0"/>
          <a:chExt cx="0" cy="0"/>
        </a:xfrm>
      </p:grpSpPr>
      <p:sp>
        <p:nvSpPr>
          <p:cNvPr id="214" name="Google Shape;214;p13"/>
          <p:cNvSpPr/>
          <p:nvPr/>
        </p:nvSpPr>
        <p:spPr>
          <a:xfrm>
            <a:off x="1333500" y="3099078"/>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F0E6"/>
              </a:buClr>
              <a:buSzPts val="1350"/>
              <a:buFont typeface="Courier New"/>
              <a:buNone/>
            </a:pPr>
            <a:r>
              <a:rPr lang="en-US" sz="1350">
                <a:solidFill>
                  <a:srgbClr val="F4F0E6"/>
                </a:solidFill>
                <a:latin typeface="Courier New"/>
                <a:ea typeface="Courier New"/>
                <a:cs typeface="Courier New"/>
                <a:sym typeface="Courier New"/>
              </a:rPr>
              <a:t>PART III</a:t>
            </a:r>
            <a:endParaRPr sz="1350">
              <a:solidFill>
                <a:schemeClr val="dk1"/>
              </a:solidFill>
              <a:latin typeface="Calibri"/>
              <a:ea typeface="Calibri"/>
              <a:cs typeface="Calibri"/>
              <a:sym typeface="Calibri"/>
            </a:endParaRPr>
          </a:p>
        </p:txBody>
      </p:sp>
      <p:sp>
        <p:nvSpPr>
          <p:cNvPr id="215" name="Google Shape;215;p13"/>
          <p:cNvSpPr/>
          <p:nvPr/>
        </p:nvSpPr>
        <p:spPr>
          <a:xfrm>
            <a:off x="1333500" y="3678198"/>
            <a:ext cx="14716125" cy="232100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F4F0E6"/>
              </a:buClr>
              <a:buSzPts val="9300"/>
              <a:buFont typeface="Georgia"/>
              <a:buNone/>
            </a:pPr>
            <a:r>
              <a:rPr lang="en-US" sz="9300">
                <a:solidFill>
                  <a:schemeClr val="dk1"/>
                </a:solidFill>
                <a:latin typeface="Georgia"/>
                <a:ea typeface="Georgia"/>
                <a:cs typeface="Georgia"/>
                <a:sym typeface="Georgia"/>
              </a:rPr>
              <a:t xml:space="preserve">Three stages. </a:t>
            </a:r>
            <a:r>
              <a:rPr i="1" lang="en-US" sz="9300">
                <a:solidFill>
                  <a:srgbClr val="DF4823"/>
                </a:solidFill>
                <a:latin typeface="Georgia"/>
                <a:ea typeface="Georgia"/>
                <a:cs typeface="Georgia"/>
                <a:sym typeface="Georgia"/>
              </a:rPr>
              <a:t>One cheap chip.</a:t>
            </a:r>
            <a:endParaRPr sz="9300">
              <a:solidFill>
                <a:schemeClr val="dk1"/>
              </a:solidFill>
              <a:latin typeface="Calibri"/>
              <a:ea typeface="Calibri"/>
              <a:cs typeface="Calibri"/>
              <a:sym typeface="Calibri"/>
            </a:endParaRPr>
          </a:p>
        </p:txBody>
      </p:sp>
      <p:sp>
        <p:nvSpPr>
          <p:cNvPr id="216" name="Google Shape;216;p13"/>
          <p:cNvSpPr/>
          <p:nvPr/>
        </p:nvSpPr>
        <p:spPr>
          <a:xfrm>
            <a:off x="1333500" y="6672377"/>
            <a:ext cx="10791900" cy="9792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F4F0E6"/>
              </a:buClr>
              <a:buSzPts val="2850"/>
              <a:buFont typeface="Arial"/>
              <a:buNone/>
            </a:pPr>
            <a:r>
              <a:rPr lang="en-US" sz="2850">
                <a:solidFill>
                  <a:schemeClr val="dk1"/>
                </a:solidFill>
                <a:latin typeface="Arial"/>
                <a:ea typeface="Arial"/>
                <a:cs typeface="Arial"/>
                <a:sym typeface="Arial"/>
              </a:rPr>
              <a:t>Designed to run on a Raspberry Pi 5 — the same hardware we brought with us today, currently sitting on this table.</a:t>
            </a:r>
            <a:endParaRPr sz="2850">
              <a:solidFill>
                <a:schemeClr val="dk1"/>
              </a:solidFill>
              <a:latin typeface="Calibri"/>
              <a:ea typeface="Calibri"/>
              <a:cs typeface="Calibri"/>
              <a:sym typeface="Calibri"/>
            </a:endParaRPr>
          </a:p>
        </p:txBody>
      </p:sp>
      <p:sp>
        <p:nvSpPr>
          <p:cNvPr id="217" name="Google Shape;217;p13"/>
          <p:cNvSpPr/>
          <p:nvPr/>
        </p:nvSpPr>
        <p:spPr>
          <a:xfrm>
            <a:off x="1333500" y="9540240"/>
            <a:ext cx="1056323"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4F0E6"/>
              </a:buClr>
              <a:buSzPts val="1200"/>
              <a:buFont typeface="Courier New"/>
              <a:buNone/>
            </a:pPr>
            <a:r>
              <a:rPr lang="en-US" sz="1200">
                <a:solidFill>
                  <a:srgbClr val="F4F0E6"/>
                </a:solidFill>
                <a:latin typeface="Courier New"/>
                <a:ea typeface="Courier New"/>
                <a:cs typeface="Courier New"/>
                <a:sym typeface="Courier New"/>
              </a:rPr>
              <a:t>DHAIRYA</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222" name="Shape 222"/>
        <p:cNvGrpSpPr/>
        <p:nvPr/>
      </p:nvGrpSpPr>
      <p:grpSpPr>
        <a:xfrm>
          <a:off x="0" y="0"/>
          <a:ext cx="0" cy="0"/>
          <a:chOff x="0" y="0"/>
          <a:chExt cx="0" cy="0"/>
        </a:xfrm>
      </p:grpSpPr>
      <p:sp>
        <p:nvSpPr>
          <p:cNvPr id="223" name="Google Shape;223;p14"/>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END-TO-END PIPELINE</a:t>
            </a:r>
            <a:endParaRPr sz="1350">
              <a:solidFill>
                <a:schemeClr val="dk1"/>
              </a:solidFill>
              <a:latin typeface="Calibri"/>
              <a:ea typeface="Calibri"/>
              <a:cs typeface="Calibri"/>
              <a:sym typeface="Calibri"/>
            </a:endParaRPr>
          </a:p>
        </p:txBody>
      </p:sp>
      <p:sp>
        <p:nvSpPr>
          <p:cNvPr id="224" name="Google Shape;224;p14"/>
          <p:cNvSpPr/>
          <p:nvPr/>
        </p:nvSpPr>
        <p:spPr>
          <a:xfrm>
            <a:off x="1333500" y="1722120"/>
            <a:ext cx="16089630" cy="85034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6600"/>
              <a:buFont typeface="Georgia"/>
              <a:buNone/>
            </a:pPr>
            <a:r>
              <a:rPr lang="en-US" sz="6600">
                <a:solidFill>
                  <a:srgbClr val="1A1820"/>
                </a:solidFill>
                <a:latin typeface="Georgia"/>
                <a:ea typeface="Georgia"/>
                <a:cs typeface="Georgia"/>
                <a:sym typeface="Georgia"/>
              </a:rPr>
              <a:t xml:space="preserve">From </a:t>
            </a:r>
            <a:r>
              <a:rPr i="1" lang="en-US" sz="6600">
                <a:solidFill>
                  <a:srgbClr val="1A1820"/>
                </a:solidFill>
                <a:latin typeface="Georgia"/>
                <a:ea typeface="Georgia"/>
                <a:cs typeface="Georgia"/>
                <a:sym typeface="Georgia"/>
              </a:rPr>
              <a:t xml:space="preserve">camera frame </a:t>
            </a:r>
            <a:r>
              <a:rPr lang="en-US" sz="6600">
                <a:solidFill>
                  <a:srgbClr val="1A1820"/>
                </a:solidFill>
                <a:latin typeface="Georgia"/>
                <a:ea typeface="Georgia"/>
                <a:cs typeface="Georgia"/>
                <a:sym typeface="Georgia"/>
              </a:rPr>
              <a:t>to compressed clip.</a:t>
            </a:r>
            <a:endParaRPr sz="6600">
              <a:solidFill>
                <a:schemeClr val="dk1"/>
              </a:solidFill>
              <a:latin typeface="Calibri"/>
              <a:ea typeface="Calibri"/>
              <a:cs typeface="Calibri"/>
              <a:sym typeface="Calibri"/>
            </a:endParaRPr>
          </a:p>
        </p:txBody>
      </p:sp>
      <p:sp>
        <p:nvSpPr>
          <p:cNvPr id="225" name="Google Shape;225;p14"/>
          <p:cNvSpPr/>
          <p:nvPr/>
        </p:nvSpPr>
        <p:spPr>
          <a:xfrm>
            <a:off x="1333500" y="2915364"/>
            <a:ext cx="15621000" cy="5801916"/>
          </a:xfrm>
          <a:prstGeom prst="roundRect">
            <a:avLst>
              <a:gd fmla="val 657"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6" name="Google Shape;226;p14"/>
          <p:cNvPicPr preferRelativeResize="0"/>
          <p:nvPr/>
        </p:nvPicPr>
        <p:blipFill rotWithShape="1">
          <a:blip r:embed="rId4">
            <a:alphaModFix/>
          </a:blip>
          <a:srcRect b="0" l="0" r="0" t="0"/>
          <a:stretch/>
        </p:blipFill>
        <p:spPr>
          <a:xfrm>
            <a:off x="4981575" y="3420785"/>
            <a:ext cx="8324850" cy="4791075"/>
          </a:xfrm>
          <a:prstGeom prst="rect">
            <a:avLst/>
          </a:prstGeom>
          <a:noFill/>
          <a:ln>
            <a:noFill/>
          </a:ln>
        </p:spPr>
      </p:pic>
      <p:sp>
        <p:nvSpPr>
          <p:cNvPr id="227" name="Google Shape;227;p14"/>
          <p:cNvSpPr/>
          <p:nvPr/>
        </p:nvSpPr>
        <p:spPr>
          <a:xfrm>
            <a:off x="1333500" y="8945880"/>
            <a:ext cx="2600444"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 xml:space="preserve">A · </a:t>
            </a:r>
            <a:r>
              <a:rPr lang="en-US" sz="1350">
                <a:solidFill>
                  <a:srgbClr val="88837A"/>
                </a:solidFill>
                <a:latin typeface="Courier New"/>
                <a:ea typeface="Courier New"/>
                <a:cs typeface="Courier New"/>
                <a:sym typeface="Courier New"/>
              </a:rPr>
              <a:t>Useful-footage gate</a:t>
            </a:r>
            <a:endParaRPr sz="1350">
              <a:solidFill>
                <a:schemeClr val="dk1"/>
              </a:solidFill>
              <a:latin typeface="Calibri"/>
              <a:ea typeface="Calibri"/>
              <a:cs typeface="Calibri"/>
              <a:sym typeface="Calibri"/>
            </a:endParaRPr>
          </a:p>
        </p:txBody>
      </p:sp>
      <p:sp>
        <p:nvSpPr>
          <p:cNvPr id="228" name="Google Shape;228;p14"/>
          <p:cNvSpPr/>
          <p:nvPr/>
        </p:nvSpPr>
        <p:spPr>
          <a:xfrm>
            <a:off x="4238744" y="8945880"/>
            <a:ext cx="2490788"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 xml:space="preserve">B · </a:t>
            </a:r>
            <a:r>
              <a:rPr lang="en-US" sz="1350">
                <a:solidFill>
                  <a:srgbClr val="88837A"/>
                </a:solidFill>
                <a:latin typeface="Courier New"/>
                <a:ea typeface="Courier New"/>
                <a:cs typeface="Courier New"/>
                <a:sym typeface="Courier New"/>
              </a:rPr>
              <a:t>Saliency estimator</a:t>
            </a:r>
            <a:endParaRPr sz="1350">
              <a:solidFill>
                <a:schemeClr val="dk1"/>
              </a:solidFill>
              <a:latin typeface="Calibri"/>
              <a:ea typeface="Calibri"/>
              <a:cs typeface="Calibri"/>
              <a:sym typeface="Calibri"/>
            </a:endParaRPr>
          </a:p>
        </p:txBody>
      </p:sp>
      <p:sp>
        <p:nvSpPr>
          <p:cNvPr id="229" name="Google Shape;229;p14"/>
          <p:cNvSpPr/>
          <p:nvPr/>
        </p:nvSpPr>
        <p:spPr>
          <a:xfrm>
            <a:off x="7034332" y="8945880"/>
            <a:ext cx="3391208"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 xml:space="preserve">C · </a:t>
            </a:r>
            <a:r>
              <a:rPr lang="en-US" sz="1350">
                <a:solidFill>
                  <a:srgbClr val="88837A"/>
                </a:solidFill>
                <a:latin typeface="Courier New"/>
                <a:ea typeface="Courier New"/>
                <a:cs typeface="Courier New"/>
                <a:sym typeface="Courier New"/>
              </a:rPr>
              <a:t>Saliency-aware compression</a:t>
            </a:r>
            <a:endParaRPr sz="1350">
              <a:solidFill>
                <a:schemeClr val="dk1"/>
              </a:solidFill>
              <a:latin typeface="Calibri"/>
              <a:ea typeface="Calibri"/>
              <a:cs typeface="Calibri"/>
              <a:sym typeface="Calibri"/>
            </a:endParaRPr>
          </a:p>
        </p:txBody>
      </p:sp>
      <p:sp>
        <p:nvSpPr>
          <p:cNvPr id="230" name="Google Shape;230;p14"/>
          <p:cNvSpPr/>
          <p:nvPr/>
        </p:nvSpPr>
        <p:spPr>
          <a:xfrm>
            <a:off x="1333500" y="9540240"/>
            <a:ext cx="1056323"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DHAIRYA</a:t>
            </a:r>
            <a:endParaRPr sz="1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235" name="Shape 235"/>
        <p:cNvGrpSpPr/>
        <p:nvPr/>
      </p:nvGrpSpPr>
      <p:grpSpPr>
        <a:xfrm>
          <a:off x="0" y="0"/>
          <a:ext cx="0" cy="0"/>
          <a:chOff x="0" y="0"/>
          <a:chExt cx="0" cy="0"/>
        </a:xfrm>
      </p:grpSpPr>
      <p:sp>
        <p:nvSpPr>
          <p:cNvPr id="236" name="Google Shape;236;p15"/>
          <p:cNvSpPr/>
          <p:nvPr/>
        </p:nvSpPr>
        <p:spPr>
          <a:xfrm>
            <a:off x="1333500" y="1333500"/>
            <a:ext cx="7750492"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STAGE A · PRINCIPLE I</a:t>
            </a:r>
            <a:endParaRPr sz="1350">
              <a:solidFill>
                <a:schemeClr val="dk1"/>
              </a:solidFill>
              <a:latin typeface="Calibri"/>
              <a:ea typeface="Calibri"/>
              <a:cs typeface="Calibri"/>
              <a:sym typeface="Calibri"/>
            </a:endParaRPr>
          </a:p>
        </p:txBody>
      </p:sp>
      <p:sp>
        <p:nvSpPr>
          <p:cNvPr id="237" name="Google Shape;237;p15"/>
          <p:cNvSpPr/>
          <p:nvPr/>
        </p:nvSpPr>
        <p:spPr>
          <a:xfrm>
            <a:off x="1333500" y="2030931"/>
            <a:ext cx="7750492" cy="1728073"/>
          </a:xfrm>
          <a:prstGeom prst="rect">
            <a:avLst/>
          </a:prstGeom>
          <a:noFill/>
          <a:ln>
            <a:noFill/>
          </a:ln>
        </p:spPr>
        <p:txBody>
          <a:bodyPr anchorCtr="0" anchor="t" bIns="25400" lIns="25400" spcFirstLastPara="1" rIns="25400" wrap="square" tIns="25400">
            <a:normAutofit/>
          </a:bodyPr>
          <a:lstStyle/>
          <a:p>
            <a:pPr indent="0" lvl="0" marL="0" marR="0" rtl="0" algn="l">
              <a:lnSpc>
                <a:spcPct val="76000"/>
              </a:lnSpc>
              <a:spcBef>
                <a:spcPts val="0"/>
              </a:spcBef>
              <a:spcAft>
                <a:spcPts val="0"/>
              </a:spcAft>
              <a:buClr>
                <a:srgbClr val="1A1820"/>
              </a:buClr>
              <a:buSzPts val="6382"/>
              <a:buFont typeface="Georgia"/>
              <a:buNone/>
            </a:pPr>
            <a:r>
              <a:rPr lang="en-US" sz="6383">
                <a:solidFill>
                  <a:srgbClr val="1A1820"/>
                </a:solidFill>
                <a:latin typeface="Georgia"/>
                <a:ea typeface="Georgia"/>
                <a:cs typeface="Georgia"/>
                <a:sym typeface="Georgia"/>
              </a:rPr>
              <a:t xml:space="preserve">Don't record what </a:t>
            </a:r>
            <a:r>
              <a:rPr i="1" lang="en-US" sz="6383">
                <a:solidFill>
                  <a:srgbClr val="1A1820"/>
                </a:solidFill>
                <a:latin typeface="Georgia"/>
                <a:ea typeface="Georgia"/>
                <a:cs typeface="Georgia"/>
                <a:sym typeface="Georgia"/>
              </a:rPr>
              <a:t>nobody will watch.</a:t>
            </a:r>
            <a:endParaRPr sz="6383">
              <a:solidFill>
                <a:schemeClr val="dk1"/>
              </a:solidFill>
              <a:latin typeface="Calibri"/>
              <a:ea typeface="Calibri"/>
              <a:cs typeface="Calibri"/>
              <a:sym typeface="Calibri"/>
            </a:endParaRPr>
          </a:p>
        </p:txBody>
      </p:sp>
      <p:sp>
        <p:nvSpPr>
          <p:cNvPr id="238" name="Google Shape;238;p15"/>
          <p:cNvSpPr/>
          <p:nvPr/>
        </p:nvSpPr>
        <p:spPr>
          <a:xfrm>
            <a:off x="1333500" y="3907393"/>
            <a:ext cx="7063740"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2100"/>
              <a:buFont typeface="Arial"/>
              <a:buNone/>
            </a:pPr>
            <a:r>
              <a:rPr lang="en-US" sz="2100">
                <a:solidFill>
                  <a:srgbClr val="423F46"/>
                </a:solidFill>
                <a:latin typeface="Arial"/>
                <a:ea typeface="Arial"/>
                <a:cs typeface="Arial"/>
                <a:sym typeface="Arial"/>
              </a:rPr>
              <a:t>Background subtraction, optical flow, and a tiny YOLO person-detector decide in real time whether to bother recording at all.</a:t>
            </a:r>
            <a:endParaRPr sz="2100">
              <a:solidFill>
                <a:schemeClr val="dk1"/>
              </a:solidFill>
              <a:latin typeface="Calibri"/>
              <a:ea typeface="Calibri"/>
              <a:cs typeface="Calibri"/>
              <a:sym typeface="Calibri"/>
            </a:endParaRPr>
          </a:p>
        </p:txBody>
      </p:sp>
      <p:sp>
        <p:nvSpPr>
          <p:cNvPr id="239" name="Google Shape;239;p15"/>
          <p:cNvSpPr/>
          <p:nvPr/>
        </p:nvSpPr>
        <p:spPr>
          <a:xfrm>
            <a:off x="1333500" y="5410438"/>
            <a:ext cx="1355050"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5"/>
          <p:cNvSpPr/>
          <p:nvPr/>
        </p:nvSpPr>
        <p:spPr>
          <a:xfrm>
            <a:off x="1474470" y="5494258"/>
            <a:ext cx="1149310"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MOG2 motion</a:t>
            </a:r>
            <a:endParaRPr sz="1200">
              <a:solidFill>
                <a:schemeClr val="dk1"/>
              </a:solidFill>
              <a:latin typeface="Calibri"/>
              <a:ea typeface="Calibri"/>
              <a:cs typeface="Calibri"/>
              <a:sym typeface="Calibri"/>
            </a:endParaRPr>
          </a:p>
        </p:txBody>
      </p:sp>
      <p:sp>
        <p:nvSpPr>
          <p:cNvPr id="241" name="Google Shape;241;p15"/>
          <p:cNvSpPr/>
          <p:nvPr/>
        </p:nvSpPr>
        <p:spPr>
          <a:xfrm>
            <a:off x="2788087" y="5410438"/>
            <a:ext cx="1940362"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15"/>
          <p:cNvSpPr/>
          <p:nvPr/>
        </p:nvSpPr>
        <p:spPr>
          <a:xfrm>
            <a:off x="2929057" y="5494258"/>
            <a:ext cx="1734622"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Lucas–Kanade flow</a:t>
            </a:r>
            <a:endParaRPr sz="1200">
              <a:solidFill>
                <a:schemeClr val="dk1"/>
              </a:solidFill>
              <a:latin typeface="Calibri"/>
              <a:ea typeface="Calibri"/>
              <a:cs typeface="Calibri"/>
              <a:sym typeface="Calibri"/>
            </a:endParaRPr>
          </a:p>
        </p:txBody>
      </p:sp>
      <p:sp>
        <p:nvSpPr>
          <p:cNvPr id="243" name="Google Shape;243;p15"/>
          <p:cNvSpPr/>
          <p:nvPr/>
        </p:nvSpPr>
        <p:spPr>
          <a:xfrm>
            <a:off x="4827984" y="5410438"/>
            <a:ext cx="1355050"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5"/>
          <p:cNvSpPr/>
          <p:nvPr/>
        </p:nvSpPr>
        <p:spPr>
          <a:xfrm>
            <a:off x="4968954" y="5494258"/>
            <a:ext cx="1149310"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YOLOv8-nano</a:t>
            </a:r>
            <a:endParaRPr sz="1200">
              <a:solidFill>
                <a:schemeClr val="dk1"/>
              </a:solidFill>
              <a:latin typeface="Calibri"/>
              <a:ea typeface="Calibri"/>
              <a:cs typeface="Calibri"/>
              <a:sym typeface="Calibri"/>
            </a:endParaRPr>
          </a:p>
        </p:txBody>
      </p:sp>
      <p:sp>
        <p:nvSpPr>
          <p:cNvPr id="245" name="Google Shape;245;p15"/>
          <p:cNvSpPr/>
          <p:nvPr/>
        </p:nvSpPr>
        <p:spPr>
          <a:xfrm>
            <a:off x="1333500" y="8145780"/>
            <a:ext cx="193167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TRIGGER RATE</a:t>
            </a:r>
            <a:endParaRPr sz="1350">
              <a:solidFill>
                <a:schemeClr val="dk1"/>
              </a:solidFill>
              <a:latin typeface="Calibri"/>
              <a:ea typeface="Calibri"/>
              <a:cs typeface="Calibri"/>
              <a:sym typeface="Calibri"/>
            </a:endParaRPr>
          </a:p>
        </p:txBody>
      </p:sp>
      <p:sp>
        <p:nvSpPr>
          <p:cNvPr id="246" name="Google Shape;246;p15"/>
          <p:cNvSpPr/>
          <p:nvPr/>
        </p:nvSpPr>
        <p:spPr>
          <a:xfrm>
            <a:off x="1333500" y="8420100"/>
            <a:ext cx="1931670" cy="762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DF4823"/>
              </a:buClr>
              <a:buSzPts val="5700"/>
              <a:buFont typeface="Courier New"/>
              <a:buNone/>
            </a:pPr>
            <a:r>
              <a:rPr lang="en-US" sz="5700">
                <a:solidFill>
                  <a:srgbClr val="DF4823"/>
                </a:solidFill>
                <a:latin typeface="Courier New"/>
                <a:ea typeface="Courier New"/>
                <a:cs typeface="Courier New"/>
                <a:sym typeface="Courier New"/>
              </a:rPr>
              <a:t>40.2</a:t>
            </a:r>
            <a:r>
              <a:rPr lang="en-US" sz="1500">
                <a:solidFill>
                  <a:srgbClr val="88837A"/>
                </a:solidFill>
                <a:latin typeface="Courier New"/>
                <a:ea typeface="Courier New"/>
                <a:cs typeface="Courier New"/>
                <a:sym typeface="Courier New"/>
              </a:rPr>
              <a:t>%</a:t>
            </a:r>
            <a:endParaRPr sz="5700">
              <a:solidFill>
                <a:schemeClr val="dk1"/>
              </a:solidFill>
              <a:latin typeface="Calibri"/>
              <a:ea typeface="Calibri"/>
              <a:cs typeface="Calibri"/>
              <a:sym typeface="Calibri"/>
            </a:endParaRPr>
          </a:p>
        </p:txBody>
      </p:sp>
      <p:sp>
        <p:nvSpPr>
          <p:cNvPr id="247" name="Google Shape;247;p15"/>
          <p:cNvSpPr/>
          <p:nvPr/>
        </p:nvSpPr>
        <p:spPr>
          <a:xfrm>
            <a:off x="3646170" y="8145780"/>
            <a:ext cx="2408277"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USEFUL EVENTS CAUGHT</a:t>
            </a:r>
            <a:endParaRPr sz="1350">
              <a:solidFill>
                <a:schemeClr val="dk1"/>
              </a:solidFill>
              <a:latin typeface="Calibri"/>
              <a:ea typeface="Calibri"/>
              <a:cs typeface="Calibri"/>
              <a:sym typeface="Calibri"/>
            </a:endParaRPr>
          </a:p>
        </p:txBody>
      </p:sp>
      <p:sp>
        <p:nvSpPr>
          <p:cNvPr id="248" name="Google Shape;248;p15"/>
          <p:cNvSpPr/>
          <p:nvPr/>
        </p:nvSpPr>
        <p:spPr>
          <a:xfrm>
            <a:off x="3646170" y="8420100"/>
            <a:ext cx="2408277" cy="762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A1820"/>
              </a:buClr>
              <a:buSzPts val="5700"/>
              <a:buFont typeface="Courier New"/>
              <a:buNone/>
            </a:pPr>
            <a:r>
              <a:rPr lang="en-US" sz="5700">
                <a:solidFill>
                  <a:srgbClr val="1A1820"/>
                </a:solidFill>
                <a:latin typeface="Courier New"/>
                <a:ea typeface="Courier New"/>
                <a:cs typeface="Courier New"/>
                <a:sym typeface="Courier New"/>
              </a:rPr>
              <a:t>100</a:t>
            </a:r>
            <a:r>
              <a:rPr lang="en-US" sz="1500">
                <a:solidFill>
                  <a:srgbClr val="88837A"/>
                </a:solidFill>
                <a:latin typeface="Courier New"/>
                <a:ea typeface="Courier New"/>
                <a:cs typeface="Courier New"/>
                <a:sym typeface="Courier New"/>
              </a:rPr>
              <a:t>%</a:t>
            </a:r>
            <a:endParaRPr sz="5700">
              <a:solidFill>
                <a:schemeClr val="dk1"/>
              </a:solidFill>
              <a:latin typeface="Calibri"/>
              <a:ea typeface="Calibri"/>
              <a:cs typeface="Calibri"/>
              <a:sym typeface="Calibri"/>
            </a:endParaRPr>
          </a:p>
        </p:txBody>
      </p:sp>
      <p:sp>
        <p:nvSpPr>
          <p:cNvPr id="249" name="Google Shape;249;p15"/>
          <p:cNvSpPr/>
          <p:nvPr/>
        </p:nvSpPr>
        <p:spPr>
          <a:xfrm>
            <a:off x="9429750" y="1333500"/>
            <a:ext cx="7524750" cy="7810500"/>
          </a:xfrm>
          <a:prstGeom prst="roundRect">
            <a:avLst>
              <a:gd fmla="val 506"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5"/>
          <p:cNvSpPr/>
          <p:nvPr/>
        </p:nvSpPr>
        <p:spPr>
          <a:xfrm>
            <a:off x="9818370" y="1722120"/>
            <a:ext cx="6949936"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GATE BEHAVIOUR OVER A 30 S TEST CLIP</a:t>
            </a:r>
            <a:endParaRPr sz="1350">
              <a:solidFill>
                <a:schemeClr val="dk1"/>
              </a:solidFill>
              <a:latin typeface="Calibri"/>
              <a:ea typeface="Calibri"/>
              <a:cs typeface="Calibri"/>
              <a:sym typeface="Calibri"/>
            </a:endParaRPr>
          </a:p>
        </p:txBody>
      </p:sp>
      <p:pic>
        <p:nvPicPr>
          <p:cNvPr descr="preencoded.png" id="251" name="Google Shape;251;p15"/>
          <p:cNvPicPr preferRelativeResize="0"/>
          <p:nvPr/>
        </p:nvPicPr>
        <p:blipFill rotWithShape="1">
          <a:blip r:embed="rId3">
            <a:alphaModFix/>
          </a:blip>
          <a:srcRect b="0" l="0" r="0" t="0"/>
          <a:stretch/>
        </p:blipFill>
        <p:spPr>
          <a:xfrm>
            <a:off x="9818370" y="2148840"/>
            <a:ext cx="6747510" cy="3205044"/>
          </a:xfrm>
          <a:prstGeom prst="rect">
            <a:avLst/>
          </a:prstGeom>
          <a:noFill/>
          <a:ln>
            <a:noFill/>
          </a:ln>
        </p:spPr>
      </p:pic>
      <p:sp>
        <p:nvSpPr>
          <p:cNvPr id="252" name="Google Shape;252;p15"/>
          <p:cNvSpPr/>
          <p:nvPr/>
        </p:nvSpPr>
        <p:spPr>
          <a:xfrm>
            <a:off x="1333500" y="9540240"/>
            <a:ext cx="1056323"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DHAIRYA</a:t>
            </a:r>
            <a:endParaRPr sz="1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257" name="Shape 257"/>
        <p:cNvGrpSpPr/>
        <p:nvPr/>
      </p:nvGrpSpPr>
      <p:grpSpPr>
        <a:xfrm>
          <a:off x="0" y="0"/>
          <a:ext cx="0" cy="0"/>
          <a:chOff x="0" y="0"/>
          <a:chExt cx="0" cy="0"/>
        </a:xfrm>
      </p:grpSpPr>
      <p:sp>
        <p:nvSpPr>
          <p:cNvPr id="258" name="Google Shape;258;p16"/>
          <p:cNvSpPr/>
          <p:nvPr/>
        </p:nvSpPr>
        <p:spPr>
          <a:xfrm>
            <a:off x="1333500" y="1333500"/>
            <a:ext cx="7507186"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STAGE B · PRINCIPLE II</a:t>
            </a:r>
            <a:endParaRPr sz="1350">
              <a:solidFill>
                <a:schemeClr val="dk1"/>
              </a:solidFill>
              <a:latin typeface="Calibri"/>
              <a:ea typeface="Calibri"/>
              <a:cs typeface="Calibri"/>
              <a:sym typeface="Calibri"/>
            </a:endParaRPr>
          </a:p>
        </p:txBody>
      </p:sp>
      <p:sp>
        <p:nvSpPr>
          <p:cNvPr id="259" name="Google Shape;259;p16"/>
          <p:cNvSpPr/>
          <p:nvPr/>
        </p:nvSpPr>
        <p:spPr>
          <a:xfrm>
            <a:off x="1333500" y="1874520"/>
            <a:ext cx="7507186" cy="1728073"/>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6900"/>
              <a:buFont typeface="Georgia"/>
              <a:buNone/>
            </a:pPr>
            <a:r>
              <a:rPr lang="en-US" sz="6900">
                <a:solidFill>
                  <a:srgbClr val="1A1820"/>
                </a:solidFill>
                <a:latin typeface="Georgia"/>
                <a:ea typeface="Georgia"/>
                <a:cs typeface="Georgia"/>
                <a:sym typeface="Georgia"/>
              </a:rPr>
              <a:t xml:space="preserve">Find what the eye </a:t>
            </a:r>
            <a:r>
              <a:rPr i="1" lang="en-US" sz="6900">
                <a:solidFill>
                  <a:srgbClr val="1A1820"/>
                </a:solidFill>
                <a:latin typeface="Georgia"/>
                <a:ea typeface="Georgia"/>
                <a:cs typeface="Georgia"/>
                <a:sym typeface="Georgia"/>
              </a:rPr>
              <a:t>will see.</a:t>
            </a:r>
            <a:endParaRPr sz="6900">
              <a:solidFill>
                <a:schemeClr val="dk1"/>
              </a:solidFill>
              <a:latin typeface="Calibri"/>
              <a:ea typeface="Calibri"/>
              <a:cs typeface="Calibri"/>
              <a:sym typeface="Calibri"/>
            </a:endParaRPr>
          </a:p>
        </p:txBody>
      </p:sp>
      <p:sp>
        <p:nvSpPr>
          <p:cNvPr id="260" name="Google Shape;260;p16"/>
          <p:cNvSpPr/>
          <p:nvPr/>
        </p:nvSpPr>
        <p:spPr>
          <a:xfrm>
            <a:off x="1333500" y="4052043"/>
            <a:ext cx="7063800" cy="119820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2100"/>
              <a:buFont typeface="Arial"/>
              <a:buNone/>
            </a:pPr>
            <a:r>
              <a:rPr lang="en-US" sz="2100">
                <a:solidFill>
                  <a:srgbClr val="423F46"/>
                </a:solidFill>
                <a:latin typeface="Arial"/>
                <a:ea typeface="Arial"/>
                <a:cs typeface="Arial"/>
                <a:sym typeface="Arial"/>
              </a:rPr>
              <a:t xml:space="preserve">An attention map built from three signals: YOLO object detections, spectral residual, and motion against a learned background. The codec sees what the eye </a:t>
            </a:r>
            <a:r>
              <a:rPr i="1" lang="en-US" sz="2100">
                <a:solidFill>
                  <a:srgbClr val="423F46"/>
                </a:solidFill>
                <a:latin typeface="Arial"/>
                <a:ea typeface="Arial"/>
                <a:cs typeface="Arial"/>
                <a:sym typeface="Arial"/>
              </a:rPr>
              <a:t xml:space="preserve">will </a:t>
            </a:r>
            <a:r>
              <a:rPr lang="en-US" sz="2100">
                <a:solidFill>
                  <a:srgbClr val="423F46"/>
                </a:solidFill>
                <a:latin typeface="Arial"/>
                <a:ea typeface="Arial"/>
                <a:cs typeface="Arial"/>
                <a:sym typeface="Arial"/>
              </a:rPr>
              <a:t>look in each frame.</a:t>
            </a:r>
            <a:endParaRPr sz="2100">
              <a:solidFill>
                <a:schemeClr val="dk1"/>
              </a:solidFill>
              <a:latin typeface="Calibri"/>
              <a:ea typeface="Calibri"/>
              <a:cs typeface="Calibri"/>
              <a:sym typeface="Calibri"/>
            </a:endParaRPr>
          </a:p>
        </p:txBody>
      </p:sp>
      <p:sp>
        <p:nvSpPr>
          <p:cNvPr id="261" name="Google Shape;261;p16"/>
          <p:cNvSpPr/>
          <p:nvPr/>
        </p:nvSpPr>
        <p:spPr>
          <a:xfrm>
            <a:off x="1333500" y="5627387"/>
            <a:ext cx="1940400"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6"/>
          <p:cNvSpPr/>
          <p:nvPr/>
        </p:nvSpPr>
        <p:spPr>
          <a:xfrm>
            <a:off x="1474470" y="5711207"/>
            <a:ext cx="1734600" cy="213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YOLO + spectral</a:t>
            </a:r>
            <a:endParaRPr sz="1200">
              <a:solidFill>
                <a:schemeClr val="dk1"/>
              </a:solidFill>
              <a:latin typeface="Calibri"/>
              <a:ea typeface="Calibri"/>
              <a:cs typeface="Calibri"/>
              <a:sym typeface="Calibri"/>
            </a:endParaRPr>
          </a:p>
        </p:txBody>
      </p:sp>
      <p:sp>
        <p:nvSpPr>
          <p:cNvPr id="263" name="Google Shape;263;p16"/>
          <p:cNvSpPr/>
          <p:nvPr/>
        </p:nvSpPr>
        <p:spPr>
          <a:xfrm>
            <a:off x="3373398" y="5627387"/>
            <a:ext cx="1159800"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6"/>
          <p:cNvSpPr/>
          <p:nvPr/>
        </p:nvSpPr>
        <p:spPr>
          <a:xfrm>
            <a:off x="3514368" y="5711207"/>
            <a:ext cx="954300" cy="213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motion-aware</a:t>
            </a:r>
            <a:endParaRPr sz="1200">
              <a:solidFill>
                <a:schemeClr val="dk1"/>
              </a:solidFill>
              <a:latin typeface="Calibri"/>
              <a:ea typeface="Calibri"/>
              <a:cs typeface="Calibri"/>
              <a:sym typeface="Calibri"/>
            </a:endParaRPr>
          </a:p>
        </p:txBody>
      </p:sp>
      <p:sp>
        <p:nvSpPr>
          <p:cNvPr id="265" name="Google Shape;265;p16"/>
          <p:cNvSpPr/>
          <p:nvPr/>
        </p:nvSpPr>
        <p:spPr>
          <a:xfrm>
            <a:off x="4632841" y="5627387"/>
            <a:ext cx="1062300"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6"/>
          <p:cNvSpPr/>
          <p:nvPr/>
        </p:nvSpPr>
        <p:spPr>
          <a:xfrm>
            <a:off x="4773811" y="5711207"/>
            <a:ext cx="856800" cy="213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edge-runnable</a:t>
            </a:r>
            <a:endParaRPr sz="1200">
              <a:solidFill>
                <a:schemeClr val="dk1"/>
              </a:solidFill>
              <a:latin typeface="Calibri"/>
              <a:ea typeface="Calibri"/>
              <a:cs typeface="Calibri"/>
              <a:sym typeface="Calibri"/>
            </a:endParaRPr>
          </a:p>
        </p:txBody>
      </p:sp>
      <p:sp>
        <p:nvSpPr>
          <p:cNvPr id="267" name="Google Shape;267;p16"/>
          <p:cNvSpPr/>
          <p:nvPr/>
        </p:nvSpPr>
        <p:spPr>
          <a:xfrm>
            <a:off x="1333500" y="8260080"/>
            <a:ext cx="22593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THROUGHPUT</a:t>
            </a:r>
            <a:endParaRPr sz="1350">
              <a:solidFill>
                <a:schemeClr val="dk1"/>
              </a:solidFill>
              <a:latin typeface="Calibri"/>
              <a:ea typeface="Calibri"/>
              <a:cs typeface="Calibri"/>
              <a:sym typeface="Calibri"/>
            </a:endParaRPr>
          </a:p>
        </p:txBody>
      </p:sp>
      <p:sp>
        <p:nvSpPr>
          <p:cNvPr id="268" name="Google Shape;268;p16"/>
          <p:cNvSpPr/>
          <p:nvPr/>
        </p:nvSpPr>
        <p:spPr>
          <a:xfrm>
            <a:off x="1333500" y="8534400"/>
            <a:ext cx="2259330" cy="6477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A1820"/>
              </a:buClr>
              <a:buSzPts val="4800"/>
              <a:buFont typeface="Courier New"/>
              <a:buNone/>
            </a:pPr>
            <a:r>
              <a:rPr lang="en-US" sz="4800">
                <a:solidFill>
                  <a:srgbClr val="1A1820"/>
                </a:solidFill>
                <a:latin typeface="Courier New"/>
                <a:ea typeface="Courier New"/>
                <a:cs typeface="Courier New"/>
                <a:sym typeface="Courier New"/>
              </a:rPr>
              <a:t xml:space="preserve">100+ </a:t>
            </a:r>
            <a:r>
              <a:rPr lang="en-US" sz="1500">
                <a:solidFill>
                  <a:srgbClr val="88837A"/>
                </a:solidFill>
                <a:latin typeface="Courier New"/>
                <a:ea typeface="Courier New"/>
                <a:cs typeface="Courier New"/>
                <a:sym typeface="Courier New"/>
              </a:rPr>
              <a:t>fps</a:t>
            </a:r>
            <a:endParaRPr sz="4800">
              <a:solidFill>
                <a:schemeClr val="dk1"/>
              </a:solidFill>
              <a:latin typeface="Calibri"/>
              <a:ea typeface="Calibri"/>
              <a:cs typeface="Calibri"/>
              <a:sym typeface="Calibri"/>
            </a:endParaRPr>
          </a:p>
        </p:txBody>
      </p:sp>
      <p:sp>
        <p:nvSpPr>
          <p:cNvPr id="269" name="Google Shape;269;p16"/>
          <p:cNvSpPr/>
          <p:nvPr/>
        </p:nvSpPr>
        <p:spPr>
          <a:xfrm>
            <a:off x="3973830" y="8260080"/>
            <a:ext cx="2625357"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HARDWARE</a:t>
            </a:r>
            <a:endParaRPr sz="1350">
              <a:solidFill>
                <a:schemeClr val="dk1"/>
              </a:solidFill>
              <a:latin typeface="Calibri"/>
              <a:ea typeface="Calibri"/>
              <a:cs typeface="Calibri"/>
              <a:sym typeface="Calibri"/>
            </a:endParaRPr>
          </a:p>
        </p:txBody>
      </p:sp>
      <p:sp>
        <p:nvSpPr>
          <p:cNvPr id="270" name="Google Shape;270;p16"/>
          <p:cNvSpPr/>
          <p:nvPr/>
        </p:nvSpPr>
        <p:spPr>
          <a:xfrm>
            <a:off x="3973830" y="8534400"/>
            <a:ext cx="2625357" cy="6477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A1820"/>
              </a:buClr>
              <a:buSzPts val="4800"/>
              <a:buFont typeface="Courier New"/>
              <a:buNone/>
            </a:pPr>
            <a:r>
              <a:rPr lang="en-US" sz="4800">
                <a:solidFill>
                  <a:srgbClr val="1A1820"/>
                </a:solidFill>
                <a:latin typeface="Courier New"/>
                <a:ea typeface="Courier New"/>
                <a:cs typeface="Courier New"/>
                <a:sym typeface="Courier New"/>
              </a:rPr>
              <a:t xml:space="preserve">basic </a:t>
            </a:r>
            <a:r>
              <a:rPr lang="en-US" sz="1500">
                <a:solidFill>
                  <a:srgbClr val="88837A"/>
                </a:solidFill>
                <a:latin typeface="Courier New"/>
                <a:ea typeface="Courier New"/>
                <a:cs typeface="Courier New"/>
                <a:sym typeface="Courier New"/>
              </a:rPr>
              <a:t>CPU</a:t>
            </a:r>
            <a:endParaRPr sz="4800">
              <a:solidFill>
                <a:schemeClr val="dk1"/>
              </a:solidFill>
              <a:latin typeface="Calibri"/>
              <a:ea typeface="Calibri"/>
              <a:cs typeface="Calibri"/>
              <a:sym typeface="Calibri"/>
            </a:endParaRPr>
          </a:p>
        </p:txBody>
      </p:sp>
      <p:sp>
        <p:nvSpPr>
          <p:cNvPr id="271" name="Google Shape;271;p16"/>
          <p:cNvSpPr/>
          <p:nvPr/>
        </p:nvSpPr>
        <p:spPr>
          <a:xfrm>
            <a:off x="9193530" y="1333500"/>
            <a:ext cx="7760970" cy="7810500"/>
          </a:xfrm>
          <a:prstGeom prst="roundRect">
            <a:avLst>
              <a:gd fmla="val 491" name="adj"/>
            </a:avLst>
          </a:prstGeom>
          <a:solidFill>
            <a:srgbClr val="1A1820"/>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72" name="Google Shape;272;p16"/>
          <p:cNvPicPr preferRelativeResize="0"/>
          <p:nvPr/>
        </p:nvPicPr>
        <p:blipFill rotWithShape="1">
          <a:blip r:embed="rId3">
            <a:alphaModFix/>
          </a:blip>
          <a:srcRect b="0" l="0" r="0" t="0"/>
          <a:stretch/>
        </p:blipFill>
        <p:spPr>
          <a:xfrm>
            <a:off x="10326052" y="3952875"/>
            <a:ext cx="5495925" cy="2571750"/>
          </a:xfrm>
          <a:prstGeom prst="rect">
            <a:avLst/>
          </a:prstGeom>
          <a:noFill/>
          <a:ln>
            <a:noFill/>
          </a:ln>
        </p:spPr>
      </p:pic>
      <p:sp>
        <p:nvSpPr>
          <p:cNvPr id="273" name="Google Shape;273;p16"/>
          <p:cNvSpPr/>
          <p:nvPr/>
        </p:nvSpPr>
        <p:spPr>
          <a:xfrm>
            <a:off x="9467850" y="8602980"/>
            <a:ext cx="2314575" cy="266700"/>
          </a:xfrm>
          <a:prstGeom prst="roundRect">
            <a:avLst>
              <a:gd fmla="val 10714" name="adj"/>
            </a:avLst>
          </a:prstGeom>
          <a:solidFill>
            <a:srgbClr val="000000">
              <a:alpha val="4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6"/>
          <p:cNvSpPr/>
          <p:nvPr/>
        </p:nvSpPr>
        <p:spPr>
          <a:xfrm>
            <a:off x="9582150" y="8660130"/>
            <a:ext cx="2162175"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F0E6"/>
              </a:buClr>
              <a:buSzPts val="1050"/>
              <a:buFont typeface="Courier New"/>
              <a:buNone/>
            </a:pPr>
            <a:r>
              <a:rPr lang="en-US" sz="1050">
                <a:solidFill>
                  <a:srgbClr val="F4F0E6"/>
                </a:solidFill>
                <a:latin typeface="Courier New"/>
                <a:ea typeface="Courier New"/>
                <a:cs typeface="Courier New"/>
                <a:sym typeface="Courier New"/>
              </a:rPr>
              <a:t>SALIENCY OVERLAY · LIVE</a:t>
            </a:r>
            <a:endParaRPr sz="1050">
              <a:solidFill>
                <a:schemeClr val="dk1"/>
              </a:solidFill>
              <a:latin typeface="Calibri"/>
              <a:ea typeface="Calibri"/>
              <a:cs typeface="Calibri"/>
              <a:sym typeface="Calibri"/>
            </a:endParaRPr>
          </a:p>
        </p:txBody>
      </p:sp>
      <p:sp>
        <p:nvSpPr>
          <p:cNvPr id="275" name="Google Shape;275;p16"/>
          <p:cNvSpPr/>
          <p:nvPr/>
        </p:nvSpPr>
        <p:spPr>
          <a:xfrm>
            <a:off x="1333500" y="9540240"/>
            <a:ext cx="1056323"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DHAIRYA</a:t>
            </a:r>
            <a:endParaRPr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280" name="Shape 280"/>
        <p:cNvGrpSpPr/>
        <p:nvPr/>
      </p:nvGrpSpPr>
      <p:grpSpPr>
        <a:xfrm>
          <a:off x="0" y="0"/>
          <a:ext cx="0" cy="0"/>
          <a:chOff x="0" y="0"/>
          <a:chExt cx="0" cy="0"/>
        </a:xfrm>
      </p:grpSpPr>
      <p:sp>
        <p:nvSpPr>
          <p:cNvPr id="281" name="Google Shape;281;p17"/>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STAGE C · PRINCIPLE II APPLIED</a:t>
            </a:r>
            <a:endParaRPr sz="1350">
              <a:solidFill>
                <a:schemeClr val="dk1"/>
              </a:solidFill>
              <a:latin typeface="Calibri"/>
              <a:ea typeface="Calibri"/>
              <a:cs typeface="Calibri"/>
              <a:sym typeface="Calibri"/>
            </a:endParaRPr>
          </a:p>
        </p:txBody>
      </p:sp>
      <p:sp>
        <p:nvSpPr>
          <p:cNvPr id="282" name="Google Shape;282;p17"/>
          <p:cNvSpPr/>
          <p:nvPr/>
        </p:nvSpPr>
        <p:spPr>
          <a:xfrm>
            <a:off x="1333500" y="1874520"/>
            <a:ext cx="15424315" cy="923449"/>
          </a:xfrm>
          <a:prstGeom prst="rect">
            <a:avLst/>
          </a:prstGeom>
          <a:noFill/>
          <a:ln>
            <a:noFill/>
          </a:ln>
        </p:spPr>
        <p:txBody>
          <a:bodyPr anchorCtr="0" anchor="t" bIns="25400" lIns="25400" spcFirstLastPara="1" rIns="25400" wrap="square" tIns="25400">
            <a:normAutofit/>
          </a:bodyPr>
          <a:lstStyle/>
          <a:p>
            <a:pPr indent="0" lvl="0" marL="0" marR="0" rtl="0" algn="l">
              <a:lnSpc>
                <a:spcPct val="76000"/>
              </a:lnSpc>
              <a:spcBef>
                <a:spcPts val="0"/>
              </a:spcBef>
              <a:spcAft>
                <a:spcPts val="0"/>
              </a:spcAft>
              <a:buClr>
                <a:srgbClr val="1A1820"/>
              </a:buClr>
              <a:buSzPts val="6660"/>
              <a:buFont typeface="Georgia"/>
              <a:buNone/>
            </a:pPr>
            <a:r>
              <a:rPr lang="en-US" sz="6660">
                <a:solidFill>
                  <a:srgbClr val="1A1820"/>
                </a:solidFill>
                <a:latin typeface="Georgia"/>
                <a:ea typeface="Georgia"/>
                <a:cs typeface="Georgia"/>
                <a:sym typeface="Georgia"/>
              </a:rPr>
              <a:t xml:space="preserve">Replace the </a:t>
            </a:r>
            <a:r>
              <a:rPr i="1" lang="en-US" sz="6660">
                <a:solidFill>
                  <a:srgbClr val="1A1820"/>
                </a:solidFill>
                <a:latin typeface="Georgia"/>
                <a:ea typeface="Georgia"/>
                <a:cs typeface="Georgia"/>
                <a:sym typeface="Georgia"/>
              </a:rPr>
              <a:t xml:space="preserve">background. </a:t>
            </a:r>
            <a:r>
              <a:rPr lang="en-US" sz="6660">
                <a:solidFill>
                  <a:srgbClr val="1A1820"/>
                </a:solidFill>
                <a:latin typeface="Georgia"/>
                <a:ea typeface="Georgia"/>
                <a:cs typeface="Georgia"/>
                <a:sym typeface="Georgia"/>
              </a:rPr>
              <a:t xml:space="preserve">Hand it to </a:t>
            </a:r>
            <a:r>
              <a:rPr i="1" lang="en-US" sz="6660">
                <a:solidFill>
                  <a:srgbClr val="DF4823"/>
                </a:solidFill>
                <a:latin typeface="Georgia"/>
                <a:ea typeface="Georgia"/>
                <a:cs typeface="Georgia"/>
                <a:sym typeface="Georgia"/>
              </a:rPr>
              <a:t>H.265.</a:t>
            </a:r>
            <a:endParaRPr sz="6660">
              <a:solidFill>
                <a:schemeClr val="dk1"/>
              </a:solidFill>
              <a:latin typeface="Calibri"/>
              <a:ea typeface="Calibri"/>
              <a:cs typeface="Calibri"/>
              <a:sym typeface="Calibri"/>
            </a:endParaRPr>
          </a:p>
        </p:txBody>
      </p:sp>
      <p:sp>
        <p:nvSpPr>
          <p:cNvPr id="283" name="Google Shape;283;p17"/>
          <p:cNvSpPr/>
          <p:nvPr/>
        </p:nvSpPr>
        <p:spPr>
          <a:xfrm>
            <a:off x="1333500" y="3064669"/>
            <a:ext cx="11772900"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2100"/>
              <a:buFont typeface="Arial"/>
              <a:buNone/>
            </a:pPr>
            <a:r>
              <a:rPr lang="en-US" sz="2100">
                <a:solidFill>
                  <a:srgbClr val="423F46"/>
                </a:solidFill>
                <a:latin typeface="Arial"/>
                <a:ea typeface="Arial"/>
                <a:cs typeface="Arial"/>
                <a:sym typeface="Arial"/>
              </a:rPr>
              <a:t>The attention map replaces every non-salient pixel with the matching pixel from a learned background. Across consecutive frames, those regions become byte-identical — and H.265 collapses them to almost nothing. Every saved bit moves to the foreground.</a:t>
            </a:r>
            <a:endParaRPr sz="2100">
              <a:solidFill>
                <a:schemeClr val="dk1"/>
              </a:solidFill>
              <a:latin typeface="Calibri"/>
              <a:ea typeface="Calibri"/>
              <a:cs typeface="Calibri"/>
              <a:sym typeface="Calibri"/>
            </a:endParaRPr>
          </a:p>
        </p:txBody>
      </p:sp>
      <p:sp>
        <p:nvSpPr>
          <p:cNvPr id="284" name="Google Shape;284;p17"/>
          <p:cNvSpPr/>
          <p:nvPr/>
        </p:nvSpPr>
        <p:spPr>
          <a:xfrm>
            <a:off x="1333500" y="4314349"/>
            <a:ext cx="15621000" cy="1257300"/>
          </a:xfrm>
          <a:prstGeom prst="roundRect">
            <a:avLst>
              <a:gd fmla="val 3030"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7"/>
          <p:cNvSpPr/>
          <p:nvPr/>
        </p:nvSpPr>
        <p:spPr>
          <a:xfrm>
            <a:off x="4454605" y="4321969"/>
            <a:ext cx="9525" cy="1242060"/>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7"/>
          <p:cNvSpPr/>
          <p:nvPr/>
        </p:nvSpPr>
        <p:spPr>
          <a:xfrm>
            <a:off x="1607820" y="4588669"/>
            <a:ext cx="2657487"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01</a:t>
            </a:r>
            <a:endParaRPr sz="1050">
              <a:solidFill>
                <a:schemeClr val="dk1"/>
              </a:solidFill>
              <a:latin typeface="Calibri"/>
              <a:ea typeface="Calibri"/>
              <a:cs typeface="Calibri"/>
              <a:sym typeface="Calibri"/>
            </a:endParaRPr>
          </a:p>
        </p:txBody>
      </p:sp>
      <p:sp>
        <p:nvSpPr>
          <p:cNvPr id="287" name="Google Shape;287;p17"/>
          <p:cNvSpPr/>
          <p:nvPr/>
        </p:nvSpPr>
        <p:spPr>
          <a:xfrm>
            <a:off x="1607820" y="4817269"/>
            <a:ext cx="2657487" cy="28956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1800"/>
              <a:buFont typeface="Arial"/>
              <a:buNone/>
            </a:pPr>
            <a:r>
              <a:rPr lang="en-US" sz="1800">
                <a:solidFill>
                  <a:srgbClr val="1A1820"/>
                </a:solidFill>
                <a:latin typeface="Arial"/>
                <a:ea typeface="Arial"/>
                <a:cs typeface="Arial"/>
                <a:sym typeface="Arial"/>
              </a:rPr>
              <a:t>Raw frame</a:t>
            </a:r>
            <a:endParaRPr sz="1800">
              <a:solidFill>
                <a:schemeClr val="dk1"/>
              </a:solidFill>
              <a:latin typeface="Calibri"/>
              <a:ea typeface="Calibri"/>
              <a:cs typeface="Calibri"/>
              <a:sym typeface="Calibri"/>
            </a:endParaRPr>
          </a:p>
        </p:txBody>
      </p:sp>
      <p:sp>
        <p:nvSpPr>
          <p:cNvPr id="288" name="Google Shape;288;p17"/>
          <p:cNvSpPr/>
          <p:nvPr/>
        </p:nvSpPr>
        <p:spPr>
          <a:xfrm>
            <a:off x="1607820" y="5144929"/>
            <a:ext cx="2657487"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from camera</a:t>
            </a:r>
            <a:endParaRPr sz="1050">
              <a:solidFill>
                <a:schemeClr val="dk1"/>
              </a:solidFill>
              <a:latin typeface="Calibri"/>
              <a:ea typeface="Calibri"/>
              <a:cs typeface="Calibri"/>
              <a:sym typeface="Calibri"/>
            </a:endParaRPr>
          </a:p>
        </p:txBody>
      </p:sp>
      <p:sp>
        <p:nvSpPr>
          <p:cNvPr id="289" name="Google Shape;289;p17"/>
          <p:cNvSpPr/>
          <p:nvPr/>
        </p:nvSpPr>
        <p:spPr>
          <a:xfrm>
            <a:off x="7575709" y="4321969"/>
            <a:ext cx="9525" cy="1242060"/>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7"/>
          <p:cNvSpPr/>
          <p:nvPr/>
        </p:nvSpPr>
        <p:spPr>
          <a:xfrm>
            <a:off x="4728924" y="4588669"/>
            <a:ext cx="2657487"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02</a:t>
            </a:r>
            <a:endParaRPr sz="1050">
              <a:solidFill>
                <a:schemeClr val="dk1"/>
              </a:solidFill>
              <a:latin typeface="Calibri"/>
              <a:ea typeface="Calibri"/>
              <a:cs typeface="Calibri"/>
              <a:sym typeface="Calibri"/>
            </a:endParaRPr>
          </a:p>
        </p:txBody>
      </p:sp>
      <p:sp>
        <p:nvSpPr>
          <p:cNvPr id="291" name="Google Shape;291;p17"/>
          <p:cNvSpPr/>
          <p:nvPr/>
        </p:nvSpPr>
        <p:spPr>
          <a:xfrm>
            <a:off x="4728924" y="4817269"/>
            <a:ext cx="2657487" cy="28956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1800"/>
              <a:buFont typeface="Arial"/>
              <a:buNone/>
            </a:pPr>
            <a:r>
              <a:rPr lang="en-US" sz="1800">
                <a:solidFill>
                  <a:srgbClr val="1A1820"/>
                </a:solidFill>
                <a:latin typeface="Arial"/>
                <a:ea typeface="Arial"/>
                <a:cs typeface="Arial"/>
                <a:sym typeface="Arial"/>
              </a:rPr>
              <a:t>Saliency map</a:t>
            </a:r>
            <a:endParaRPr sz="1800">
              <a:solidFill>
                <a:schemeClr val="dk1"/>
              </a:solidFill>
              <a:latin typeface="Calibri"/>
              <a:ea typeface="Calibri"/>
              <a:cs typeface="Calibri"/>
              <a:sym typeface="Calibri"/>
            </a:endParaRPr>
          </a:p>
        </p:txBody>
      </p:sp>
      <p:sp>
        <p:nvSpPr>
          <p:cNvPr id="292" name="Google Shape;292;p17"/>
          <p:cNvSpPr/>
          <p:nvPr/>
        </p:nvSpPr>
        <p:spPr>
          <a:xfrm>
            <a:off x="4728924" y="5144929"/>
            <a:ext cx="2657487"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from stage B</a:t>
            </a:r>
            <a:endParaRPr sz="1050">
              <a:solidFill>
                <a:schemeClr val="dk1"/>
              </a:solidFill>
              <a:latin typeface="Calibri"/>
              <a:ea typeface="Calibri"/>
              <a:cs typeface="Calibri"/>
              <a:sym typeface="Calibri"/>
            </a:endParaRPr>
          </a:p>
        </p:txBody>
      </p:sp>
      <p:sp>
        <p:nvSpPr>
          <p:cNvPr id="293" name="Google Shape;293;p17"/>
          <p:cNvSpPr/>
          <p:nvPr/>
        </p:nvSpPr>
        <p:spPr>
          <a:xfrm>
            <a:off x="7583329" y="4321969"/>
            <a:ext cx="3121223" cy="1242060"/>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7"/>
          <p:cNvSpPr/>
          <p:nvPr/>
        </p:nvSpPr>
        <p:spPr>
          <a:xfrm>
            <a:off x="10696932" y="4321969"/>
            <a:ext cx="9525" cy="1242060"/>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7"/>
          <p:cNvSpPr/>
          <p:nvPr/>
        </p:nvSpPr>
        <p:spPr>
          <a:xfrm>
            <a:off x="7850029" y="4588669"/>
            <a:ext cx="265761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F0E6"/>
              </a:buClr>
              <a:buSzPts val="1050"/>
              <a:buFont typeface="Courier New"/>
              <a:buNone/>
            </a:pPr>
            <a:r>
              <a:rPr lang="en-US" sz="1050">
                <a:solidFill>
                  <a:srgbClr val="F4F0E6"/>
                </a:solidFill>
                <a:latin typeface="Courier New"/>
                <a:ea typeface="Courier New"/>
                <a:cs typeface="Courier New"/>
                <a:sym typeface="Courier New"/>
              </a:rPr>
              <a:t>03</a:t>
            </a:r>
            <a:endParaRPr sz="1050">
              <a:solidFill>
                <a:schemeClr val="dk1"/>
              </a:solidFill>
              <a:latin typeface="Calibri"/>
              <a:ea typeface="Calibri"/>
              <a:cs typeface="Calibri"/>
              <a:sym typeface="Calibri"/>
            </a:endParaRPr>
          </a:p>
        </p:txBody>
      </p:sp>
      <p:sp>
        <p:nvSpPr>
          <p:cNvPr id="296" name="Google Shape;296;p17"/>
          <p:cNvSpPr/>
          <p:nvPr/>
        </p:nvSpPr>
        <p:spPr>
          <a:xfrm>
            <a:off x="7850029" y="4817269"/>
            <a:ext cx="2657610" cy="28956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F4F0E6"/>
              </a:buClr>
              <a:buSzPts val="1800"/>
              <a:buFont typeface="Arial"/>
              <a:buNone/>
            </a:pPr>
            <a:r>
              <a:rPr lang="en-US" sz="1800">
                <a:solidFill>
                  <a:srgbClr val="F4F0E6"/>
                </a:solidFill>
                <a:latin typeface="Arial"/>
                <a:ea typeface="Arial"/>
                <a:cs typeface="Arial"/>
                <a:sym typeface="Arial"/>
              </a:rPr>
              <a:t>Background substitution</a:t>
            </a:r>
            <a:endParaRPr sz="1800">
              <a:solidFill>
                <a:schemeClr val="dk1"/>
              </a:solidFill>
              <a:latin typeface="Calibri"/>
              <a:ea typeface="Calibri"/>
              <a:cs typeface="Calibri"/>
              <a:sym typeface="Calibri"/>
            </a:endParaRPr>
          </a:p>
        </p:txBody>
      </p:sp>
      <p:sp>
        <p:nvSpPr>
          <p:cNvPr id="297" name="Google Shape;297;p17"/>
          <p:cNvSpPr/>
          <p:nvPr/>
        </p:nvSpPr>
        <p:spPr>
          <a:xfrm>
            <a:off x="7850029" y="5144929"/>
            <a:ext cx="265761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050"/>
              <a:buFont typeface="Courier New"/>
              <a:buNone/>
            </a:pPr>
            <a:r>
              <a:rPr lang="en-US" sz="1050">
                <a:solidFill>
                  <a:srgbClr val="DF4823"/>
                </a:solidFill>
                <a:latin typeface="Courier New"/>
                <a:ea typeface="Courier New"/>
                <a:cs typeface="Courier New"/>
                <a:sym typeface="Courier New"/>
              </a:rPr>
              <a:t>mask·frame + (1−mask)·bg</a:t>
            </a:r>
            <a:endParaRPr sz="1050">
              <a:solidFill>
                <a:schemeClr val="dk1"/>
              </a:solidFill>
              <a:latin typeface="Calibri"/>
              <a:ea typeface="Calibri"/>
              <a:cs typeface="Calibri"/>
              <a:sym typeface="Calibri"/>
            </a:endParaRPr>
          </a:p>
        </p:txBody>
      </p:sp>
      <p:sp>
        <p:nvSpPr>
          <p:cNvPr id="298" name="Google Shape;298;p17"/>
          <p:cNvSpPr/>
          <p:nvPr/>
        </p:nvSpPr>
        <p:spPr>
          <a:xfrm>
            <a:off x="13818037" y="4321969"/>
            <a:ext cx="9525" cy="1242060"/>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7"/>
          <p:cNvSpPr/>
          <p:nvPr/>
        </p:nvSpPr>
        <p:spPr>
          <a:xfrm>
            <a:off x="10971252" y="4588669"/>
            <a:ext cx="2657487"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04</a:t>
            </a:r>
            <a:endParaRPr sz="1050">
              <a:solidFill>
                <a:schemeClr val="dk1"/>
              </a:solidFill>
              <a:latin typeface="Calibri"/>
              <a:ea typeface="Calibri"/>
              <a:cs typeface="Calibri"/>
              <a:sym typeface="Calibri"/>
            </a:endParaRPr>
          </a:p>
        </p:txBody>
      </p:sp>
      <p:sp>
        <p:nvSpPr>
          <p:cNvPr id="300" name="Google Shape;300;p17"/>
          <p:cNvSpPr/>
          <p:nvPr/>
        </p:nvSpPr>
        <p:spPr>
          <a:xfrm>
            <a:off x="10971252" y="4817269"/>
            <a:ext cx="2657487" cy="28956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1800"/>
              <a:buFont typeface="Arial"/>
              <a:buNone/>
            </a:pPr>
            <a:r>
              <a:rPr lang="en-US" sz="1800">
                <a:solidFill>
                  <a:srgbClr val="1A1820"/>
                </a:solidFill>
                <a:latin typeface="Arial"/>
                <a:ea typeface="Arial"/>
                <a:cs typeface="Arial"/>
                <a:sym typeface="Arial"/>
              </a:rPr>
              <a:t>H.265 encode</a:t>
            </a:r>
            <a:endParaRPr sz="1800">
              <a:solidFill>
                <a:schemeClr val="dk1"/>
              </a:solidFill>
              <a:latin typeface="Calibri"/>
              <a:ea typeface="Calibri"/>
              <a:cs typeface="Calibri"/>
              <a:sym typeface="Calibri"/>
            </a:endParaRPr>
          </a:p>
        </p:txBody>
      </p:sp>
      <p:sp>
        <p:nvSpPr>
          <p:cNvPr id="301" name="Google Shape;301;p17"/>
          <p:cNvSpPr/>
          <p:nvPr/>
        </p:nvSpPr>
        <p:spPr>
          <a:xfrm>
            <a:off x="10971252" y="5144929"/>
            <a:ext cx="2657487"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libx265 · CRF 28</a:t>
            </a:r>
            <a:endParaRPr sz="1050">
              <a:solidFill>
                <a:schemeClr val="dk1"/>
              </a:solidFill>
              <a:latin typeface="Calibri"/>
              <a:ea typeface="Calibri"/>
              <a:cs typeface="Calibri"/>
              <a:sym typeface="Calibri"/>
            </a:endParaRPr>
          </a:p>
        </p:txBody>
      </p:sp>
      <p:sp>
        <p:nvSpPr>
          <p:cNvPr id="302" name="Google Shape;302;p17"/>
          <p:cNvSpPr/>
          <p:nvPr/>
        </p:nvSpPr>
        <p:spPr>
          <a:xfrm>
            <a:off x="14092357" y="4588669"/>
            <a:ext cx="2665458"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05</a:t>
            </a:r>
            <a:endParaRPr sz="1050">
              <a:solidFill>
                <a:schemeClr val="dk1"/>
              </a:solidFill>
              <a:latin typeface="Calibri"/>
              <a:ea typeface="Calibri"/>
              <a:cs typeface="Calibri"/>
              <a:sym typeface="Calibri"/>
            </a:endParaRPr>
          </a:p>
        </p:txBody>
      </p:sp>
      <p:sp>
        <p:nvSpPr>
          <p:cNvPr id="303" name="Google Shape;303;p17"/>
          <p:cNvSpPr/>
          <p:nvPr/>
        </p:nvSpPr>
        <p:spPr>
          <a:xfrm>
            <a:off x="14092357" y="4817269"/>
            <a:ext cx="2665458" cy="28956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1A1820"/>
              </a:buClr>
              <a:buSzPts val="1800"/>
              <a:buFont typeface="Arial"/>
              <a:buNone/>
            </a:pPr>
            <a:r>
              <a:rPr lang="en-US" sz="1800">
                <a:solidFill>
                  <a:srgbClr val="1A1820"/>
                </a:solidFill>
                <a:latin typeface="Arial"/>
                <a:ea typeface="Arial"/>
                <a:cs typeface="Arial"/>
                <a:sym typeface="Arial"/>
              </a:rPr>
              <a:t>Compressed .mp4</a:t>
            </a:r>
            <a:endParaRPr sz="1800">
              <a:solidFill>
                <a:schemeClr val="dk1"/>
              </a:solidFill>
              <a:latin typeface="Calibri"/>
              <a:ea typeface="Calibri"/>
              <a:cs typeface="Calibri"/>
              <a:sym typeface="Calibri"/>
            </a:endParaRPr>
          </a:p>
        </p:txBody>
      </p:sp>
      <p:sp>
        <p:nvSpPr>
          <p:cNvPr id="304" name="Google Shape;304;p17"/>
          <p:cNvSpPr/>
          <p:nvPr/>
        </p:nvSpPr>
        <p:spPr>
          <a:xfrm>
            <a:off x="14092357" y="5144929"/>
            <a:ext cx="2665458"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−12% vs baseline</a:t>
            </a:r>
            <a:endParaRPr sz="1050">
              <a:solidFill>
                <a:schemeClr val="dk1"/>
              </a:solidFill>
              <a:latin typeface="Calibri"/>
              <a:ea typeface="Calibri"/>
              <a:cs typeface="Calibri"/>
              <a:sym typeface="Calibri"/>
            </a:endParaRPr>
          </a:p>
        </p:txBody>
      </p:sp>
      <p:sp>
        <p:nvSpPr>
          <p:cNvPr id="305" name="Google Shape;305;p17"/>
          <p:cNvSpPr/>
          <p:nvPr/>
        </p:nvSpPr>
        <p:spPr>
          <a:xfrm>
            <a:off x="1333500" y="6143149"/>
            <a:ext cx="22860" cy="1062990"/>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7"/>
          <p:cNvSpPr/>
          <p:nvPr/>
        </p:nvSpPr>
        <p:spPr>
          <a:xfrm>
            <a:off x="1584960" y="6219349"/>
            <a:ext cx="7491489"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INPUT · BASELINE</a:t>
            </a:r>
            <a:endParaRPr sz="1350">
              <a:solidFill>
                <a:schemeClr val="dk1"/>
              </a:solidFill>
              <a:latin typeface="Calibri"/>
              <a:ea typeface="Calibri"/>
              <a:cs typeface="Calibri"/>
              <a:sym typeface="Calibri"/>
            </a:endParaRPr>
          </a:p>
        </p:txBody>
      </p:sp>
      <p:sp>
        <p:nvSpPr>
          <p:cNvPr id="307" name="Google Shape;307;p17"/>
          <p:cNvSpPr/>
          <p:nvPr/>
        </p:nvSpPr>
        <p:spPr>
          <a:xfrm>
            <a:off x="1584960" y="6474619"/>
            <a:ext cx="7491489" cy="693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3900"/>
              <a:buFont typeface="Courier New"/>
              <a:buNone/>
            </a:pPr>
            <a:r>
              <a:rPr lang="en-US" sz="3900">
                <a:solidFill>
                  <a:srgbClr val="1A1820"/>
                </a:solidFill>
                <a:latin typeface="Courier New"/>
                <a:ea typeface="Courier New"/>
                <a:cs typeface="Courier New"/>
                <a:sym typeface="Courier New"/>
              </a:rPr>
              <a:t>134.2 KB</a:t>
            </a:r>
            <a:endParaRPr sz="3900">
              <a:solidFill>
                <a:schemeClr val="dk1"/>
              </a:solidFill>
              <a:latin typeface="Calibri"/>
              <a:ea typeface="Calibri"/>
              <a:cs typeface="Calibri"/>
              <a:sym typeface="Calibri"/>
            </a:endParaRPr>
          </a:p>
        </p:txBody>
      </p:sp>
      <p:sp>
        <p:nvSpPr>
          <p:cNvPr id="308" name="Google Shape;308;p17"/>
          <p:cNvSpPr/>
          <p:nvPr/>
        </p:nvSpPr>
        <p:spPr>
          <a:xfrm>
            <a:off x="9429750" y="6143149"/>
            <a:ext cx="22860" cy="1062990"/>
          </a:xfrm>
          <a:prstGeom prst="rect">
            <a:avLst/>
          </a:prstGeom>
          <a:solidFill>
            <a:srgbClr val="DF48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7"/>
          <p:cNvSpPr/>
          <p:nvPr/>
        </p:nvSpPr>
        <p:spPr>
          <a:xfrm>
            <a:off x="9681210" y="6219349"/>
            <a:ext cx="7491489"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OUTPUT · OURS</a:t>
            </a:r>
            <a:endParaRPr sz="1350">
              <a:solidFill>
                <a:schemeClr val="dk1"/>
              </a:solidFill>
              <a:latin typeface="Calibri"/>
              <a:ea typeface="Calibri"/>
              <a:cs typeface="Calibri"/>
              <a:sym typeface="Calibri"/>
            </a:endParaRPr>
          </a:p>
        </p:txBody>
      </p:sp>
      <p:sp>
        <p:nvSpPr>
          <p:cNvPr id="310" name="Google Shape;310;p17"/>
          <p:cNvSpPr/>
          <p:nvPr/>
        </p:nvSpPr>
        <p:spPr>
          <a:xfrm>
            <a:off x="9681210" y="6474619"/>
            <a:ext cx="7491489" cy="693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3900"/>
              <a:buFont typeface="Courier New"/>
              <a:buNone/>
            </a:pPr>
            <a:r>
              <a:rPr lang="en-US" sz="3900">
                <a:solidFill>
                  <a:srgbClr val="DF4823"/>
                </a:solidFill>
                <a:latin typeface="Courier New"/>
                <a:ea typeface="Courier New"/>
                <a:cs typeface="Courier New"/>
                <a:sym typeface="Courier New"/>
              </a:rPr>
              <a:t>118.4 KB</a:t>
            </a:r>
            <a:endParaRPr sz="3900">
              <a:solidFill>
                <a:schemeClr val="dk1"/>
              </a:solidFill>
              <a:latin typeface="Calibri"/>
              <a:ea typeface="Calibri"/>
              <a:cs typeface="Calibri"/>
              <a:sym typeface="Calibri"/>
            </a:endParaRPr>
          </a:p>
        </p:txBody>
      </p:sp>
      <p:sp>
        <p:nvSpPr>
          <p:cNvPr id="311" name="Google Shape;311;p17"/>
          <p:cNvSpPr/>
          <p:nvPr/>
        </p:nvSpPr>
        <p:spPr>
          <a:xfrm>
            <a:off x="1333500" y="9540240"/>
            <a:ext cx="1056323"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DHAIRYA</a:t>
            </a:r>
            <a:endParaRPr sz="12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316" name="Shape 316"/>
        <p:cNvGrpSpPr/>
        <p:nvPr/>
      </p:nvGrpSpPr>
      <p:grpSpPr>
        <a:xfrm>
          <a:off x="0" y="0"/>
          <a:ext cx="0" cy="0"/>
          <a:chOff x="0" y="0"/>
          <a:chExt cx="0" cy="0"/>
        </a:xfrm>
      </p:grpSpPr>
      <p:sp>
        <p:nvSpPr>
          <p:cNvPr id="317" name="Google Shape;317;p18"/>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PRINCIPLE V · BORROW THE IDEA, NOT THE SYSTEM</a:t>
            </a:r>
            <a:endParaRPr sz="1350">
              <a:solidFill>
                <a:schemeClr val="dk1"/>
              </a:solidFill>
              <a:latin typeface="Calibri"/>
              <a:ea typeface="Calibri"/>
              <a:cs typeface="Calibri"/>
              <a:sym typeface="Calibri"/>
            </a:endParaRPr>
          </a:p>
        </p:txBody>
      </p:sp>
      <p:sp>
        <p:nvSpPr>
          <p:cNvPr id="318" name="Google Shape;318;p18"/>
          <p:cNvSpPr/>
          <p:nvPr/>
        </p:nvSpPr>
        <p:spPr>
          <a:xfrm>
            <a:off x="1333500" y="1931670"/>
            <a:ext cx="16089630" cy="1187172"/>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9300"/>
              <a:buFont typeface="Georgia"/>
              <a:buNone/>
            </a:pPr>
            <a:r>
              <a:rPr lang="en-US" sz="9300">
                <a:solidFill>
                  <a:srgbClr val="1A1820"/>
                </a:solidFill>
                <a:latin typeface="Georgia"/>
                <a:ea typeface="Georgia"/>
                <a:cs typeface="Georgia"/>
                <a:sym typeface="Georgia"/>
              </a:rPr>
              <a:t xml:space="preserve">Why not a pure </a:t>
            </a:r>
            <a:r>
              <a:rPr i="1" lang="en-US" sz="9300">
                <a:solidFill>
                  <a:srgbClr val="DF4823"/>
                </a:solidFill>
                <a:latin typeface="Georgia"/>
                <a:ea typeface="Georgia"/>
                <a:cs typeface="Georgia"/>
                <a:sym typeface="Georgia"/>
              </a:rPr>
              <a:t>neural codec?</a:t>
            </a:r>
            <a:endParaRPr sz="9300">
              <a:solidFill>
                <a:schemeClr val="dk1"/>
              </a:solidFill>
              <a:latin typeface="Calibri"/>
              <a:ea typeface="Calibri"/>
              <a:cs typeface="Calibri"/>
              <a:sym typeface="Calibri"/>
            </a:endParaRPr>
          </a:p>
        </p:txBody>
      </p:sp>
      <p:sp>
        <p:nvSpPr>
          <p:cNvPr id="319" name="Google Shape;319;p18"/>
          <p:cNvSpPr/>
          <p:nvPr/>
        </p:nvSpPr>
        <p:spPr>
          <a:xfrm>
            <a:off x="1333500" y="3569553"/>
            <a:ext cx="7639050" cy="5587008"/>
          </a:xfrm>
          <a:prstGeom prst="roundRect">
            <a:avLst>
              <a:gd fmla="val 682"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8"/>
          <p:cNvSpPr/>
          <p:nvPr/>
        </p:nvSpPr>
        <p:spPr>
          <a:xfrm>
            <a:off x="1798320" y="3983712"/>
            <a:ext cx="6910693"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PURE NEURAL CODEC</a:t>
            </a:r>
            <a:endParaRPr sz="1350">
              <a:solidFill>
                <a:schemeClr val="dk1"/>
              </a:solidFill>
              <a:latin typeface="Calibri"/>
              <a:ea typeface="Calibri"/>
              <a:cs typeface="Calibri"/>
              <a:sym typeface="Calibri"/>
            </a:endParaRPr>
          </a:p>
        </p:txBody>
      </p:sp>
      <p:sp>
        <p:nvSpPr>
          <p:cNvPr id="321" name="Google Shape;321;p18"/>
          <p:cNvSpPr/>
          <p:nvPr/>
        </p:nvSpPr>
        <p:spPr>
          <a:xfrm>
            <a:off x="1798320" y="4334232"/>
            <a:ext cx="6910693" cy="91821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1A1820"/>
              </a:buClr>
              <a:buSzPts val="3300"/>
              <a:buFont typeface="Arial"/>
              <a:buNone/>
            </a:pPr>
            <a:r>
              <a:rPr lang="en-US" sz="3300">
                <a:solidFill>
                  <a:srgbClr val="1A1820"/>
                </a:solidFill>
                <a:latin typeface="Arial"/>
                <a:ea typeface="Arial"/>
                <a:cs typeface="Arial"/>
                <a:sym typeface="Arial"/>
              </a:rPr>
              <a:t>Beautiful results. Won't run on your camera.</a:t>
            </a:r>
            <a:endParaRPr sz="3300">
              <a:solidFill>
                <a:schemeClr val="dk1"/>
              </a:solidFill>
              <a:latin typeface="Calibri"/>
              <a:ea typeface="Calibri"/>
              <a:cs typeface="Calibri"/>
              <a:sym typeface="Calibri"/>
            </a:endParaRPr>
          </a:p>
        </p:txBody>
      </p:sp>
      <p:sp>
        <p:nvSpPr>
          <p:cNvPr id="322" name="Google Shape;322;p18"/>
          <p:cNvSpPr/>
          <p:nvPr/>
        </p:nvSpPr>
        <p:spPr>
          <a:xfrm>
            <a:off x="1798320" y="5442942"/>
            <a:ext cx="6910693" cy="645795"/>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423F46"/>
              </a:buClr>
              <a:buSzPts val="1526"/>
              <a:buFont typeface="Arial"/>
              <a:buNone/>
            </a:pPr>
            <a:r>
              <a:rPr lang="en-US" sz="1526">
                <a:solidFill>
                  <a:srgbClr val="423F46"/>
                </a:solidFill>
                <a:latin typeface="Arial"/>
                <a:ea typeface="Arial"/>
                <a:cs typeface="Arial"/>
                <a:sym typeface="Arial"/>
              </a:rPr>
              <a:t>Three hundred times compression in research papers — but it needs a GPU and several gigabytes of RAM. A fifty-dollar camera has neither.</a:t>
            </a:r>
            <a:endParaRPr sz="1526">
              <a:solidFill>
                <a:schemeClr val="dk1"/>
              </a:solidFill>
              <a:latin typeface="Calibri"/>
              <a:ea typeface="Calibri"/>
              <a:cs typeface="Calibri"/>
              <a:sym typeface="Calibri"/>
            </a:endParaRPr>
          </a:p>
        </p:txBody>
      </p:sp>
      <p:sp>
        <p:nvSpPr>
          <p:cNvPr id="323" name="Google Shape;323;p18"/>
          <p:cNvSpPr/>
          <p:nvPr/>
        </p:nvSpPr>
        <p:spPr>
          <a:xfrm>
            <a:off x="1798320" y="6279237"/>
            <a:ext cx="1452563" cy="342900"/>
          </a:xfrm>
          <a:prstGeom prst="roundRect">
            <a:avLst>
              <a:gd fmla="val 50000" name="adj"/>
            </a:avLst>
          </a:prstGeom>
          <a:noFill/>
          <a:ln cap="flat" cmpd="sng" w="9525">
            <a:solidFill>
              <a:srgbClr val="8883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8"/>
          <p:cNvSpPr/>
          <p:nvPr/>
        </p:nvSpPr>
        <p:spPr>
          <a:xfrm>
            <a:off x="1939290" y="6363057"/>
            <a:ext cx="1246823"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GPU required</a:t>
            </a:r>
            <a:endParaRPr sz="1200">
              <a:solidFill>
                <a:schemeClr val="dk1"/>
              </a:solidFill>
              <a:latin typeface="Calibri"/>
              <a:ea typeface="Calibri"/>
              <a:cs typeface="Calibri"/>
              <a:sym typeface="Calibri"/>
            </a:endParaRPr>
          </a:p>
        </p:txBody>
      </p:sp>
      <p:sp>
        <p:nvSpPr>
          <p:cNvPr id="325" name="Google Shape;325;p18"/>
          <p:cNvSpPr/>
          <p:nvPr/>
        </p:nvSpPr>
        <p:spPr>
          <a:xfrm>
            <a:off x="3350419" y="6279237"/>
            <a:ext cx="1159907" cy="342900"/>
          </a:xfrm>
          <a:prstGeom prst="roundRect">
            <a:avLst>
              <a:gd fmla="val 50000" name="adj"/>
            </a:avLst>
          </a:prstGeom>
          <a:noFill/>
          <a:ln cap="flat" cmpd="sng" w="9525">
            <a:solidFill>
              <a:srgbClr val="8883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8"/>
          <p:cNvSpPr/>
          <p:nvPr/>
        </p:nvSpPr>
        <p:spPr>
          <a:xfrm>
            <a:off x="3491389" y="6363057"/>
            <a:ext cx="954167"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heavy RAM</a:t>
            </a:r>
            <a:endParaRPr sz="1200">
              <a:solidFill>
                <a:schemeClr val="dk1"/>
              </a:solidFill>
              <a:latin typeface="Calibri"/>
              <a:ea typeface="Calibri"/>
              <a:cs typeface="Calibri"/>
              <a:sym typeface="Calibri"/>
            </a:endParaRPr>
          </a:p>
        </p:txBody>
      </p:sp>
      <p:sp>
        <p:nvSpPr>
          <p:cNvPr id="327" name="Google Shape;327;p18"/>
          <p:cNvSpPr/>
          <p:nvPr/>
        </p:nvSpPr>
        <p:spPr>
          <a:xfrm>
            <a:off x="4609862" y="6279237"/>
            <a:ext cx="672227" cy="342900"/>
          </a:xfrm>
          <a:prstGeom prst="roundRect">
            <a:avLst>
              <a:gd fmla="val 50000" name="adj"/>
            </a:avLst>
          </a:prstGeom>
          <a:noFill/>
          <a:ln cap="flat" cmpd="sng" w="9525">
            <a:solidFill>
              <a:srgbClr val="88837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18"/>
          <p:cNvSpPr/>
          <p:nvPr/>
        </p:nvSpPr>
        <p:spPr>
          <a:xfrm>
            <a:off x="4750832" y="6363057"/>
            <a:ext cx="466487"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slow</a:t>
            </a:r>
            <a:endParaRPr sz="1200">
              <a:solidFill>
                <a:schemeClr val="dk1"/>
              </a:solidFill>
              <a:latin typeface="Calibri"/>
              <a:ea typeface="Calibri"/>
              <a:cs typeface="Calibri"/>
              <a:sym typeface="Calibri"/>
            </a:endParaRPr>
          </a:p>
        </p:txBody>
      </p:sp>
      <p:sp>
        <p:nvSpPr>
          <p:cNvPr id="329" name="Google Shape;329;p18"/>
          <p:cNvSpPr/>
          <p:nvPr/>
        </p:nvSpPr>
        <p:spPr>
          <a:xfrm>
            <a:off x="9315450" y="3556992"/>
            <a:ext cx="7639050" cy="5587008"/>
          </a:xfrm>
          <a:prstGeom prst="roundRect">
            <a:avLst>
              <a:gd fmla="val 682" name="adj"/>
            </a:avLst>
          </a:prstGeom>
          <a:solidFill>
            <a:srgbClr val="1A1820"/>
          </a:solid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18"/>
          <p:cNvSpPr/>
          <p:nvPr/>
        </p:nvSpPr>
        <p:spPr>
          <a:xfrm>
            <a:off x="9780270" y="3983712"/>
            <a:ext cx="6910693"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OUR HYBRID APPROACH</a:t>
            </a:r>
            <a:endParaRPr sz="1350">
              <a:solidFill>
                <a:schemeClr val="dk1"/>
              </a:solidFill>
              <a:latin typeface="Calibri"/>
              <a:ea typeface="Calibri"/>
              <a:cs typeface="Calibri"/>
              <a:sym typeface="Calibri"/>
            </a:endParaRPr>
          </a:p>
        </p:txBody>
      </p:sp>
      <p:sp>
        <p:nvSpPr>
          <p:cNvPr id="331" name="Google Shape;331;p18"/>
          <p:cNvSpPr/>
          <p:nvPr/>
        </p:nvSpPr>
        <p:spPr>
          <a:xfrm>
            <a:off x="9780270" y="4334232"/>
            <a:ext cx="6910693" cy="91821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F4F0E6"/>
              </a:buClr>
              <a:buSzPts val="3300"/>
              <a:buFont typeface="Arial"/>
              <a:buNone/>
            </a:pPr>
            <a:r>
              <a:rPr lang="en-US" sz="3300">
                <a:solidFill>
                  <a:srgbClr val="F4F0E6"/>
                </a:solidFill>
                <a:latin typeface="Arial"/>
                <a:ea typeface="Arial"/>
                <a:cs typeface="Arial"/>
                <a:sym typeface="Arial"/>
              </a:rPr>
              <a:t>Tiny AI guiding a fast classical codec.</a:t>
            </a:r>
            <a:endParaRPr sz="3300">
              <a:solidFill>
                <a:schemeClr val="dk1"/>
              </a:solidFill>
              <a:latin typeface="Calibri"/>
              <a:ea typeface="Calibri"/>
              <a:cs typeface="Calibri"/>
              <a:sym typeface="Calibri"/>
            </a:endParaRPr>
          </a:p>
        </p:txBody>
      </p:sp>
      <p:sp>
        <p:nvSpPr>
          <p:cNvPr id="332" name="Google Shape;332;p18"/>
          <p:cNvSpPr/>
          <p:nvPr/>
        </p:nvSpPr>
        <p:spPr>
          <a:xfrm>
            <a:off x="9780270" y="5404842"/>
            <a:ext cx="6910693" cy="645795"/>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4F0E6"/>
              </a:buClr>
              <a:buSzPts val="1650"/>
              <a:buFont typeface="Arial"/>
              <a:buNone/>
            </a:pPr>
            <a:r>
              <a:rPr lang="en-US" sz="1650">
                <a:solidFill>
                  <a:srgbClr val="F4F0E6"/>
                </a:solidFill>
                <a:latin typeface="Arial"/>
                <a:ea typeface="Arial"/>
                <a:cs typeface="Arial"/>
                <a:sym typeface="Arial"/>
              </a:rPr>
              <a:t>We took the AI insight — spend bits only on what matters — and applied it through a tiny saliency model steering a standard H.265 encoder.</a:t>
            </a:r>
            <a:endParaRPr sz="1650">
              <a:solidFill>
                <a:schemeClr val="dk1"/>
              </a:solidFill>
              <a:latin typeface="Calibri"/>
              <a:ea typeface="Calibri"/>
              <a:cs typeface="Calibri"/>
              <a:sym typeface="Calibri"/>
            </a:endParaRPr>
          </a:p>
        </p:txBody>
      </p:sp>
      <p:sp>
        <p:nvSpPr>
          <p:cNvPr id="333" name="Google Shape;333;p18"/>
          <p:cNvSpPr/>
          <p:nvPr/>
        </p:nvSpPr>
        <p:spPr>
          <a:xfrm>
            <a:off x="9780270" y="6279237"/>
            <a:ext cx="1452563" cy="342900"/>
          </a:xfrm>
          <a:prstGeom prst="roundRect">
            <a:avLst>
              <a:gd fmla="val 50000" name="adj"/>
            </a:avLst>
          </a:prstGeom>
          <a:noFill/>
          <a:ln cap="flat" cmpd="sng" w="9525">
            <a:solidFill>
              <a:srgbClr val="DF48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18"/>
          <p:cNvSpPr/>
          <p:nvPr/>
        </p:nvSpPr>
        <p:spPr>
          <a:xfrm>
            <a:off x="9921240" y="6363057"/>
            <a:ext cx="1246823"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200"/>
              <a:buFont typeface="Courier New"/>
              <a:buNone/>
            </a:pPr>
            <a:r>
              <a:rPr lang="en-US" sz="1200">
                <a:solidFill>
                  <a:srgbClr val="DF4823"/>
                </a:solidFill>
                <a:latin typeface="Courier New"/>
                <a:ea typeface="Courier New"/>
                <a:cs typeface="Courier New"/>
                <a:sym typeface="Courier New"/>
              </a:rPr>
              <a:t>runs on Pi 5</a:t>
            </a:r>
            <a:endParaRPr sz="1200">
              <a:solidFill>
                <a:schemeClr val="dk1"/>
              </a:solidFill>
              <a:latin typeface="Calibri"/>
              <a:ea typeface="Calibri"/>
              <a:cs typeface="Calibri"/>
              <a:sym typeface="Calibri"/>
            </a:endParaRPr>
          </a:p>
        </p:txBody>
      </p:sp>
      <p:sp>
        <p:nvSpPr>
          <p:cNvPr id="335" name="Google Shape;335;p18"/>
          <p:cNvSpPr/>
          <p:nvPr/>
        </p:nvSpPr>
        <p:spPr>
          <a:xfrm>
            <a:off x="11332369" y="6279237"/>
            <a:ext cx="1062395" cy="342900"/>
          </a:xfrm>
          <a:prstGeom prst="roundRect">
            <a:avLst>
              <a:gd fmla="val 50000" name="adj"/>
            </a:avLst>
          </a:prstGeom>
          <a:noFill/>
          <a:ln cap="flat" cmpd="sng" w="9525">
            <a:solidFill>
              <a:srgbClr val="DF48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8"/>
          <p:cNvSpPr/>
          <p:nvPr/>
        </p:nvSpPr>
        <p:spPr>
          <a:xfrm>
            <a:off x="11473339" y="6363057"/>
            <a:ext cx="856655"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200"/>
              <a:buFont typeface="Courier New"/>
              <a:buNone/>
            </a:pPr>
            <a:r>
              <a:rPr lang="en-US" sz="1200">
                <a:solidFill>
                  <a:srgbClr val="DF4823"/>
                </a:solidFill>
                <a:latin typeface="Courier New"/>
                <a:ea typeface="Courier New"/>
                <a:cs typeface="Courier New"/>
                <a:sym typeface="Courier New"/>
              </a:rPr>
              <a:t>100+ fps</a:t>
            </a:r>
            <a:endParaRPr sz="1200">
              <a:solidFill>
                <a:schemeClr val="dk1"/>
              </a:solidFill>
              <a:latin typeface="Calibri"/>
              <a:ea typeface="Calibri"/>
              <a:cs typeface="Calibri"/>
              <a:sym typeface="Calibri"/>
            </a:endParaRPr>
          </a:p>
        </p:txBody>
      </p:sp>
      <p:sp>
        <p:nvSpPr>
          <p:cNvPr id="337" name="Google Shape;337;p18"/>
          <p:cNvSpPr/>
          <p:nvPr/>
        </p:nvSpPr>
        <p:spPr>
          <a:xfrm>
            <a:off x="12494300" y="6279237"/>
            <a:ext cx="1062395" cy="342900"/>
          </a:xfrm>
          <a:prstGeom prst="roundRect">
            <a:avLst>
              <a:gd fmla="val 50000" name="adj"/>
            </a:avLst>
          </a:prstGeom>
          <a:noFill/>
          <a:ln cap="flat" cmpd="sng" w="9525">
            <a:solidFill>
              <a:srgbClr val="DF48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8"/>
          <p:cNvSpPr/>
          <p:nvPr/>
        </p:nvSpPr>
        <p:spPr>
          <a:xfrm>
            <a:off x="12635270" y="6363057"/>
            <a:ext cx="856655"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200"/>
              <a:buFont typeface="Courier New"/>
              <a:buNone/>
            </a:pPr>
            <a:r>
              <a:rPr lang="en-US" sz="1200">
                <a:solidFill>
                  <a:srgbClr val="DF4823"/>
                </a:solidFill>
                <a:latin typeface="Courier New"/>
                <a:ea typeface="Courier New"/>
                <a:cs typeface="Courier New"/>
                <a:sym typeface="Courier New"/>
              </a:rPr>
              <a:t>no cloud</a:t>
            </a:r>
            <a:endParaRPr sz="1200">
              <a:solidFill>
                <a:schemeClr val="dk1"/>
              </a:solidFill>
              <a:latin typeface="Calibri"/>
              <a:ea typeface="Calibri"/>
              <a:cs typeface="Calibri"/>
              <a:sym typeface="Calibri"/>
            </a:endParaRPr>
          </a:p>
        </p:txBody>
      </p:sp>
      <p:sp>
        <p:nvSpPr>
          <p:cNvPr id="339" name="Google Shape;339;p18"/>
          <p:cNvSpPr/>
          <p:nvPr/>
        </p:nvSpPr>
        <p:spPr>
          <a:xfrm>
            <a:off x="1333500" y="9540240"/>
            <a:ext cx="1056323"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DHAIRYA</a:t>
            </a:r>
            <a:endParaRPr sz="1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344" name="Shape 344"/>
        <p:cNvGrpSpPr/>
        <p:nvPr/>
      </p:nvGrpSpPr>
      <p:grpSpPr>
        <a:xfrm>
          <a:off x="0" y="0"/>
          <a:ext cx="0" cy="0"/>
          <a:chOff x="0" y="0"/>
          <a:chExt cx="0" cy="0"/>
        </a:xfrm>
      </p:grpSpPr>
      <p:sp>
        <p:nvSpPr>
          <p:cNvPr id="345" name="Google Shape;345;p19"/>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PRINCIPLE IV · THINKING AT THE CAMERA</a:t>
            </a:r>
            <a:endParaRPr sz="1350">
              <a:solidFill>
                <a:schemeClr val="dk1"/>
              </a:solidFill>
              <a:latin typeface="Calibri"/>
              <a:ea typeface="Calibri"/>
              <a:cs typeface="Calibri"/>
              <a:sym typeface="Calibri"/>
            </a:endParaRPr>
          </a:p>
        </p:txBody>
      </p:sp>
      <p:sp>
        <p:nvSpPr>
          <p:cNvPr id="346" name="Google Shape;346;p19"/>
          <p:cNvSpPr/>
          <p:nvPr/>
        </p:nvSpPr>
        <p:spPr>
          <a:xfrm>
            <a:off x="1333500" y="1874520"/>
            <a:ext cx="14716125" cy="232100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9300"/>
              <a:buFont typeface="Georgia"/>
              <a:buNone/>
            </a:pPr>
            <a:r>
              <a:rPr lang="en-US" sz="9300">
                <a:solidFill>
                  <a:srgbClr val="1A1820"/>
                </a:solidFill>
                <a:latin typeface="Georgia"/>
                <a:ea typeface="Georgia"/>
                <a:cs typeface="Georgia"/>
                <a:sym typeface="Georgia"/>
              </a:rPr>
              <a:t xml:space="preserve">Raw frames </a:t>
            </a:r>
            <a:r>
              <a:rPr i="1" lang="en-US" sz="9300">
                <a:solidFill>
                  <a:srgbClr val="1A1820"/>
                </a:solidFill>
                <a:latin typeface="Georgia"/>
                <a:ea typeface="Georgia"/>
                <a:cs typeface="Georgia"/>
                <a:sym typeface="Georgia"/>
              </a:rPr>
              <a:t xml:space="preserve">never </a:t>
            </a:r>
            <a:r>
              <a:rPr lang="en-US" sz="9300">
                <a:solidFill>
                  <a:srgbClr val="1A1820"/>
                </a:solidFill>
                <a:latin typeface="Georgia"/>
                <a:ea typeface="Georgia"/>
                <a:cs typeface="Georgia"/>
                <a:sym typeface="Georgia"/>
              </a:rPr>
              <a:t>leave the device.</a:t>
            </a:r>
            <a:endParaRPr sz="9300">
              <a:solidFill>
                <a:schemeClr val="dk1"/>
              </a:solidFill>
              <a:latin typeface="Calibri"/>
              <a:ea typeface="Calibri"/>
              <a:cs typeface="Calibri"/>
              <a:sym typeface="Calibri"/>
            </a:endParaRPr>
          </a:p>
        </p:txBody>
      </p:sp>
      <p:sp>
        <p:nvSpPr>
          <p:cNvPr id="347" name="Google Shape;347;p19"/>
          <p:cNvSpPr/>
          <p:nvPr/>
        </p:nvSpPr>
        <p:spPr>
          <a:xfrm>
            <a:off x="1333500" y="4728924"/>
            <a:ext cx="7105650" cy="4415076"/>
          </a:xfrm>
          <a:prstGeom prst="roundRect">
            <a:avLst>
              <a:gd fmla="val 863" name="adj"/>
            </a:avLst>
          </a:prstGeom>
          <a:solidFill>
            <a:srgbClr val="1A1820"/>
          </a:solid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9"/>
          <p:cNvSpPr/>
          <p:nvPr/>
        </p:nvSpPr>
        <p:spPr>
          <a:xfrm>
            <a:off x="1798320" y="5155645"/>
            <a:ext cx="6361291"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ON THE CAMERA (EDGE)</a:t>
            </a:r>
            <a:endParaRPr sz="1350">
              <a:solidFill>
                <a:schemeClr val="dk1"/>
              </a:solidFill>
              <a:latin typeface="Calibri"/>
              <a:ea typeface="Calibri"/>
              <a:cs typeface="Calibri"/>
              <a:sym typeface="Calibri"/>
            </a:endParaRPr>
          </a:p>
        </p:txBody>
      </p:sp>
      <p:sp>
        <p:nvSpPr>
          <p:cNvPr id="349" name="Google Shape;349;p19"/>
          <p:cNvSpPr/>
          <p:nvPr/>
        </p:nvSpPr>
        <p:spPr>
          <a:xfrm>
            <a:off x="1798320" y="5506164"/>
            <a:ext cx="6361291"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F4F0E6"/>
              </a:buClr>
              <a:buSzPts val="3000"/>
              <a:buFont typeface="Arial"/>
              <a:buNone/>
            </a:pPr>
            <a:r>
              <a:rPr lang="en-US" sz="3000">
                <a:solidFill>
                  <a:srgbClr val="F4F0E6"/>
                </a:solidFill>
                <a:latin typeface="Arial"/>
                <a:ea typeface="Arial"/>
                <a:cs typeface="Arial"/>
                <a:sym typeface="Arial"/>
              </a:rPr>
              <a:t>Gate · Saliency · Encode</a:t>
            </a:r>
            <a:endParaRPr sz="3000">
              <a:solidFill>
                <a:schemeClr val="dk1"/>
              </a:solidFill>
              <a:latin typeface="Calibri"/>
              <a:ea typeface="Calibri"/>
              <a:cs typeface="Calibri"/>
              <a:sym typeface="Calibri"/>
            </a:endParaRPr>
          </a:p>
        </p:txBody>
      </p:sp>
      <p:sp>
        <p:nvSpPr>
          <p:cNvPr id="350" name="Google Shape;350;p19"/>
          <p:cNvSpPr/>
          <p:nvPr/>
        </p:nvSpPr>
        <p:spPr>
          <a:xfrm>
            <a:off x="1798320" y="6096714"/>
            <a:ext cx="6361291" cy="645795"/>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4F0E6"/>
              </a:buClr>
              <a:buSzPts val="1650"/>
              <a:buFont typeface="Arial"/>
              <a:buNone/>
            </a:pPr>
            <a:r>
              <a:rPr lang="en-US" sz="1650">
                <a:solidFill>
                  <a:srgbClr val="F4F0E6"/>
                </a:solidFill>
                <a:latin typeface="Arial"/>
                <a:ea typeface="Arial"/>
                <a:cs typeface="Arial"/>
                <a:sym typeface="Arial"/>
              </a:rPr>
              <a:t>All three stages run locally on the Raspberry Pi. Raw, uncompressed video never touches the network.</a:t>
            </a:r>
            <a:endParaRPr sz="1650">
              <a:solidFill>
                <a:schemeClr val="dk1"/>
              </a:solidFill>
              <a:latin typeface="Calibri"/>
              <a:ea typeface="Calibri"/>
              <a:cs typeface="Calibri"/>
              <a:sym typeface="Calibri"/>
            </a:endParaRPr>
          </a:p>
        </p:txBody>
      </p:sp>
      <p:sp>
        <p:nvSpPr>
          <p:cNvPr id="351" name="Google Shape;351;p19"/>
          <p:cNvSpPr/>
          <p:nvPr/>
        </p:nvSpPr>
        <p:spPr>
          <a:xfrm>
            <a:off x="1798320" y="8336280"/>
            <a:ext cx="1159907" cy="342900"/>
          </a:xfrm>
          <a:prstGeom prst="roundRect">
            <a:avLst>
              <a:gd fmla="val 50000" name="adj"/>
            </a:avLst>
          </a:prstGeom>
          <a:noFill/>
          <a:ln cap="flat" cmpd="sng" w="9525">
            <a:solidFill>
              <a:srgbClr val="DF48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9"/>
          <p:cNvSpPr/>
          <p:nvPr/>
        </p:nvSpPr>
        <p:spPr>
          <a:xfrm>
            <a:off x="1939290" y="8420100"/>
            <a:ext cx="954167"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200"/>
              <a:buFont typeface="Courier New"/>
              <a:buNone/>
            </a:pPr>
            <a:r>
              <a:rPr lang="en-US" sz="1200">
                <a:solidFill>
                  <a:srgbClr val="DF4823"/>
                </a:solidFill>
                <a:latin typeface="Courier New"/>
                <a:ea typeface="Courier New"/>
                <a:cs typeface="Courier New"/>
                <a:sym typeface="Courier New"/>
              </a:rPr>
              <a:t>edge-only</a:t>
            </a:r>
            <a:endParaRPr sz="1200">
              <a:solidFill>
                <a:schemeClr val="dk1"/>
              </a:solidFill>
              <a:latin typeface="Calibri"/>
              <a:ea typeface="Calibri"/>
              <a:cs typeface="Calibri"/>
              <a:sym typeface="Calibri"/>
            </a:endParaRPr>
          </a:p>
        </p:txBody>
      </p:sp>
      <p:sp>
        <p:nvSpPr>
          <p:cNvPr id="353" name="Google Shape;353;p19"/>
          <p:cNvSpPr/>
          <p:nvPr/>
        </p:nvSpPr>
        <p:spPr>
          <a:xfrm>
            <a:off x="3057763" y="8336280"/>
            <a:ext cx="1550194" cy="342900"/>
          </a:xfrm>
          <a:prstGeom prst="roundRect">
            <a:avLst>
              <a:gd fmla="val 50000" name="adj"/>
            </a:avLst>
          </a:prstGeom>
          <a:noFill/>
          <a:ln cap="flat" cmpd="sng" w="9525">
            <a:solidFill>
              <a:srgbClr val="DF48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19"/>
          <p:cNvSpPr/>
          <p:nvPr/>
        </p:nvSpPr>
        <p:spPr>
          <a:xfrm>
            <a:off x="3198733" y="8420100"/>
            <a:ext cx="1344454"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200"/>
              <a:buFont typeface="Courier New"/>
              <a:buNone/>
            </a:pPr>
            <a:r>
              <a:rPr lang="en-US" sz="1200">
                <a:solidFill>
                  <a:srgbClr val="DF4823"/>
                </a:solidFill>
                <a:latin typeface="Courier New"/>
                <a:ea typeface="Courier New"/>
                <a:cs typeface="Courier New"/>
                <a:sym typeface="Courier New"/>
              </a:rPr>
              <a:t>no raw uplink</a:t>
            </a:r>
            <a:endParaRPr sz="1200">
              <a:solidFill>
                <a:schemeClr val="dk1"/>
              </a:solidFill>
              <a:latin typeface="Calibri"/>
              <a:ea typeface="Calibri"/>
              <a:cs typeface="Calibri"/>
              <a:sym typeface="Calibri"/>
            </a:endParaRPr>
          </a:p>
        </p:txBody>
      </p:sp>
      <p:sp>
        <p:nvSpPr>
          <p:cNvPr id="355" name="Google Shape;355;p19"/>
          <p:cNvSpPr/>
          <p:nvPr/>
        </p:nvSpPr>
        <p:spPr>
          <a:xfrm>
            <a:off x="8522851" y="6130647"/>
            <a:ext cx="1242298" cy="998220"/>
          </a:xfrm>
          <a:prstGeom prst="rect">
            <a:avLst/>
          </a:prstGeom>
          <a:noFill/>
          <a:ln>
            <a:noFill/>
          </a:ln>
        </p:spPr>
        <p:txBody>
          <a:bodyPr anchorCtr="0" anchor="t" bIns="25400" lIns="25400" spcFirstLastPara="1" rIns="25400" wrap="square" tIns="25400">
            <a:normAutofit/>
          </a:bodyPr>
          <a:lstStyle/>
          <a:p>
            <a:pPr indent="0" lvl="0" marL="0" marR="0" rtl="0" algn="ctr">
              <a:lnSpc>
                <a:spcPct val="140000"/>
              </a:lnSpc>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ONLY USEFUL, COMPRESSED CLIPS</a:t>
            </a:r>
            <a:endParaRPr sz="1350">
              <a:solidFill>
                <a:schemeClr val="dk1"/>
              </a:solidFill>
              <a:latin typeface="Calibri"/>
              <a:ea typeface="Calibri"/>
              <a:cs typeface="Calibri"/>
              <a:sym typeface="Calibri"/>
            </a:endParaRPr>
          </a:p>
        </p:txBody>
      </p:sp>
      <p:sp>
        <p:nvSpPr>
          <p:cNvPr id="356" name="Google Shape;356;p19"/>
          <p:cNvSpPr/>
          <p:nvPr/>
        </p:nvSpPr>
        <p:spPr>
          <a:xfrm>
            <a:off x="9006721" y="7224117"/>
            <a:ext cx="350639" cy="5562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3600"/>
              <a:buFont typeface="Courier New"/>
              <a:buNone/>
            </a:pPr>
            <a:r>
              <a:rPr lang="en-US" sz="3600">
                <a:solidFill>
                  <a:srgbClr val="DF4823"/>
                </a:solidFill>
                <a:latin typeface="Courier New"/>
                <a:ea typeface="Courier New"/>
                <a:cs typeface="Courier New"/>
                <a:sym typeface="Courier New"/>
              </a:rPr>
              <a:t>→</a:t>
            </a:r>
            <a:endParaRPr sz="3600">
              <a:solidFill>
                <a:schemeClr val="dk1"/>
              </a:solidFill>
              <a:latin typeface="Calibri"/>
              <a:ea typeface="Calibri"/>
              <a:cs typeface="Calibri"/>
              <a:sym typeface="Calibri"/>
            </a:endParaRPr>
          </a:p>
        </p:txBody>
      </p:sp>
      <p:sp>
        <p:nvSpPr>
          <p:cNvPr id="357" name="Google Shape;357;p19"/>
          <p:cNvSpPr/>
          <p:nvPr/>
        </p:nvSpPr>
        <p:spPr>
          <a:xfrm>
            <a:off x="9848850" y="4728924"/>
            <a:ext cx="7105650" cy="4415076"/>
          </a:xfrm>
          <a:prstGeom prst="roundRect">
            <a:avLst>
              <a:gd fmla="val 863"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9"/>
          <p:cNvSpPr/>
          <p:nvPr/>
        </p:nvSpPr>
        <p:spPr>
          <a:xfrm>
            <a:off x="10313670" y="5155645"/>
            <a:ext cx="6361291"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CLOUD / STORAGE</a:t>
            </a:r>
            <a:endParaRPr sz="1350">
              <a:solidFill>
                <a:schemeClr val="dk1"/>
              </a:solidFill>
              <a:latin typeface="Calibri"/>
              <a:ea typeface="Calibri"/>
              <a:cs typeface="Calibri"/>
              <a:sym typeface="Calibri"/>
            </a:endParaRPr>
          </a:p>
        </p:txBody>
      </p:sp>
      <p:sp>
        <p:nvSpPr>
          <p:cNvPr id="359" name="Google Shape;359;p19"/>
          <p:cNvSpPr/>
          <p:nvPr/>
        </p:nvSpPr>
        <p:spPr>
          <a:xfrm>
            <a:off x="10313670" y="5506164"/>
            <a:ext cx="6361291"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1A1820"/>
              </a:buClr>
              <a:buSzPts val="3000"/>
              <a:buFont typeface="Arial"/>
              <a:buNone/>
            </a:pPr>
            <a:r>
              <a:rPr lang="en-US" sz="3000">
                <a:solidFill>
                  <a:srgbClr val="1A1820"/>
                </a:solidFill>
                <a:latin typeface="Arial"/>
                <a:ea typeface="Arial"/>
                <a:cs typeface="Arial"/>
                <a:sym typeface="Arial"/>
              </a:rPr>
              <a:t>Compressed events only</a:t>
            </a:r>
            <a:endParaRPr sz="3000">
              <a:solidFill>
                <a:schemeClr val="dk1"/>
              </a:solidFill>
              <a:latin typeface="Calibri"/>
              <a:ea typeface="Calibri"/>
              <a:cs typeface="Calibri"/>
              <a:sym typeface="Calibri"/>
            </a:endParaRPr>
          </a:p>
        </p:txBody>
      </p:sp>
      <p:sp>
        <p:nvSpPr>
          <p:cNvPr id="360" name="Google Shape;360;p19"/>
          <p:cNvSpPr/>
          <p:nvPr/>
        </p:nvSpPr>
        <p:spPr>
          <a:xfrm>
            <a:off x="10313670" y="6096714"/>
            <a:ext cx="6361291" cy="645795"/>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650"/>
              <a:buFont typeface="Arial"/>
              <a:buNone/>
            </a:pPr>
            <a:r>
              <a:rPr lang="en-US" sz="1650">
                <a:solidFill>
                  <a:srgbClr val="423F46"/>
                </a:solidFill>
                <a:latin typeface="Arial"/>
                <a:ea typeface="Arial"/>
                <a:cs typeface="Arial"/>
                <a:sym typeface="Arial"/>
              </a:rPr>
              <a:t>The cloud receives small, gated, perceptually-compressed clips. Less data, less risk, less power.</a:t>
            </a:r>
            <a:endParaRPr sz="1650">
              <a:solidFill>
                <a:schemeClr val="dk1"/>
              </a:solidFill>
              <a:latin typeface="Calibri"/>
              <a:ea typeface="Calibri"/>
              <a:cs typeface="Calibri"/>
              <a:sym typeface="Calibri"/>
            </a:endParaRPr>
          </a:p>
        </p:txBody>
      </p:sp>
      <p:sp>
        <p:nvSpPr>
          <p:cNvPr id="361" name="Google Shape;361;p19"/>
          <p:cNvSpPr/>
          <p:nvPr/>
        </p:nvSpPr>
        <p:spPr>
          <a:xfrm>
            <a:off x="10313670" y="8336280"/>
            <a:ext cx="1452563"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9"/>
          <p:cNvSpPr/>
          <p:nvPr/>
        </p:nvSpPr>
        <p:spPr>
          <a:xfrm>
            <a:off x="10454640" y="8420100"/>
            <a:ext cx="1246823"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−23% storage</a:t>
            </a:r>
            <a:endParaRPr sz="1200">
              <a:solidFill>
                <a:schemeClr val="dk1"/>
              </a:solidFill>
              <a:latin typeface="Calibri"/>
              <a:ea typeface="Calibri"/>
              <a:cs typeface="Calibri"/>
              <a:sym typeface="Calibri"/>
            </a:endParaRPr>
          </a:p>
        </p:txBody>
      </p:sp>
      <p:sp>
        <p:nvSpPr>
          <p:cNvPr id="363" name="Google Shape;363;p19"/>
          <p:cNvSpPr/>
          <p:nvPr/>
        </p:nvSpPr>
        <p:spPr>
          <a:xfrm>
            <a:off x="11865769" y="8336280"/>
            <a:ext cx="1842849"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9"/>
          <p:cNvSpPr/>
          <p:nvPr/>
        </p:nvSpPr>
        <p:spPr>
          <a:xfrm>
            <a:off x="12006739" y="8420100"/>
            <a:ext cx="1637109"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−60% record time</a:t>
            </a:r>
            <a:endParaRPr sz="1200">
              <a:solidFill>
                <a:schemeClr val="dk1"/>
              </a:solidFill>
              <a:latin typeface="Calibri"/>
              <a:ea typeface="Calibri"/>
              <a:cs typeface="Calibri"/>
              <a:sym typeface="Calibri"/>
            </a:endParaRPr>
          </a:p>
        </p:txBody>
      </p:sp>
      <p:sp>
        <p:nvSpPr>
          <p:cNvPr id="365" name="Google Shape;365;p19"/>
          <p:cNvSpPr/>
          <p:nvPr/>
        </p:nvSpPr>
        <p:spPr>
          <a:xfrm>
            <a:off x="13808155" y="8328660"/>
            <a:ext cx="664488" cy="35052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9"/>
          <p:cNvSpPr/>
          <p:nvPr/>
        </p:nvSpPr>
        <p:spPr>
          <a:xfrm>
            <a:off x="13949125" y="8412480"/>
            <a:ext cx="458748" cy="2209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−CO₂</a:t>
            </a:r>
            <a:endParaRPr sz="1200">
              <a:solidFill>
                <a:schemeClr val="dk1"/>
              </a:solidFill>
              <a:latin typeface="Calibri"/>
              <a:ea typeface="Calibri"/>
              <a:cs typeface="Calibri"/>
              <a:sym typeface="Calibri"/>
            </a:endParaRPr>
          </a:p>
        </p:txBody>
      </p:sp>
      <p:sp>
        <p:nvSpPr>
          <p:cNvPr id="367" name="Google Shape;367;p19"/>
          <p:cNvSpPr/>
          <p:nvPr/>
        </p:nvSpPr>
        <p:spPr>
          <a:xfrm>
            <a:off x="1333500" y="9540240"/>
            <a:ext cx="1056323"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DHAIRYA</a:t>
            </a:r>
            <a:endParaRPr sz="12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372" name="Shape 372"/>
        <p:cNvGrpSpPr/>
        <p:nvPr/>
      </p:nvGrpSpPr>
      <p:grpSpPr>
        <a:xfrm>
          <a:off x="0" y="0"/>
          <a:ext cx="0" cy="0"/>
          <a:chOff x="0" y="0"/>
          <a:chExt cx="0" cy="0"/>
        </a:xfrm>
      </p:grpSpPr>
      <p:sp>
        <p:nvSpPr>
          <p:cNvPr id="373" name="Google Shape;373;p20"/>
          <p:cNvSpPr/>
          <p:nvPr/>
        </p:nvSpPr>
        <p:spPr>
          <a:xfrm>
            <a:off x="1333500" y="623636"/>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248"/>
              <a:buFont typeface="Courier New"/>
              <a:buNone/>
            </a:pPr>
            <a:r>
              <a:rPr lang="en-US" sz="1249">
                <a:solidFill>
                  <a:srgbClr val="88837A"/>
                </a:solidFill>
                <a:latin typeface="Courier New"/>
                <a:ea typeface="Courier New"/>
                <a:cs typeface="Courier New"/>
                <a:sym typeface="Courier New"/>
              </a:rPr>
              <a:t>THE PHYSICAL PROTOTYPE</a:t>
            </a:r>
            <a:endParaRPr sz="1249">
              <a:solidFill>
                <a:schemeClr val="dk1"/>
              </a:solidFill>
              <a:latin typeface="Calibri"/>
              <a:ea typeface="Calibri"/>
              <a:cs typeface="Calibri"/>
              <a:sym typeface="Calibri"/>
            </a:endParaRPr>
          </a:p>
        </p:txBody>
      </p:sp>
      <p:sp>
        <p:nvSpPr>
          <p:cNvPr id="374" name="Google Shape;374;p20"/>
          <p:cNvSpPr/>
          <p:nvPr/>
        </p:nvSpPr>
        <p:spPr>
          <a:xfrm>
            <a:off x="1333500" y="1134578"/>
            <a:ext cx="16089630" cy="2336244"/>
          </a:xfrm>
          <a:prstGeom prst="rect">
            <a:avLst/>
          </a:prstGeom>
          <a:noFill/>
          <a:ln>
            <a:noFill/>
          </a:ln>
        </p:spPr>
        <p:txBody>
          <a:bodyPr anchorCtr="0" anchor="t" bIns="25400" lIns="25400" spcFirstLastPara="1" rIns="25400" wrap="square" tIns="25400">
            <a:normAutofit/>
          </a:bodyPr>
          <a:lstStyle/>
          <a:p>
            <a:pPr indent="0" lvl="0" marL="0" marR="0" rtl="0" algn="l">
              <a:lnSpc>
                <a:spcPct val="86000"/>
              </a:lnSpc>
              <a:spcBef>
                <a:spcPts val="0"/>
              </a:spcBef>
              <a:spcAft>
                <a:spcPts val="0"/>
              </a:spcAft>
              <a:buClr>
                <a:srgbClr val="1A1820"/>
              </a:buClr>
              <a:buSzPts val="8602"/>
              <a:buFont typeface="Georgia"/>
              <a:buNone/>
            </a:pPr>
            <a:r>
              <a:rPr lang="en-US" sz="8603">
                <a:solidFill>
                  <a:srgbClr val="1A1820"/>
                </a:solidFill>
                <a:latin typeface="Georgia"/>
                <a:ea typeface="Georgia"/>
                <a:cs typeface="Georgia"/>
                <a:sym typeface="Georgia"/>
              </a:rPr>
              <a:t xml:space="preserve">Under </a:t>
            </a:r>
            <a:r>
              <a:rPr i="1" lang="en-US" sz="8603">
                <a:solidFill>
                  <a:srgbClr val="DF4823"/>
                </a:solidFill>
                <a:latin typeface="Georgia"/>
                <a:ea typeface="Georgia"/>
                <a:cs typeface="Georgia"/>
                <a:sym typeface="Georgia"/>
              </a:rPr>
              <a:t xml:space="preserve">$100 </a:t>
            </a:r>
            <a:r>
              <a:rPr lang="en-US" sz="8603">
                <a:solidFill>
                  <a:srgbClr val="1A1820"/>
                </a:solidFill>
                <a:latin typeface="Georgia"/>
                <a:ea typeface="Georgia"/>
                <a:cs typeface="Georgia"/>
                <a:sym typeface="Georgia"/>
              </a:rPr>
              <a:t xml:space="preserve">in parts. Running live </a:t>
            </a:r>
            <a:r>
              <a:rPr i="1" lang="en-US" sz="8603">
                <a:solidFill>
                  <a:srgbClr val="1A1820"/>
                </a:solidFill>
                <a:latin typeface="Georgia"/>
                <a:ea typeface="Georgia"/>
                <a:cs typeface="Georgia"/>
                <a:sym typeface="Georgia"/>
              </a:rPr>
              <a:t>today.</a:t>
            </a:r>
            <a:endParaRPr sz="8603">
              <a:solidFill>
                <a:schemeClr val="dk1"/>
              </a:solidFill>
              <a:latin typeface="Calibri"/>
              <a:ea typeface="Calibri"/>
              <a:cs typeface="Calibri"/>
              <a:sym typeface="Calibri"/>
            </a:endParaRPr>
          </a:p>
        </p:txBody>
      </p:sp>
      <p:sp>
        <p:nvSpPr>
          <p:cNvPr id="375" name="Google Shape;375;p20"/>
          <p:cNvSpPr/>
          <p:nvPr/>
        </p:nvSpPr>
        <p:spPr>
          <a:xfrm>
            <a:off x="1328619" y="3582142"/>
            <a:ext cx="8049600" cy="5634000"/>
          </a:xfrm>
          <a:prstGeom prst="roundRect">
            <a:avLst>
              <a:gd fmla="val 676" name="adj"/>
            </a:avLst>
          </a:prstGeom>
          <a:solidFill>
            <a:srgbClr val="ECE6D7"/>
          </a:solidFill>
          <a:ln cap="flat" cmpd="sng" w="9525">
            <a:solidFill>
              <a:srgbClr val="88837A"/>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20"/>
          <p:cNvSpPr/>
          <p:nvPr/>
        </p:nvSpPr>
        <p:spPr>
          <a:xfrm>
            <a:off x="4581763" y="6842842"/>
            <a:ext cx="1553100" cy="1677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88837A"/>
              </a:buClr>
              <a:buSzPts val="900"/>
              <a:buFont typeface="Courier New"/>
              <a:buNone/>
            </a:pPr>
            <a:r>
              <a:rPr lang="en-US" sz="900">
                <a:solidFill>
                  <a:srgbClr val="88837A"/>
                </a:solidFill>
                <a:latin typeface="Courier New"/>
                <a:ea typeface="Courier New"/>
                <a:cs typeface="Courier New"/>
                <a:sym typeface="Courier New"/>
              </a:rPr>
              <a:t>IMAGE PLACEHOLDER</a:t>
            </a:r>
            <a:endParaRPr sz="900">
              <a:solidFill>
                <a:schemeClr val="dk1"/>
              </a:solidFill>
              <a:latin typeface="Calibri"/>
              <a:ea typeface="Calibri"/>
              <a:cs typeface="Calibri"/>
              <a:sym typeface="Calibri"/>
            </a:endParaRPr>
          </a:p>
        </p:txBody>
      </p:sp>
      <p:sp>
        <p:nvSpPr>
          <p:cNvPr id="377" name="Google Shape;377;p20"/>
          <p:cNvSpPr/>
          <p:nvPr/>
        </p:nvSpPr>
        <p:spPr>
          <a:xfrm>
            <a:off x="2513171" y="7143832"/>
            <a:ext cx="5690100" cy="1041000"/>
          </a:xfrm>
          <a:prstGeom prst="rect">
            <a:avLst/>
          </a:prstGeom>
          <a:noFill/>
          <a:ln>
            <a:noFill/>
          </a:ln>
        </p:spPr>
        <p:txBody>
          <a:bodyPr anchorCtr="0" anchor="t" bIns="25400" lIns="25400" spcFirstLastPara="1" rIns="25400" wrap="square" tIns="25400">
            <a:normAutofit/>
          </a:bodyPr>
          <a:lstStyle/>
          <a:p>
            <a:pPr indent="0" lvl="0" marL="0" marR="0" rtl="0" algn="ctr">
              <a:lnSpc>
                <a:spcPct val="135000"/>
              </a:lnSpc>
              <a:spcBef>
                <a:spcPts val="0"/>
              </a:spcBef>
              <a:spcAft>
                <a:spcPts val="0"/>
              </a:spcAft>
              <a:buClr>
                <a:srgbClr val="1A1820"/>
              </a:buClr>
              <a:buSzPts val="1950"/>
              <a:buFont typeface="Georgia"/>
              <a:buNone/>
            </a:pPr>
            <a:r>
              <a:rPr i="1" lang="en-US" sz="1950">
                <a:solidFill>
                  <a:srgbClr val="1A1820"/>
                </a:solidFill>
                <a:latin typeface="Georgia"/>
                <a:ea typeface="Georgia"/>
                <a:cs typeface="Georgia"/>
                <a:sym typeface="Georgia"/>
              </a:rPr>
              <a:t>Photo of the actual prototype: Raspberry Pi 5 with a USB webcam plugged in, ideally on a desk with the saliency overlay visible on a small screen behind it.</a:t>
            </a:r>
            <a:endParaRPr sz="1950">
              <a:solidFill>
                <a:schemeClr val="dk1"/>
              </a:solidFill>
              <a:latin typeface="Calibri"/>
              <a:ea typeface="Calibri"/>
              <a:cs typeface="Calibri"/>
              <a:sym typeface="Calibri"/>
            </a:endParaRPr>
          </a:p>
        </p:txBody>
      </p:sp>
      <p:sp>
        <p:nvSpPr>
          <p:cNvPr id="378" name="Google Shape;378;p20"/>
          <p:cNvSpPr/>
          <p:nvPr/>
        </p:nvSpPr>
        <p:spPr>
          <a:xfrm>
            <a:off x="9954697" y="3594965"/>
            <a:ext cx="6999600" cy="1370700"/>
          </a:xfrm>
          <a:prstGeom prst="roundRect">
            <a:avLst>
              <a:gd fmla="val 2780"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20"/>
          <p:cNvSpPr/>
          <p:nvPr/>
        </p:nvSpPr>
        <p:spPr>
          <a:xfrm>
            <a:off x="10267116" y="3850235"/>
            <a:ext cx="6566100" cy="23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248"/>
              <a:buFont typeface="Courier New"/>
              <a:buNone/>
            </a:pPr>
            <a:r>
              <a:rPr lang="en-US" sz="1249">
                <a:solidFill>
                  <a:srgbClr val="88837A"/>
                </a:solidFill>
                <a:latin typeface="Courier New"/>
                <a:ea typeface="Courier New"/>
                <a:cs typeface="Courier New"/>
                <a:sym typeface="Courier New"/>
              </a:rPr>
              <a:t>COMPUTE</a:t>
            </a:r>
            <a:endParaRPr sz="1249">
              <a:solidFill>
                <a:schemeClr val="dk1"/>
              </a:solidFill>
              <a:latin typeface="Calibri"/>
              <a:ea typeface="Calibri"/>
              <a:cs typeface="Calibri"/>
              <a:sym typeface="Calibri"/>
            </a:endParaRPr>
          </a:p>
        </p:txBody>
      </p:sp>
      <p:sp>
        <p:nvSpPr>
          <p:cNvPr id="380" name="Google Shape;380;p20"/>
          <p:cNvSpPr/>
          <p:nvPr/>
        </p:nvSpPr>
        <p:spPr>
          <a:xfrm>
            <a:off x="10267116" y="4124555"/>
            <a:ext cx="6566100" cy="318000"/>
          </a:xfrm>
          <a:prstGeom prst="rect">
            <a:avLst/>
          </a:prstGeom>
          <a:noFill/>
          <a:ln>
            <a:noFill/>
          </a:ln>
        </p:spPr>
        <p:txBody>
          <a:bodyPr anchorCtr="0" anchor="t" bIns="25400" lIns="25400" spcFirstLastPara="1" rIns="25400" wrap="square" tIns="25400">
            <a:normAutofit/>
          </a:bodyPr>
          <a:lstStyle/>
          <a:p>
            <a:pPr indent="0" lvl="0" marL="0" marR="0" rtl="0" algn="l">
              <a:lnSpc>
                <a:spcPct val="85000"/>
              </a:lnSpc>
              <a:spcBef>
                <a:spcPts val="0"/>
              </a:spcBef>
              <a:spcAft>
                <a:spcPts val="0"/>
              </a:spcAft>
              <a:buClr>
                <a:srgbClr val="1A1820"/>
              </a:buClr>
              <a:buSzPts val="1942"/>
              <a:buFont typeface="Arial"/>
              <a:buNone/>
            </a:pPr>
            <a:r>
              <a:rPr lang="en-US" sz="1943">
                <a:solidFill>
                  <a:srgbClr val="1A1820"/>
                </a:solidFill>
                <a:latin typeface="Arial"/>
                <a:ea typeface="Arial"/>
                <a:cs typeface="Arial"/>
                <a:sym typeface="Arial"/>
              </a:rPr>
              <a:t>Raspberry Pi 5 · 8 GB</a:t>
            </a:r>
            <a:endParaRPr sz="1943">
              <a:solidFill>
                <a:schemeClr val="dk1"/>
              </a:solidFill>
              <a:latin typeface="Calibri"/>
              <a:ea typeface="Calibri"/>
              <a:cs typeface="Calibri"/>
              <a:sym typeface="Calibri"/>
            </a:endParaRPr>
          </a:p>
        </p:txBody>
      </p:sp>
      <p:sp>
        <p:nvSpPr>
          <p:cNvPr id="381" name="Google Shape;381;p20"/>
          <p:cNvSpPr/>
          <p:nvPr/>
        </p:nvSpPr>
        <p:spPr>
          <a:xfrm>
            <a:off x="10267116" y="4461740"/>
            <a:ext cx="6566100" cy="286800"/>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423F46"/>
              </a:buClr>
              <a:buSzPts val="1248"/>
              <a:buFont typeface="Arial"/>
              <a:buNone/>
            </a:pPr>
            <a:r>
              <a:rPr lang="en-US" sz="1249">
                <a:solidFill>
                  <a:srgbClr val="423F46"/>
                </a:solidFill>
                <a:latin typeface="Arial"/>
                <a:ea typeface="Arial"/>
                <a:cs typeface="Arial"/>
                <a:sym typeface="Arial"/>
              </a:rPr>
              <a:t>ARM Cortex-A76 quad-core. Runs all three stages in real time.</a:t>
            </a:r>
            <a:endParaRPr sz="1249">
              <a:solidFill>
                <a:schemeClr val="dk1"/>
              </a:solidFill>
              <a:latin typeface="Calibri"/>
              <a:ea typeface="Calibri"/>
              <a:cs typeface="Calibri"/>
              <a:sym typeface="Calibri"/>
            </a:endParaRPr>
          </a:p>
        </p:txBody>
      </p:sp>
      <p:sp>
        <p:nvSpPr>
          <p:cNvPr id="382" name="Google Shape;382;p20"/>
          <p:cNvSpPr/>
          <p:nvPr/>
        </p:nvSpPr>
        <p:spPr>
          <a:xfrm>
            <a:off x="9954697" y="5118013"/>
            <a:ext cx="6999600" cy="1370700"/>
          </a:xfrm>
          <a:prstGeom prst="roundRect">
            <a:avLst>
              <a:gd fmla="val 2780"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20"/>
          <p:cNvSpPr/>
          <p:nvPr/>
        </p:nvSpPr>
        <p:spPr>
          <a:xfrm>
            <a:off x="10267116" y="5373283"/>
            <a:ext cx="6566100" cy="23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248"/>
              <a:buFont typeface="Courier New"/>
              <a:buNone/>
            </a:pPr>
            <a:r>
              <a:rPr lang="en-US" sz="1249">
                <a:solidFill>
                  <a:srgbClr val="88837A"/>
                </a:solidFill>
                <a:latin typeface="Courier New"/>
                <a:ea typeface="Courier New"/>
                <a:cs typeface="Courier New"/>
                <a:sym typeface="Courier New"/>
              </a:rPr>
              <a:t>SENSOR</a:t>
            </a:r>
            <a:endParaRPr sz="1249">
              <a:solidFill>
                <a:schemeClr val="dk1"/>
              </a:solidFill>
              <a:latin typeface="Calibri"/>
              <a:ea typeface="Calibri"/>
              <a:cs typeface="Calibri"/>
              <a:sym typeface="Calibri"/>
            </a:endParaRPr>
          </a:p>
        </p:txBody>
      </p:sp>
      <p:sp>
        <p:nvSpPr>
          <p:cNvPr id="384" name="Google Shape;384;p20"/>
          <p:cNvSpPr/>
          <p:nvPr/>
        </p:nvSpPr>
        <p:spPr>
          <a:xfrm>
            <a:off x="10267116" y="5647603"/>
            <a:ext cx="6566100" cy="318000"/>
          </a:xfrm>
          <a:prstGeom prst="rect">
            <a:avLst/>
          </a:prstGeom>
          <a:noFill/>
          <a:ln>
            <a:noFill/>
          </a:ln>
        </p:spPr>
        <p:txBody>
          <a:bodyPr anchorCtr="0" anchor="t" bIns="25400" lIns="25400" spcFirstLastPara="1" rIns="25400" wrap="square" tIns="25400">
            <a:normAutofit/>
          </a:bodyPr>
          <a:lstStyle/>
          <a:p>
            <a:pPr indent="0" lvl="0" marL="0" marR="0" rtl="0" algn="l">
              <a:lnSpc>
                <a:spcPct val="85000"/>
              </a:lnSpc>
              <a:spcBef>
                <a:spcPts val="0"/>
              </a:spcBef>
              <a:spcAft>
                <a:spcPts val="0"/>
              </a:spcAft>
              <a:buClr>
                <a:srgbClr val="1A1820"/>
              </a:buClr>
              <a:buSzPts val="1942"/>
              <a:buFont typeface="Arial"/>
              <a:buNone/>
            </a:pPr>
            <a:r>
              <a:rPr lang="en-US" sz="1943">
                <a:solidFill>
                  <a:srgbClr val="1A1820"/>
                </a:solidFill>
                <a:latin typeface="Arial"/>
                <a:ea typeface="Arial"/>
                <a:cs typeface="Arial"/>
                <a:sym typeface="Arial"/>
              </a:rPr>
              <a:t>Standard USB webcam</a:t>
            </a:r>
            <a:endParaRPr sz="1943">
              <a:solidFill>
                <a:schemeClr val="dk1"/>
              </a:solidFill>
              <a:latin typeface="Calibri"/>
              <a:ea typeface="Calibri"/>
              <a:cs typeface="Calibri"/>
              <a:sym typeface="Calibri"/>
            </a:endParaRPr>
          </a:p>
        </p:txBody>
      </p:sp>
      <p:sp>
        <p:nvSpPr>
          <p:cNvPr id="385" name="Google Shape;385;p20"/>
          <p:cNvSpPr/>
          <p:nvPr/>
        </p:nvSpPr>
        <p:spPr>
          <a:xfrm>
            <a:off x="10267116" y="5984788"/>
            <a:ext cx="6566100" cy="286800"/>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423F46"/>
              </a:buClr>
              <a:buSzPts val="1248"/>
              <a:buFont typeface="Arial"/>
              <a:buNone/>
            </a:pPr>
            <a:r>
              <a:rPr lang="en-US" sz="1249">
                <a:solidFill>
                  <a:srgbClr val="423F46"/>
                </a:solidFill>
                <a:latin typeface="Arial"/>
                <a:ea typeface="Arial"/>
                <a:cs typeface="Arial"/>
                <a:sym typeface="Arial"/>
              </a:rPr>
              <a:t>Any 1080p UVC camera. No specialised hardware required.</a:t>
            </a:r>
            <a:endParaRPr sz="1249">
              <a:solidFill>
                <a:schemeClr val="dk1"/>
              </a:solidFill>
              <a:latin typeface="Calibri"/>
              <a:ea typeface="Calibri"/>
              <a:cs typeface="Calibri"/>
              <a:sym typeface="Calibri"/>
            </a:endParaRPr>
          </a:p>
        </p:txBody>
      </p:sp>
      <p:sp>
        <p:nvSpPr>
          <p:cNvPr id="386" name="Google Shape;386;p20"/>
          <p:cNvSpPr/>
          <p:nvPr/>
        </p:nvSpPr>
        <p:spPr>
          <a:xfrm>
            <a:off x="9954697" y="6641060"/>
            <a:ext cx="6999600" cy="1370700"/>
          </a:xfrm>
          <a:prstGeom prst="roundRect">
            <a:avLst>
              <a:gd fmla="val 2780"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20"/>
          <p:cNvSpPr/>
          <p:nvPr/>
        </p:nvSpPr>
        <p:spPr>
          <a:xfrm>
            <a:off x="10267116" y="6896330"/>
            <a:ext cx="6566100" cy="23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248"/>
              <a:buFont typeface="Courier New"/>
              <a:buNone/>
            </a:pPr>
            <a:r>
              <a:rPr lang="en-US" sz="1249">
                <a:solidFill>
                  <a:srgbClr val="88837A"/>
                </a:solidFill>
                <a:latin typeface="Courier New"/>
                <a:ea typeface="Courier New"/>
                <a:cs typeface="Courier New"/>
                <a:sym typeface="Courier New"/>
              </a:rPr>
              <a:t>SOFTWARE</a:t>
            </a:r>
            <a:endParaRPr sz="1249">
              <a:solidFill>
                <a:schemeClr val="dk1"/>
              </a:solidFill>
              <a:latin typeface="Calibri"/>
              <a:ea typeface="Calibri"/>
              <a:cs typeface="Calibri"/>
              <a:sym typeface="Calibri"/>
            </a:endParaRPr>
          </a:p>
        </p:txBody>
      </p:sp>
      <p:sp>
        <p:nvSpPr>
          <p:cNvPr id="388" name="Google Shape;388;p20"/>
          <p:cNvSpPr/>
          <p:nvPr/>
        </p:nvSpPr>
        <p:spPr>
          <a:xfrm>
            <a:off x="10267116" y="7170651"/>
            <a:ext cx="6566100" cy="318000"/>
          </a:xfrm>
          <a:prstGeom prst="rect">
            <a:avLst/>
          </a:prstGeom>
          <a:noFill/>
          <a:ln>
            <a:noFill/>
          </a:ln>
        </p:spPr>
        <p:txBody>
          <a:bodyPr anchorCtr="0" anchor="t" bIns="25400" lIns="25400" spcFirstLastPara="1" rIns="25400" wrap="square" tIns="25400">
            <a:normAutofit/>
          </a:bodyPr>
          <a:lstStyle/>
          <a:p>
            <a:pPr indent="0" lvl="0" marL="0" marR="0" rtl="0" algn="l">
              <a:lnSpc>
                <a:spcPct val="85000"/>
              </a:lnSpc>
              <a:spcBef>
                <a:spcPts val="0"/>
              </a:spcBef>
              <a:spcAft>
                <a:spcPts val="0"/>
              </a:spcAft>
              <a:buClr>
                <a:srgbClr val="1A1820"/>
              </a:buClr>
              <a:buSzPts val="1942"/>
              <a:buFont typeface="Arial"/>
              <a:buNone/>
            </a:pPr>
            <a:r>
              <a:rPr lang="en-US" sz="1943">
                <a:solidFill>
                  <a:srgbClr val="1A1820"/>
                </a:solidFill>
                <a:latin typeface="Arial"/>
                <a:ea typeface="Arial"/>
                <a:cs typeface="Arial"/>
                <a:sym typeface="Arial"/>
              </a:rPr>
              <a:t>Python · OpenCV · ffmpeg</a:t>
            </a:r>
            <a:endParaRPr sz="1943">
              <a:solidFill>
                <a:schemeClr val="dk1"/>
              </a:solidFill>
              <a:latin typeface="Calibri"/>
              <a:ea typeface="Calibri"/>
              <a:cs typeface="Calibri"/>
              <a:sym typeface="Calibri"/>
            </a:endParaRPr>
          </a:p>
        </p:txBody>
      </p:sp>
      <p:sp>
        <p:nvSpPr>
          <p:cNvPr id="389" name="Google Shape;389;p20"/>
          <p:cNvSpPr/>
          <p:nvPr/>
        </p:nvSpPr>
        <p:spPr>
          <a:xfrm>
            <a:off x="10267116" y="7507835"/>
            <a:ext cx="6566100" cy="286800"/>
          </a:xfrm>
          <a:prstGeom prst="rect">
            <a:avLst/>
          </a:prstGeom>
          <a:noFill/>
          <a:ln>
            <a:noFill/>
          </a:ln>
        </p:spPr>
        <p:txBody>
          <a:bodyPr anchorCtr="0" anchor="t" bIns="25400" lIns="25400" spcFirstLastPara="1" rIns="25400" wrap="square" tIns="25400">
            <a:normAutofit/>
          </a:bodyPr>
          <a:lstStyle/>
          <a:p>
            <a:pPr indent="0" lvl="0" marL="0" marR="0" rtl="0" algn="l">
              <a:lnSpc>
                <a:spcPct val="135000"/>
              </a:lnSpc>
              <a:spcBef>
                <a:spcPts val="0"/>
              </a:spcBef>
              <a:spcAft>
                <a:spcPts val="0"/>
              </a:spcAft>
              <a:buClr>
                <a:srgbClr val="423F46"/>
              </a:buClr>
              <a:buSzPts val="1248"/>
              <a:buFont typeface="Arial"/>
              <a:buNone/>
            </a:pPr>
            <a:r>
              <a:rPr lang="en-US" sz="1249">
                <a:solidFill>
                  <a:srgbClr val="423F46"/>
                </a:solidFill>
                <a:latin typeface="Arial"/>
                <a:ea typeface="Arial"/>
                <a:cs typeface="Arial"/>
                <a:sym typeface="Arial"/>
              </a:rPr>
              <a:t>All open source. Whole pipeline in &lt; 600 lines of code.</a:t>
            </a:r>
            <a:endParaRPr sz="1249">
              <a:solidFill>
                <a:schemeClr val="dk1"/>
              </a:solidFill>
              <a:latin typeface="Calibri"/>
              <a:ea typeface="Calibri"/>
              <a:cs typeface="Calibri"/>
              <a:sym typeface="Calibri"/>
            </a:endParaRPr>
          </a:p>
        </p:txBody>
      </p:sp>
      <p:sp>
        <p:nvSpPr>
          <p:cNvPr id="390" name="Google Shape;390;p20"/>
          <p:cNvSpPr/>
          <p:nvPr/>
        </p:nvSpPr>
        <p:spPr>
          <a:xfrm>
            <a:off x="9954697" y="8164108"/>
            <a:ext cx="6999600" cy="1065000"/>
          </a:xfrm>
          <a:prstGeom prst="roundRect">
            <a:avLst>
              <a:gd fmla="val 3578" name="adj"/>
            </a:avLst>
          </a:prstGeom>
          <a:solidFill>
            <a:srgbClr val="1A1820"/>
          </a:solid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20"/>
          <p:cNvSpPr/>
          <p:nvPr/>
        </p:nvSpPr>
        <p:spPr>
          <a:xfrm>
            <a:off x="10267116" y="8419378"/>
            <a:ext cx="6566100" cy="23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248"/>
              <a:buFont typeface="Courier New"/>
              <a:buNone/>
            </a:pPr>
            <a:r>
              <a:rPr lang="en-US" sz="1249">
                <a:solidFill>
                  <a:srgbClr val="DF4823"/>
                </a:solidFill>
                <a:latin typeface="Courier New"/>
                <a:ea typeface="Courier New"/>
                <a:cs typeface="Courier New"/>
                <a:sym typeface="Courier New"/>
              </a:rPr>
              <a:t>BILL OF MATERIALS</a:t>
            </a:r>
            <a:endParaRPr sz="1249">
              <a:solidFill>
                <a:schemeClr val="dk1"/>
              </a:solidFill>
              <a:latin typeface="Calibri"/>
              <a:ea typeface="Calibri"/>
              <a:cs typeface="Calibri"/>
              <a:sym typeface="Calibri"/>
            </a:endParaRPr>
          </a:p>
        </p:txBody>
      </p:sp>
      <p:sp>
        <p:nvSpPr>
          <p:cNvPr id="392" name="Google Shape;392;p20"/>
          <p:cNvSpPr/>
          <p:nvPr/>
        </p:nvSpPr>
        <p:spPr>
          <a:xfrm>
            <a:off x="10267116" y="8693698"/>
            <a:ext cx="6566100" cy="318000"/>
          </a:xfrm>
          <a:prstGeom prst="rect">
            <a:avLst/>
          </a:prstGeom>
          <a:noFill/>
          <a:ln>
            <a:noFill/>
          </a:ln>
        </p:spPr>
        <p:txBody>
          <a:bodyPr anchorCtr="0" anchor="t" bIns="25400" lIns="25400" spcFirstLastPara="1" rIns="25400" wrap="square" tIns="25400">
            <a:normAutofit/>
          </a:bodyPr>
          <a:lstStyle/>
          <a:p>
            <a:pPr indent="0" lvl="0" marL="0" marR="0" rtl="0" algn="l">
              <a:lnSpc>
                <a:spcPct val="85000"/>
              </a:lnSpc>
              <a:spcBef>
                <a:spcPts val="0"/>
              </a:spcBef>
              <a:spcAft>
                <a:spcPts val="0"/>
              </a:spcAft>
              <a:buClr>
                <a:srgbClr val="F4F0E6"/>
              </a:buClr>
              <a:buSzPts val="1942"/>
              <a:buFont typeface="Arial"/>
              <a:buNone/>
            </a:pPr>
            <a:r>
              <a:rPr lang="en-US" sz="1943">
                <a:solidFill>
                  <a:srgbClr val="F4F0E6"/>
                </a:solidFill>
                <a:latin typeface="Arial"/>
                <a:ea typeface="Arial"/>
                <a:cs typeface="Arial"/>
                <a:sym typeface="Arial"/>
              </a:rPr>
              <a:t>≈ $95 total · scalable to mass production</a:t>
            </a:r>
            <a:endParaRPr sz="1943">
              <a:solidFill>
                <a:schemeClr val="dk1"/>
              </a:solidFill>
              <a:latin typeface="Calibri"/>
              <a:ea typeface="Calibri"/>
              <a:cs typeface="Calibri"/>
              <a:sym typeface="Calibri"/>
            </a:endParaRPr>
          </a:p>
        </p:txBody>
      </p:sp>
      <p:sp>
        <p:nvSpPr>
          <p:cNvPr id="393" name="Google Shape;393;p20"/>
          <p:cNvSpPr/>
          <p:nvPr/>
        </p:nvSpPr>
        <p:spPr>
          <a:xfrm>
            <a:off x="1333500" y="9540240"/>
            <a:ext cx="2296954"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DHAIRYA → AAMIRALI</a:t>
            </a:r>
            <a:endParaRPr sz="1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398" name="Shape 398"/>
        <p:cNvGrpSpPr/>
        <p:nvPr/>
      </p:nvGrpSpPr>
      <p:grpSpPr>
        <a:xfrm>
          <a:off x="0" y="0"/>
          <a:ext cx="0" cy="0"/>
          <a:chOff x="0" y="0"/>
          <a:chExt cx="0" cy="0"/>
        </a:xfrm>
      </p:grpSpPr>
      <p:sp>
        <p:nvSpPr>
          <p:cNvPr id="399" name="Google Shape;399;p21"/>
          <p:cNvSpPr/>
          <p:nvPr/>
        </p:nvSpPr>
        <p:spPr>
          <a:xfrm>
            <a:off x="1333500" y="3665934"/>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F0E6"/>
              </a:buClr>
              <a:buSzPts val="1248"/>
              <a:buFont typeface="Courier New"/>
              <a:buNone/>
            </a:pPr>
            <a:r>
              <a:rPr lang="en-US" sz="1249">
                <a:solidFill>
                  <a:srgbClr val="F4F0E6"/>
                </a:solidFill>
                <a:latin typeface="Courier New"/>
                <a:ea typeface="Courier New"/>
                <a:cs typeface="Courier New"/>
                <a:sym typeface="Courier New"/>
              </a:rPr>
              <a:t>PART IV</a:t>
            </a:r>
            <a:endParaRPr sz="1249">
              <a:solidFill>
                <a:schemeClr val="dk1"/>
              </a:solidFill>
              <a:latin typeface="Calibri"/>
              <a:ea typeface="Calibri"/>
              <a:cs typeface="Calibri"/>
              <a:sym typeface="Calibri"/>
            </a:endParaRPr>
          </a:p>
        </p:txBody>
      </p:sp>
      <p:sp>
        <p:nvSpPr>
          <p:cNvPr id="400" name="Google Shape;400;p21"/>
          <p:cNvSpPr/>
          <p:nvPr/>
        </p:nvSpPr>
        <p:spPr>
          <a:xfrm>
            <a:off x="1333500" y="4245055"/>
            <a:ext cx="14716125" cy="1187172"/>
          </a:xfrm>
          <a:prstGeom prst="rect">
            <a:avLst/>
          </a:prstGeom>
          <a:noFill/>
          <a:ln>
            <a:noFill/>
          </a:ln>
        </p:spPr>
        <p:txBody>
          <a:bodyPr anchorCtr="0" anchor="t" bIns="25400" lIns="25400" spcFirstLastPara="1" rIns="25400" wrap="square" tIns="25400">
            <a:normAutofit/>
          </a:bodyPr>
          <a:lstStyle/>
          <a:p>
            <a:pPr indent="0" lvl="0" marL="0" marR="0" rtl="0" algn="l">
              <a:lnSpc>
                <a:spcPct val="86000"/>
              </a:lnSpc>
              <a:spcBef>
                <a:spcPts val="0"/>
              </a:spcBef>
              <a:spcAft>
                <a:spcPts val="0"/>
              </a:spcAft>
              <a:buClr>
                <a:srgbClr val="FF0000"/>
              </a:buClr>
              <a:buSzPts val="8602"/>
              <a:buFont typeface="Georgia"/>
              <a:buNone/>
            </a:pPr>
            <a:r>
              <a:rPr lang="en-US" sz="8603">
                <a:solidFill>
                  <a:srgbClr val="FF0000"/>
                </a:solidFill>
                <a:latin typeface="Georgia"/>
                <a:ea typeface="Georgia"/>
                <a:cs typeface="Georgia"/>
                <a:sym typeface="Georgia"/>
              </a:rPr>
              <a:t xml:space="preserve">Does it </a:t>
            </a:r>
            <a:r>
              <a:rPr i="1" lang="en-US" sz="8603">
                <a:solidFill>
                  <a:srgbClr val="DF4823"/>
                </a:solidFill>
                <a:latin typeface="Georgia"/>
                <a:ea typeface="Georgia"/>
                <a:cs typeface="Georgia"/>
                <a:sym typeface="Georgia"/>
              </a:rPr>
              <a:t>actually work?</a:t>
            </a:r>
            <a:endParaRPr sz="8603">
              <a:solidFill>
                <a:schemeClr val="dk1"/>
              </a:solidFill>
              <a:latin typeface="Calibri"/>
              <a:ea typeface="Calibri"/>
              <a:cs typeface="Calibri"/>
              <a:sym typeface="Calibri"/>
            </a:endParaRPr>
          </a:p>
        </p:txBody>
      </p:sp>
      <p:sp>
        <p:nvSpPr>
          <p:cNvPr id="401" name="Google Shape;401;p21"/>
          <p:cNvSpPr/>
          <p:nvPr/>
        </p:nvSpPr>
        <p:spPr>
          <a:xfrm>
            <a:off x="1333500" y="5870377"/>
            <a:ext cx="10791825" cy="979170"/>
          </a:xfrm>
          <a:prstGeom prst="rect">
            <a:avLst/>
          </a:prstGeom>
          <a:noFill/>
          <a:ln>
            <a:noFill/>
          </a:ln>
        </p:spPr>
        <p:txBody>
          <a:bodyPr anchorCtr="0" anchor="t" bIns="25400" lIns="25400" spcFirstLastPara="1" rIns="25400" wrap="square" tIns="25400">
            <a:normAutofit/>
          </a:bodyPr>
          <a:lstStyle/>
          <a:p>
            <a:pPr indent="0" lvl="0" marL="0" marR="0" rtl="0" algn="l">
              <a:lnSpc>
                <a:spcPct val="120000"/>
              </a:lnSpc>
              <a:spcBef>
                <a:spcPts val="0"/>
              </a:spcBef>
              <a:spcAft>
                <a:spcPts val="0"/>
              </a:spcAft>
              <a:buClr>
                <a:schemeClr val="dk1"/>
              </a:buClr>
              <a:buSzPts val="2636"/>
              <a:buFont typeface="Arial"/>
              <a:buNone/>
            </a:pPr>
            <a:r>
              <a:rPr lang="en-US" sz="2636">
                <a:solidFill>
                  <a:schemeClr val="dk1"/>
                </a:solidFill>
                <a:latin typeface="Arial"/>
                <a:ea typeface="Arial"/>
                <a:cs typeface="Arial"/>
                <a:sym typeface="Arial"/>
              </a:rPr>
              <a:t>Tested on real CCTV footage — twenty clips, one hundred and fifty seconds total. Two findings stand out.</a:t>
            </a:r>
            <a:endParaRPr sz="2636">
              <a:solidFill>
                <a:schemeClr val="dk1"/>
              </a:solidFill>
              <a:latin typeface="Calibri"/>
              <a:ea typeface="Calibri"/>
              <a:cs typeface="Calibri"/>
              <a:sym typeface="Calibri"/>
            </a:endParaRPr>
          </a:p>
        </p:txBody>
      </p:sp>
      <p:sp>
        <p:nvSpPr>
          <p:cNvPr id="402" name="Google Shape;402;p21"/>
          <p:cNvSpPr/>
          <p:nvPr/>
        </p:nvSpPr>
        <p:spPr>
          <a:xfrm>
            <a:off x="1333500" y="9540240"/>
            <a:ext cx="1169075"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4F0E6"/>
              </a:buClr>
              <a:buSzPts val="1200"/>
              <a:buFont typeface="Courier New"/>
              <a:buNone/>
            </a:pPr>
            <a:r>
              <a:rPr lang="en-US" sz="1200">
                <a:solidFill>
                  <a:srgbClr val="F4F0E6"/>
                </a:solidFill>
                <a:latin typeface="Courier New"/>
                <a:ea typeface="Courier New"/>
                <a:cs typeface="Courier New"/>
                <a:sym typeface="Courier New"/>
              </a:rPr>
              <a:t>AAMIRALI</a:t>
            </a:r>
            <a:endParaRPr sz="1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407" name="Shape 407"/>
        <p:cNvGrpSpPr/>
        <p:nvPr/>
      </p:nvGrpSpPr>
      <p:grpSpPr>
        <a:xfrm>
          <a:off x="0" y="0"/>
          <a:ext cx="0" cy="0"/>
          <a:chOff x="0" y="0"/>
          <a:chExt cx="0" cy="0"/>
        </a:xfrm>
      </p:grpSpPr>
      <p:sp>
        <p:nvSpPr>
          <p:cNvPr id="408" name="Google Shape;408;p22"/>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FINDING 01 · WHAT IT LOOKS LIKE</a:t>
            </a:r>
            <a:endParaRPr sz="1350">
              <a:solidFill>
                <a:schemeClr val="dk1"/>
              </a:solidFill>
              <a:latin typeface="Calibri"/>
              <a:ea typeface="Calibri"/>
              <a:cs typeface="Calibri"/>
              <a:sym typeface="Calibri"/>
            </a:endParaRPr>
          </a:p>
        </p:txBody>
      </p:sp>
      <p:sp>
        <p:nvSpPr>
          <p:cNvPr id="409" name="Google Shape;409;p22"/>
          <p:cNvSpPr/>
          <p:nvPr/>
        </p:nvSpPr>
        <p:spPr>
          <a:xfrm>
            <a:off x="1333500" y="1722120"/>
            <a:ext cx="15697200" cy="1654969"/>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6600"/>
              <a:buFont typeface="Georgia"/>
              <a:buNone/>
            </a:pPr>
            <a:r>
              <a:rPr lang="en-US" sz="6600">
                <a:solidFill>
                  <a:srgbClr val="1A1820"/>
                </a:solidFill>
                <a:latin typeface="Georgia"/>
                <a:ea typeface="Georgia"/>
                <a:cs typeface="Georgia"/>
                <a:sym typeface="Georgia"/>
              </a:rPr>
              <a:t xml:space="preserve">The people stay sharp. The bricks behind them </a:t>
            </a:r>
            <a:r>
              <a:rPr i="1" lang="en-US" sz="6600">
                <a:solidFill>
                  <a:srgbClr val="1A1820"/>
                </a:solidFill>
                <a:latin typeface="Georgia"/>
                <a:ea typeface="Georgia"/>
                <a:cs typeface="Georgia"/>
                <a:sym typeface="Georgia"/>
              </a:rPr>
              <a:t>cost almost nothing.</a:t>
            </a:r>
            <a:endParaRPr sz="6600">
              <a:solidFill>
                <a:schemeClr val="dk1"/>
              </a:solidFill>
              <a:latin typeface="Calibri"/>
              <a:ea typeface="Calibri"/>
              <a:cs typeface="Calibri"/>
              <a:sym typeface="Calibri"/>
            </a:endParaRPr>
          </a:p>
        </p:txBody>
      </p:sp>
      <p:sp>
        <p:nvSpPr>
          <p:cNvPr id="410" name="Google Shape;410;p22"/>
          <p:cNvSpPr/>
          <p:nvPr/>
        </p:nvSpPr>
        <p:spPr>
          <a:xfrm>
            <a:off x="1333500" y="3719989"/>
            <a:ext cx="15621000" cy="5119211"/>
          </a:xfrm>
          <a:prstGeom prst="roundRect">
            <a:avLst>
              <a:gd fmla="val 744" name="adj"/>
            </a:avLst>
          </a:prstGeom>
          <a:solidFill>
            <a:srgbClr val="F4F0E6"/>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22"/>
          <p:cNvSpPr/>
          <p:nvPr/>
        </p:nvSpPr>
        <p:spPr>
          <a:xfrm>
            <a:off x="1333500" y="8991600"/>
            <a:ext cx="3845814"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1 · ORIGINAL</a:t>
            </a:r>
            <a:endParaRPr sz="1050">
              <a:solidFill>
                <a:schemeClr val="dk1"/>
              </a:solidFill>
              <a:latin typeface="Calibri"/>
              <a:ea typeface="Calibri"/>
              <a:cs typeface="Calibri"/>
              <a:sym typeface="Calibri"/>
            </a:endParaRPr>
          </a:p>
        </p:txBody>
      </p:sp>
      <p:sp>
        <p:nvSpPr>
          <p:cNvPr id="412" name="Google Shape;412;p22"/>
          <p:cNvSpPr/>
          <p:nvPr/>
        </p:nvSpPr>
        <p:spPr>
          <a:xfrm>
            <a:off x="5295900" y="8991600"/>
            <a:ext cx="3845814"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2 · SALIENCY OVERLAY</a:t>
            </a:r>
            <a:endParaRPr sz="1050">
              <a:solidFill>
                <a:schemeClr val="dk1"/>
              </a:solidFill>
              <a:latin typeface="Calibri"/>
              <a:ea typeface="Calibri"/>
              <a:cs typeface="Calibri"/>
              <a:sym typeface="Calibri"/>
            </a:endParaRPr>
          </a:p>
        </p:txBody>
      </p:sp>
      <p:sp>
        <p:nvSpPr>
          <p:cNvPr id="413" name="Google Shape;413;p22"/>
          <p:cNvSpPr/>
          <p:nvPr/>
        </p:nvSpPr>
        <p:spPr>
          <a:xfrm>
            <a:off x="9258300" y="8991600"/>
            <a:ext cx="3845814"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3 · BASELINE H.265 · 3.1 MB</a:t>
            </a:r>
            <a:endParaRPr sz="1050">
              <a:solidFill>
                <a:schemeClr val="dk1"/>
              </a:solidFill>
              <a:latin typeface="Calibri"/>
              <a:ea typeface="Calibri"/>
              <a:cs typeface="Calibri"/>
              <a:sym typeface="Calibri"/>
            </a:endParaRPr>
          </a:p>
        </p:txBody>
      </p:sp>
      <p:sp>
        <p:nvSpPr>
          <p:cNvPr id="414" name="Google Shape;414;p22"/>
          <p:cNvSpPr/>
          <p:nvPr/>
        </p:nvSpPr>
        <p:spPr>
          <a:xfrm>
            <a:off x="13220700" y="8991600"/>
            <a:ext cx="3845814"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050"/>
              <a:buFont typeface="Courier New"/>
              <a:buNone/>
            </a:pPr>
            <a:r>
              <a:rPr lang="en-US" sz="1050">
                <a:solidFill>
                  <a:srgbClr val="DF4823"/>
                </a:solidFill>
                <a:latin typeface="Courier New"/>
                <a:ea typeface="Courier New"/>
                <a:cs typeface="Courier New"/>
                <a:sym typeface="Courier New"/>
              </a:rPr>
              <a:t>4 · OURS · 1.7 MB · −47%</a:t>
            </a:r>
            <a:endParaRPr sz="1050">
              <a:solidFill>
                <a:schemeClr val="dk1"/>
              </a:solidFill>
              <a:latin typeface="Calibri"/>
              <a:ea typeface="Calibri"/>
              <a:cs typeface="Calibri"/>
              <a:sym typeface="Calibri"/>
            </a:endParaRPr>
          </a:p>
        </p:txBody>
      </p:sp>
      <p:sp>
        <p:nvSpPr>
          <p:cNvPr id="415" name="Google Shape;415;p22"/>
          <p:cNvSpPr/>
          <p:nvPr/>
        </p:nvSpPr>
        <p:spPr>
          <a:xfrm>
            <a:off x="1333500" y="9540240"/>
            <a:ext cx="1169075"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AAMIRALI</a:t>
            </a:r>
            <a:endParaRPr sz="1200">
              <a:solidFill>
                <a:schemeClr val="dk1"/>
              </a:solidFill>
              <a:latin typeface="Calibri"/>
              <a:ea typeface="Calibri"/>
              <a:cs typeface="Calibri"/>
              <a:sym typeface="Calibri"/>
            </a:endParaRPr>
          </a:p>
        </p:txBody>
      </p:sp>
      <p:pic>
        <p:nvPicPr>
          <p:cNvPr id="416" name="Google Shape;416;p22"/>
          <p:cNvPicPr preferRelativeResize="0"/>
          <p:nvPr/>
        </p:nvPicPr>
        <p:blipFill>
          <a:blip r:embed="rId4">
            <a:alphaModFix/>
          </a:blip>
          <a:stretch>
            <a:fillRect/>
          </a:stretch>
        </p:blipFill>
        <p:spPr>
          <a:xfrm>
            <a:off x="1295400" y="4926925"/>
            <a:ext cx="15697200" cy="223642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421" name="Shape 421"/>
        <p:cNvGrpSpPr/>
        <p:nvPr/>
      </p:nvGrpSpPr>
      <p:grpSpPr>
        <a:xfrm>
          <a:off x="0" y="0"/>
          <a:ext cx="0" cy="0"/>
          <a:chOff x="0" y="0"/>
          <a:chExt cx="0" cy="0"/>
        </a:xfrm>
      </p:grpSpPr>
      <p:sp>
        <p:nvSpPr>
          <p:cNvPr id="422" name="Google Shape;422;p23"/>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QUANTITATIVE RESULTS</a:t>
            </a:r>
            <a:endParaRPr sz="1350">
              <a:solidFill>
                <a:schemeClr val="dk1"/>
              </a:solidFill>
              <a:latin typeface="Calibri"/>
              <a:ea typeface="Calibri"/>
              <a:cs typeface="Calibri"/>
              <a:sym typeface="Calibri"/>
            </a:endParaRPr>
          </a:p>
        </p:txBody>
      </p:sp>
      <p:sp>
        <p:nvSpPr>
          <p:cNvPr id="423" name="Google Shape;423;p23"/>
          <p:cNvSpPr/>
          <p:nvPr/>
        </p:nvSpPr>
        <p:spPr>
          <a:xfrm>
            <a:off x="1333500" y="1722120"/>
            <a:ext cx="15697200" cy="232100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DF4823"/>
              </a:buClr>
              <a:buSzPts val="9300"/>
              <a:buFont typeface="Georgia"/>
              <a:buNone/>
            </a:pPr>
            <a:r>
              <a:rPr i="1" lang="en-US" sz="9300">
                <a:solidFill>
                  <a:srgbClr val="DF4823"/>
                </a:solidFill>
                <a:latin typeface="Georgia"/>
                <a:ea typeface="Georgia"/>
                <a:cs typeface="Georgia"/>
                <a:sym typeface="Georgia"/>
              </a:rPr>
              <a:t xml:space="preserve">17% </a:t>
            </a:r>
            <a:r>
              <a:rPr lang="en-US" sz="9300">
                <a:solidFill>
                  <a:srgbClr val="1A1820"/>
                </a:solidFill>
                <a:latin typeface="Georgia"/>
                <a:ea typeface="Georgia"/>
                <a:cs typeface="Georgia"/>
                <a:sym typeface="Georgia"/>
              </a:rPr>
              <a:t>smaller files. Subjects fully preserved.</a:t>
            </a:r>
            <a:endParaRPr sz="9300">
              <a:solidFill>
                <a:schemeClr val="dk1"/>
              </a:solidFill>
              <a:latin typeface="Calibri"/>
              <a:ea typeface="Calibri"/>
              <a:cs typeface="Calibri"/>
              <a:sym typeface="Calibri"/>
            </a:endParaRPr>
          </a:p>
        </p:txBody>
      </p:sp>
      <p:sp>
        <p:nvSpPr>
          <p:cNvPr id="424" name="Google Shape;424;p23"/>
          <p:cNvSpPr/>
          <p:nvPr/>
        </p:nvSpPr>
        <p:spPr>
          <a:xfrm>
            <a:off x="1333500" y="4991814"/>
            <a:ext cx="4053840" cy="9525"/>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3"/>
          <p:cNvSpPr/>
          <p:nvPr/>
        </p:nvSpPr>
        <p:spPr>
          <a:xfrm>
            <a:off x="1562100" y="4576524"/>
            <a:ext cx="3718255" cy="26289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CONFIG</a:t>
            </a:r>
            <a:endParaRPr sz="1350">
              <a:solidFill>
                <a:schemeClr val="dk1"/>
              </a:solidFill>
              <a:latin typeface="Calibri"/>
              <a:ea typeface="Calibri"/>
              <a:cs typeface="Calibri"/>
              <a:sym typeface="Calibri"/>
            </a:endParaRPr>
          </a:p>
        </p:txBody>
      </p:sp>
      <p:sp>
        <p:nvSpPr>
          <p:cNvPr id="426" name="Google Shape;426;p23"/>
          <p:cNvSpPr/>
          <p:nvPr/>
        </p:nvSpPr>
        <p:spPr>
          <a:xfrm>
            <a:off x="5387340" y="4991814"/>
            <a:ext cx="1305401" cy="9525"/>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23"/>
          <p:cNvSpPr/>
          <p:nvPr/>
        </p:nvSpPr>
        <p:spPr>
          <a:xfrm>
            <a:off x="5615940" y="4576524"/>
            <a:ext cx="924401" cy="26289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CRF</a:t>
            </a:r>
            <a:endParaRPr sz="1350">
              <a:solidFill>
                <a:schemeClr val="dk1"/>
              </a:solidFill>
              <a:latin typeface="Calibri"/>
              <a:ea typeface="Calibri"/>
              <a:cs typeface="Calibri"/>
              <a:sym typeface="Calibri"/>
            </a:endParaRPr>
          </a:p>
        </p:txBody>
      </p:sp>
      <p:sp>
        <p:nvSpPr>
          <p:cNvPr id="428" name="Google Shape;428;p23"/>
          <p:cNvSpPr/>
          <p:nvPr/>
        </p:nvSpPr>
        <p:spPr>
          <a:xfrm>
            <a:off x="6692741" y="4991814"/>
            <a:ext cx="1497092" cy="9525"/>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23"/>
          <p:cNvSpPr/>
          <p:nvPr/>
        </p:nvSpPr>
        <p:spPr>
          <a:xfrm>
            <a:off x="6921341" y="4576524"/>
            <a:ext cx="1116092" cy="26289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SSIM</a:t>
            </a:r>
            <a:endParaRPr sz="1350">
              <a:solidFill>
                <a:schemeClr val="dk1"/>
              </a:solidFill>
              <a:latin typeface="Calibri"/>
              <a:ea typeface="Calibri"/>
              <a:cs typeface="Calibri"/>
              <a:sym typeface="Calibri"/>
            </a:endParaRPr>
          </a:p>
        </p:txBody>
      </p:sp>
      <p:sp>
        <p:nvSpPr>
          <p:cNvPr id="430" name="Google Shape;430;p23"/>
          <p:cNvSpPr/>
          <p:nvPr/>
        </p:nvSpPr>
        <p:spPr>
          <a:xfrm>
            <a:off x="8189833" y="4991814"/>
            <a:ext cx="3815953" cy="9525"/>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23"/>
          <p:cNvSpPr/>
          <p:nvPr/>
        </p:nvSpPr>
        <p:spPr>
          <a:xfrm>
            <a:off x="8418433" y="4576524"/>
            <a:ext cx="3473232" cy="26289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SIZE (KB)</a:t>
            </a:r>
            <a:endParaRPr sz="1350">
              <a:solidFill>
                <a:schemeClr val="dk1"/>
              </a:solidFill>
              <a:latin typeface="Calibri"/>
              <a:ea typeface="Calibri"/>
              <a:cs typeface="Calibri"/>
              <a:sym typeface="Calibri"/>
            </a:endParaRPr>
          </a:p>
        </p:txBody>
      </p:sp>
      <p:sp>
        <p:nvSpPr>
          <p:cNvPr id="432" name="Google Shape;432;p23"/>
          <p:cNvSpPr/>
          <p:nvPr/>
        </p:nvSpPr>
        <p:spPr>
          <a:xfrm>
            <a:off x="12005787" y="4991814"/>
            <a:ext cx="1917502" cy="9525"/>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23"/>
          <p:cNvSpPr/>
          <p:nvPr/>
        </p:nvSpPr>
        <p:spPr>
          <a:xfrm>
            <a:off x="12234387" y="4576524"/>
            <a:ext cx="1536502" cy="26289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SAL-PSNR</a:t>
            </a:r>
            <a:endParaRPr sz="1350">
              <a:solidFill>
                <a:schemeClr val="dk1"/>
              </a:solidFill>
              <a:latin typeface="Calibri"/>
              <a:ea typeface="Calibri"/>
              <a:cs typeface="Calibri"/>
              <a:sym typeface="Calibri"/>
            </a:endParaRPr>
          </a:p>
        </p:txBody>
      </p:sp>
      <p:sp>
        <p:nvSpPr>
          <p:cNvPr id="434" name="Google Shape;434;p23"/>
          <p:cNvSpPr/>
          <p:nvPr/>
        </p:nvSpPr>
        <p:spPr>
          <a:xfrm>
            <a:off x="13923289" y="4991814"/>
            <a:ext cx="3031212" cy="9525"/>
          </a:xfrm>
          <a:prstGeom prst="rect">
            <a:avLst/>
          </a:prstGeom>
          <a:solidFill>
            <a:srgbClr val="1A182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23"/>
          <p:cNvSpPr/>
          <p:nvPr/>
        </p:nvSpPr>
        <p:spPr>
          <a:xfrm>
            <a:off x="14151889" y="4576524"/>
            <a:ext cx="2664949" cy="26289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SAVED</a:t>
            </a:r>
            <a:endParaRPr sz="1350">
              <a:solidFill>
                <a:schemeClr val="dk1"/>
              </a:solidFill>
              <a:latin typeface="Calibri"/>
              <a:ea typeface="Calibri"/>
              <a:cs typeface="Calibri"/>
              <a:sym typeface="Calibri"/>
            </a:endParaRPr>
          </a:p>
        </p:txBody>
      </p:sp>
      <p:sp>
        <p:nvSpPr>
          <p:cNvPr id="436" name="Google Shape;436;p23"/>
          <p:cNvSpPr/>
          <p:nvPr/>
        </p:nvSpPr>
        <p:spPr>
          <a:xfrm>
            <a:off x="1333500" y="5662374"/>
            <a:ext cx="405384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3"/>
          <p:cNvSpPr/>
          <p:nvPr/>
        </p:nvSpPr>
        <p:spPr>
          <a:xfrm>
            <a:off x="1562100" y="5189934"/>
            <a:ext cx="3718255"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baseline_h265</a:t>
            </a:r>
            <a:endParaRPr sz="1950">
              <a:solidFill>
                <a:schemeClr val="dk1"/>
              </a:solidFill>
              <a:latin typeface="Calibri"/>
              <a:ea typeface="Calibri"/>
              <a:cs typeface="Calibri"/>
              <a:sym typeface="Calibri"/>
            </a:endParaRPr>
          </a:p>
        </p:txBody>
      </p:sp>
      <p:sp>
        <p:nvSpPr>
          <p:cNvPr id="438" name="Google Shape;438;p23"/>
          <p:cNvSpPr/>
          <p:nvPr/>
        </p:nvSpPr>
        <p:spPr>
          <a:xfrm>
            <a:off x="5387340" y="5662374"/>
            <a:ext cx="1305401"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23"/>
          <p:cNvSpPr/>
          <p:nvPr/>
        </p:nvSpPr>
        <p:spPr>
          <a:xfrm>
            <a:off x="5615940" y="5189934"/>
            <a:ext cx="924401"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28</a:t>
            </a:r>
            <a:endParaRPr sz="1950">
              <a:solidFill>
                <a:schemeClr val="dk1"/>
              </a:solidFill>
              <a:latin typeface="Calibri"/>
              <a:ea typeface="Calibri"/>
              <a:cs typeface="Calibri"/>
              <a:sym typeface="Calibri"/>
            </a:endParaRPr>
          </a:p>
        </p:txBody>
      </p:sp>
      <p:sp>
        <p:nvSpPr>
          <p:cNvPr id="440" name="Google Shape;440;p23"/>
          <p:cNvSpPr/>
          <p:nvPr/>
        </p:nvSpPr>
        <p:spPr>
          <a:xfrm>
            <a:off x="6692741" y="5662374"/>
            <a:ext cx="149709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23"/>
          <p:cNvSpPr/>
          <p:nvPr/>
        </p:nvSpPr>
        <p:spPr>
          <a:xfrm>
            <a:off x="6921341" y="5189934"/>
            <a:ext cx="111609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a:t>
            </a:r>
            <a:endParaRPr sz="1950">
              <a:solidFill>
                <a:schemeClr val="dk1"/>
              </a:solidFill>
              <a:latin typeface="Calibri"/>
              <a:ea typeface="Calibri"/>
              <a:cs typeface="Calibri"/>
              <a:sym typeface="Calibri"/>
            </a:endParaRPr>
          </a:p>
        </p:txBody>
      </p:sp>
      <p:sp>
        <p:nvSpPr>
          <p:cNvPr id="442" name="Google Shape;442;p23"/>
          <p:cNvSpPr/>
          <p:nvPr/>
        </p:nvSpPr>
        <p:spPr>
          <a:xfrm>
            <a:off x="8189833" y="5662374"/>
            <a:ext cx="3815953"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23"/>
          <p:cNvSpPr/>
          <p:nvPr/>
        </p:nvSpPr>
        <p:spPr>
          <a:xfrm>
            <a:off x="8418433" y="5189934"/>
            <a:ext cx="347323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134.2</a:t>
            </a:r>
            <a:endParaRPr sz="1950">
              <a:solidFill>
                <a:schemeClr val="dk1"/>
              </a:solidFill>
              <a:latin typeface="Calibri"/>
              <a:ea typeface="Calibri"/>
              <a:cs typeface="Calibri"/>
              <a:sym typeface="Calibri"/>
            </a:endParaRPr>
          </a:p>
        </p:txBody>
      </p:sp>
      <p:sp>
        <p:nvSpPr>
          <p:cNvPr id="444" name="Google Shape;444;p23"/>
          <p:cNvSpPr/>
          <p:nvPr/>
        </p:nvSpPr>
        <p:spPr>
          <a:xfrm>
            <a:off x="12005787" y="5662374"/>
            <a:ext cx="191750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23"/>
          <p:cNvSpPr/>
          <p:nvPr/>
        </p:nvSpPr>
        <p:spPr>
          <a:xfrm>
            <a:off x="12234387" y="5189934"/>
            <a:ext cx="153650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36.00</a:t>
            </a:r>
            <a:endParaRPr sz="1950">
              <a:solidFill>
                <a:schemeClr val="dk1"/>
              </a:solidFill>
              <a:latin typeface="Calibri"/>
              <a:ea typeface="Calibri"/>
              <a:cs typeface="Calibri"/>
              <a:sym typeface="Calibri"/>
            </a:endParaRPr>
          </a:p>
        </p:txBody>
      </p:sp>
      <p:sp>
        <p:nvSpPr>
          <p:cNvPr id="446" name="Google Shape;446;p23"/>
          <p:cNvSpPr/>
          <p:nvPr/>
        </p:nvSpPr>
        <p:spPr>
          <a:xfrm>
            <a:off x="13923289" y="5662374"/>
            <a:ext cx="303121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23"/>
          <p:cNvSpPr/>
          <p:nvPr/>
        </p:nvSpPr>
        <p:spPr>
          <a:xfrm>
            <a:off x="14151889" y="5189934"/>
            <a:ext cx="2664949"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a:t>
            </a:r>
            <a:endParaRPr sz="1950">
              <a:solidFill>
                <a:schemeClr val="dk1"/>
              </a:solidFill>
              <a:latin typeface="Calibri"/>
              <a:ea typeface="Calibri"/>
              <a:cs typeface="Calibri"/>
              <a:sym typeface="Calibri"/>
            </a:endParaRPr>
          </a:p>
        </p:txBody>
      </p:sp>
      <p:sp>
        <p:nvSpPr>
          <p:cNvPr id="448" name="Google Shape;448;p23"/>
          <p:cNvSpPr/>
          <p:nvPr/>
        </p:nvSpPr>
        <p:spPr>
          <a:xfrm>
            <a:off x="1333500" y="6332935"/>
            <a:ext cx="405384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23"/>
          <p:cNvSpPr/>
          <p:nvPr/>
        </p:nvSpPr>
        <p:spPr>
          <a:xfrm>
            <a:off x="1562100" y="5860495"/>
            <a:ext cx="3718255"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baseline_h265</a:t>
            </a:r>
            <a:endParaRPr sz="1950">
              <a:solidFill>
                <a:schemeClr val="dk1"/>
              </a:solidFill>
              <a:latin typeface="Calibri"/>
              <a:ea typeface="Calibri"/>
              <a:cs typeface="Calibri"/>
              <a:sym typeface="Calibri"/>
            </a:endParaRPr>
          </a:p>
        </p:txBody>
      </p:sp>
      <p:sp>
        <p:nvSpPr>
          <p:cNvPr id="450" name="Google Shape;450;p23"/>
          <p:cNvSpPr/>
          <p:nvPr/>
        </p:nvSpPr>
        <p:spPr>
          <a:xfrm>
            <a:off x="5387340" y="6332935"/>
            <a:ext cx="1305401"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3"/>
          <p:cNvSpPr/>
          <p:nvPr/>
        </p:nvSpPr>
        <p:spPr>
          <a:xfrm>
            <a:off x="5615940" y="5860495"/>
            <a:ext cx="924401"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34</a:t>
            </a:r>
            <a:endParaRPr sz="1950">
              <a:solidFill>
                <a:schemeClr val="dk1"/>
              </a:solidFill>
              <a:latin typeface="Calibri"/>
              <a:ea typeface="Calibri"/>
              <a:cs typeface="Calibri"/>
              <a:sym typeface="Calibri"/>
            </a:endParaRPr>
          </a:p>
        </p:txBody>
      </p:sp>
      <p:sp>
        <p:nvSpPr>
          <p:cNvPr id="452" name="Google Shape;452;p23"/>
          <p:cNvSpPr/>
          <p:nvPr/>
        </p:nvSpPr>
        <p:spPr>
          <a:xfrm>
            <a:off x="6692741" y="6332935"/>
            <a:ext cx="149709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23"/>
          <p:cNvSpPr/>
          <p:nvPr/>
        </p:nvSpPr>
        <p:spPr>
          <a:xfrm>
            <a:off x="6921341" y="5860495"/>
            <a:ext cx="111609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a:t>
            </a:r>
            <a:endParaRPr sz="1950">
              <a:solidFill>
                <a:schemeClr val="dk1"/>
              </a:solidFill>
              <a:latin typeface="Calibri"/>
              <a:ea typeface="Calibri"/>
              <a:cs typeface="Calibri"/>
              <a:sym typeface="Calibri"/>
            </a:endParaRPr>
          </a:p>
        </p:txBody>
      </p:sp>
      <p:sp>
        <p:nvSpPr>
          <p:cNvPr id="454" name="Google Shape;454;p23"/>
          <p:cNvSpPr/>
          <p:nvPr/>
        </p:nvSpPr>
        <p:spPr>
          <a:xfrm>
            <a:off x="8189833" y="6332935"/>
            <a:ext cx="3815953"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23"/>
          <p:cNvSpPr/>
          <p:nvPr/>
        </p:nvSpPr>
        <p:spPr>
          <a:xfrm>
            <a:off x="8418433" y="5860495"/>
            <a:ext cx="347323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73.5</a:t>
            </a:r>
            <a:endParaRPr sz="1950">
              <a:solidFill>
                <a:schemeClr val="dk1"/>
              </a:solidFill>
              <a:latin typeface="Calibri"/>
              <a:ea typeface="Calibri"/>
              <a:cs typeface="Calibri"/>
              <a:sym typeface="Calibri"/>
            </a:endParaRPr>
          </a:p>
        </p:txBody>
      </p:sp>
      <p:sp>
        <p:nvSpPr>
          <p:cNvPr id="456" name="Google Shape;456;p23"/>
          <p:cNvSpPr/>
          <p:nvPr/>
        </p:nvSpPr>
        <p:spPr>
          <a:xfrm>
            <a:off x="12005787" y="6332935"/>
            <a:ext cx="191750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23"/>
          <p:cNvSpPr/>
          <p:nvPr/>
        </p:nvSpPr>
        <p:spPr>
          <a:xfrm>
            <a:off x="12234387" y="5860495"/>
            <a:ext cx="153650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32.37</a:t>
            </a:r>
            <a:endParaRPr sz="1950">
              <a:solidFill>
                <a:schemeClr val="dk1"/>
              </a:solidFill>
              <a:latin typeface="Calibri"/>
              <a:ea typeface="Calibri"/>
              <a:cs typeface="Calibri"/>
              <a:sym typeface="Calibri"/>
            </a:endParaRPr>
          </a:p>
        </p:txBody>
      </p:sp>
      <p:sp>
        <p:nvSpPr>
          <p:cNvPr id="458" name="Google Shape;458;p23"/>
          <p:cNvSpPr/>
          <p:nvPr/>
        </p:nvSpPr>
        <p:spPr>
          <a:xfrm>
            <a:off x="13923289" y="6332935"/>
            <a:ext cx="303121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23"/>
          <p:cNvSpPr/>
          <p:nvPr/>
        </p:nvSpPr>
        <p:spPr>
          <a:xfrm>
            <a:off x="14151889" y="5860495"/>
            <a:ext cx="2664949"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a:t>
            </a:r>
            <a:endParaRPr sz="1950">
              <a:solidFill>
                <a:schemeClr val="dk1"/>
              </a:solidFill>
              <a:latin typeface="Calibri"/>
              <a:ea typeface="Calibri"/>
              <a:cs typeface="Calibri"/>
              <a:sym typeface="Calibri"/>
            </a:endParaRPr>
          </a:p>
        </p:txBody>
      </p:sp>
      <p:sp>
        <p:nvSpPr>
          <p:cNvPr id="460" name="Google Shape;460;p23"/>
          <p:cNvSpPr/>
          <p:nvPr/>
        </p:nvSpPr>
        <p:spPr>
          <a:xfrm>
            <a:off x="1333500" y="7003494"/>
            <a:ext cx="405384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23"/>
          <p:cNvSpPr/>
          <p:nvPr/>
        </p:nvSpPr>
        <p:spPr>
          <a:xfrm>
            <a:off x="1562100" y="6531054"/>
            <a:ext cx="3718255"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ours_bgfg</a:t>
            </a:r>
            <a:endParaRPr sz="1950">
              <a:solidFill>
                <a:schemeClr val="dk1"/>
              </a:solidFill>
              <a:latin typeface="Calibri"/>
              <a:ea typeface="Calibri"/>
              <a:cs typeface="Calibri"/>
              <a:sym typeface="Calibri"/>
            </a:endParaRPr>
          </a:p>
        </p:txBody>
      </p:sp>
      <p:sp>
        <p:nvSpPr>
          <p:cNvPr id="462" name="Google Shape;462;p23"/>
          <p:cNvSpPr/>
          <p:nvPr/>
        </p:nvSpPr>
        <p:spPr>
          <a:xfrm>
            <a:off x="5387340" y="7003494"/>
            <a:ext cx="1305401"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23"/>
          <p:cNvSpPr/>
          <p:nvPr/>
        </p:nvSpPr>
        <p:spPr>
          <a:xfrm>
            <a:off x="5615940" y="6531054"/>
            <a:ext cx="924401"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28</a:t>
            </a:r>
            <a:endParaRPr sz="1950">
              <a:solidFill>
                <a:schemeClr val="dk1"/>
              </a:solidFill>
              <a:latin typeface="Calibri"/>
              <a:ea typeface="Calibri"/>
              <a:cs typeface="Calibri"/>
              <a:sym typeface="Calibri"/>
            </a:endParaRPr>
          </a:p>
        </p:txBody>
      </p:sp>
      <p:sp>
        <p:nvSpPr>
          <p:cNvPr id="464" name="Google Shape;464;p23"/>
          <p:cNvSpPr/>
          <p:nvPr/>
        </p:nvSpPr>
        <p:spPr>
          <a:xfrm>
            <a:off x="6692741" y="7003494"/>
            <a:ext cx="149709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23"/>
          <p:cNvSpPr/>
          <p:nvPr/>
        </p:nvSpPr>
        <p:spPr>
          <a:xfrm>
            <a:off x="6921341" y="6531054"/>
            <a:ext cx="111609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0.972</a:t>
            </a:r>
            <a:endParaRPr sz="1950">
              <a:solidFill>
                <a:schemeClr val="dk1"/>
              </a:solidFill>
              <a:latin typeface="Calibri"/>
              <a:ea typeface="Calibri"/>
              <a:cs typeface="Calibri"/>
              <a:sym typeface="Calibri"/>
            </a:endParaRPr>
          </a:p>
        </p:txBody>
      </p:sp>
      <p:sp>
        <p:nvSpPr>
          <p:cNvPr id="466" name="Google Shape;466;p23"/>
          <p:cNvSpPr/>
          <p:nvPr/>
        </p:nvSpPr>
        <p:spPr>
          <a:xfrm>
            <a:off x="8189833" y="7003494"/>
            <a:ext cx="3815953"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23"/>
          <p:cNvSpPr/>
          <p:nvPr/>
        </p:nvSpPr>
        <p:spPr>
          <a:xfrm>
            <a:off x="8418433" y="6531054"/>
            <a:ext cx="347323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213.4</a:t>
            </a:r>
            <a:endParaRPr sz="1950">
              <a:solidFill>
                <a:schemeClr val="dk1"/>
              </a:solidFill>
              <a:latin typeface="Calibri"/>
              <a:ea typeface="Calibri"/>
              <a:cs typeface="Calibri"/>
              <a:sym typeface="Calibri"/>
            </a:endParaRPr>
          </a:p>
        </p:txBody>
      </p:sp>
      <p:sp>
        <p:nvSpPr>
          <p:cNvPr id="468" name="Google Shape;468;p23"/>
          <p:cNvSpPr/>
          <p:nvPr/>
        </p:nvSpPr>
        <p:spPr>
          <a:xfrm>
            <a:off x="12005787" y="7003494"/>
            <a:ext cx="191750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3"/>
          <p:cNvSpPr/>
          <p:nvPr/>
        </p:nvSpPr>
        <p:spPr>
          <a:xfrm>
            <a:off x="12234387" y="6531054"/>
            <a:ext cx="153650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35.59</a:t>
            </a:r>
            <a:endParaRPr sz="1950">
              <a:solidFill>
                <a:schemeClr val="dk1"/>
              </a:solidFill>
              <a:latin typeface="Calibri"/>
              <a:ea typeface="Calibri"/>
              <a:cs typeface="Calibri"/>
              <a:sym typeface="Calibri"/>
            </a:endParaRPr>
          </a:p>
        </p:txBody>
      </p:sp>
      <p:sp>
        <p:nvSpPr>
          <p:cNvPr id="470" name="Google Shape;470;p23"/>
          <p:cNvSpPr/>
          <p:nvPr/>
        </p:nvSpPr>
        <p:spPr>
          <a:xfrm>
            <a:off x="13923289" y="7003494"/>
            <a:ext cx="303121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23"/>
          <p:cNvSpPr/>
          <p:nvPr/>
        </p:nvSpPr>
        <p:spPr>
          <a:xfrm>
            <a:off x="14151889" y="6531054"/>
            <a:ext cx="2664949"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17%</a:t>
            </a:r>
            <a:endParaRPr sz="1950">
              <a:solidFill>
                <a:schemeClr val="dk1"/>
              </a:solidFill>
              <a:latin typeface="Calibri"/>
              <a:ea typeface="Calibri"/>
              <a:cs typeface="Calibri"/>
              <a:sym typeface="Calibri"/>
            </a:endParaRPr>
          </a:p>
        </p:txBody>
      </p:sp>
      <p:sp>
        <p:nvSpPr>
          <p:cNvPr id="472" name="Google Shape;472;p23"/>
          <p:cNvSpPr/>
          <p:nvPr/>
        </p:nvSpPr>
        <p:spPr>
          <a:xfrm>
            <a:off x="1333500" y="7011114"/>
            <a:ext cx="4053840" cy="716280"/>
          </a:xfrm>
          <a:prstGeom prst="rect">
            <a:avLst/>
          </a:prstGeom>
          <a:solidFill>
            <a:srgbClr val="DF4823">
              <a:alpha val="5882"/>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3"/>
          <p:cNvSpPr/>
          <p:nvPr/>
        </p:nvSpPr>
        <p:spPr>
          <a:xfrm>
            <a:off x="1333500" y="7719775"/>
            <a:ext cx="405384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23"/>
          <p:cNvSpPr/>
          <p:nvPr/>
        </p:nvSpPr>
        <p:spPr>
          <a:xfrm>
            <a:off x="1562100" y="7201614"/>
            <a:ext cx="3718255" cy="3657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DF4823"/>
              </a:buClr>
              <a:buSzPts val="1950"/>
              <a:buFont typeface="Courier New"/>
              <a:buNone/>
            </a:pPr>
            <a:r>
              <a:rPr lang="en-US" sz="1950">
                <a:solidFill>
                  <a:srgbClr val="DF4823"/>
                </a:solidFill>
                <a:latin typeface="Courier New"/>
                <a:ea typeface="Courier New"/>
                <a:cs typeface="Courier New"/>
                <a:sym typeface="Courier New"/>
              </a:rPr>
              <a:t>ours_bgfg</a:t>
            </a:r>
            <a:endParaRPr sz="1950">
              <a:solidFill>
                <a:schemeClr val="dk1"/>
              </a:solidFill>
              <a:latin typeface="Calibri"/>
              <a:ea typeface="Calibri"/>
              <a:cs typeface="Calibri"/>
              <a:sym typeface="Calibri"/>
            </a:endParaRPr>
          </a:p>
        </p:txBody>
      </p:sp>
      <p:sp>
        <p:nvSpPr>
          <p:cNvPr id="475" name="Google Shape;475;p23"/>
          <p:cNvSpPr/>
          <p:nvPr/>
        </p:nvSpPr>
        <p:spPr>
          <a:xfrm>
            <a:off x="5387340" y="7011114"/>
            <a:ext cx="1305401" cy="716280"/>
          </a:xfrm>
          <a:prstGeom prst="rect">
            <a:avLst/>
          </a:prstGeom>
          <a:solidFill>
            <a:srgbClr val="DF4823">
              <a:alpha val="5882"/>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23"/>
          <p:cNvSpPr/>
          <p:nvPr/>
        </p:nvSpPr>
        <p:spPr>
          <a:xfrm>
            <a:off x="5387340" y="7719775"/>
            <a:ext cx="1305401"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3"/>
          <p:cNvSpPr/>
          <p:nvPr/>
        </p:nvSpPr>
        <p:spPr>
          <a:xfrm>
            <a:off x="5615940" y="7201614"/>
            <a:ext cx="924401" cy="3657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28</a:t>
            </a:r>
            <a:endParaRPr sz="1950">
              <a:solidFill>
                <a:schemeClr val="dk1"/>
              </a:solidFill>
              <a:latin typeface="Calibri"/>
              <a:ea typeface="Calibri"/>
              <a:cs typeface="Calibri"/>
              <a:sym typeface="Calibri"/>
            </a:endParaRPr>
          </a:p>
        </p:txBody>
      </p:sp>
      <p:sp>
        <p:nvSpPr>
          <p:cNvPr id="478" name="Google Shape;478;p23"/>
          <p:cNvSpPr/>
          <p:nvPr/>
        </p:nvSpPr>
        <p:spPr>
          <a:xfrm>
            <a:off x="6692741" y="7011114"/>
            <a:ext cx="1497092" cy="716280"/>
          </a:xfrm>
          <a:prstGeom prst="rect">
            <a:avLst/>
          </a:prstGeom>
          <a:solidFill>
            <a:srgbClr val="DF4823">
              <a:alpha val="5882"/>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23"/>
          <p:cNvSpPr/>
          <p:nvPr/>
        </p:nvSpPr>
        <p:spPr>
          <a:xfrm>
            <a:off x="6692741" y="7719775"/>
            <a:ext cx="149709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23"/>
          <p:cNvSpPr/>
          <p:nvPr/>
        </p:nvSpPr>
        <p:spPr>
          <a:xfrm>
            <a:off x="6921341" y="7201614"/>
            <a:ext cx="1116092" cy="3657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0.961</a:t>
            </a:r>
            <a:endParaRPr sz="1950">
              <a:solidFill>
                <a:schemeClr val="dk1"/>
              </a:solidFill>
              <a:latin typeface="Calibri"/>
              <a:ea typeface="Calibri"/>
              <a:cs typeface="Calibri"/>
              <a:sym typeface="Calibri"/>
            </a:endParaRPr>
          </a:p>
        </p:txBody>
      </p:sp>
      <p:sp>
        <p:nvSpPr>
          <p:cNvPr id="481" name="Google Shape;481;p23"/>
          <p:cNvSpPr/>
          <p:nvPr/>
        </p:nvSpPr>
        <p:spPr>
          <a:xfrm>
            <a:off x="8189833" y="7011114"/>
            <a:ext cx="3815953" cy="716280"/>
          </a:xfrm>
          <a:prstGeom prst="rect">
            <a:avLst/>
          </a:prstGeom>
          <a:solidFill>
            <a:srgbClr val="DF4823">
              <a:alpha val="5882"/>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23"/>
          <p:cNvSpPr/>
          <p:nvPr/>
        </p:nvSpPr>
        <p:spPr>
          <a:xfrm>
            <a:off x="8189833" y="7719775"/>
            <a:ext cx="3815953"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23"/>
          <p:cNvSpPr/>
          <p:nvPr/>
        </p:nvSpPr>
        <p:spPr>
          <a:xfrm>
            <a:off x="8418433" y="7201614"/>
            <a:ext cx="3473232" cy="3657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highlight>
                  <a:srgbClr val="DF4823"/>
                </a:highlight>
                <a:latin typeface="Courier New"/>
                <a:ea typeface="Courier New"/>
                <a:cs typeface="Courier New"/>
                <a:sym typeface="Courier New"/>
              </a:rPr>
              <a:t xml:space="preserve">118.4 </a:t>
            </a:r>
            <a:r>
              <a:rPr lang="en-US" sz="1950">
                <a:solidFill>
                  <a:srgbClr val="DF4823"/>
                </a:solidFill>
                <a:latin typeface="Courier New"/>
                <a:ea typeface="Courier New"/>
                <a:cs typeface="Courier New"/>
                <a:sym typeface="Courier New"/>
              </a:rPr>
              <a:t>(−12%)</a:t>
            </a:r>
            <a:endParaRPr sz="1950">
              <a:solidFill>
                <a:schemeClr val="dk1"/>
              </a:solidFill>
              <a:latin typeface="Calibri"/>
              <a:ea typeface="Calibri"/>
              <a:cs typeface="Calibri"/>
              <a:sym typeface="Calibri"/>
            </a:endParaRPr>
          </a:p>
        </p:txBody>
      </p:sp>
      <p:sp>
        <p:nvSpPr>
          <p:cNvPr id="484" name="Google Shape;484;p23"/>
          <p:cNvSpPr/>
          <p:nvPr/>
        </p:nvSpPr>
        <p:spPr>
          <a:xfrm>
            <a:off x="12005787" y="7011114"/>
            <a:ext cx="1917502" cy="716280"/>
          </a:xfrm>
          <a:prstGeom prst="rect">
            <a:avLst/>
          </a:prstGeom>
          <a:solidFill>
            <a:srgbClr val="DF4823">
              <a:alpha val="5882"/>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23"/>
          <p:cNvSpPr/>
          <p:nvPr/>
        </p:nvSpPr>
        <p:spPr>
          <a:xfrm>
            <a:off x="12005787" y="7719775"/>
            <a:ext cx="191750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23"/>
          <p:cNvSpPr/>
          <p:nvPr/>
        </p:nvSpPr>
        <p:spPr>
          <a:xfrm>
            <a:off x="12234387" y="7201614"/>
            <a:ext cx="1536502" cy="3657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33.60</a:t>
            </a:r>
            <a:endParaRPr sz="1950">
              <a:solidFill>
                <a:schemeClr val="dk1"/>
              </a:solidFill>
              <a:latin typeface="Calibri"/>
              <a:ea typeface="Calibri"/>
              <a:cs typeface="Calibri"/>
              <a:sym typeface="Calibri"/>
            </a:endParaRPr>
          </a:p>
        </p:txBody>
      </p:sp>
      <p:sp>
        <p:nvSpPr>
          <p:cNvPr id="487" name="Google Shape;487;p23"/>
          <p:cNvSpPr/>
          <p:nvPr/>
        </p:nvSpPr>
        <p:spPr>
          <a:xfrm>
            <a:off x="13923289" y="7011114"/>
            <a:ext cx="3031212" cy="716280"/>
          </a:xfrm>
          <a:prstGeom prst="rect">
            <a:avLst/>
          </a:prstGeom>
          <a:solidFill>
            <a:srgbClr val="DF4823">
              <a:alpha val="5882"/>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23"/>
          <p:cNvSpPr/>
          <p:nvPr/>
        </p:nvSpPr>
        <p:spPr>
          <a:xfrm>
            <a:off x="13923289" y="7719775"/>
            <a:ext cx="303121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23"/>
          <p:cNvSpPr/>
          <p:nvPr/>
        </p:nvSpPr>
        <p:spPr>
          <a:xfrm>
            <a:off x="14151889" y="7201614"/>
            <a:ext cx="2664949" cy="3657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12%</a:t>
            </a:r>
            <a:endParaRPr sz="1950">
              <a:solidFill>
                <a:schemeClr val="dk1"/>
              </a:solidFill>
              <a:latin typeface="Calibri"/>
              <a:ea typeface="Calibri"/>
              <a:cs typeface="Calibri"/>
              <a:sym typeface="Calibri"/>
            </a:endParaRPr>
          </a:p>
        </p:txBody>
      </p:sp>
      <p:sp>
        <p:nvSpPr>
          <p:cNvPr id="490" name="Google Shape;490;p23"/>
          <p:cNvSpPr/>
          <p:nvPr/>
        </p:nvSpPr>
        <p:spPr>
          <a:xfrm>
            <a:off x="1333500" y="8390335"/>
            <a:ext cx="405384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23"/>
          <p:cNvSpPr/>
          <p:nvPr/>
        </p:nvSpPr>
        <p:spPr>
          <a:xfrm>
            <a:off x="1562100" y="7917895"/>
            <a:ext cx="3718255"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ours_bgfg</a:t>
            </a:r>
            <a:endParaRPr sz="1950">
              <a:solidFill>
                <a:schemeClr val="dk1"/>
              </a:solidFill>
              <a:latin typeface="Calibri"/>
              <a:ea typeface="Calibri"/>
              <a:cs typeface="Calibri"/>
              <a:sym typeface="Calibri"/>
            </a:endParaRPr>
          </a:p>
        </p:txBody>
      </p:sp>
      <p:sp>
        <p:nvSpPr>
          <p:cNvPr id="492" name="Google Shape;492;p23"/>
          <p:cNvSpPr/>
          <p:nvPr/>
        </p:nvSpPr>
        <p:spPr>
          <a:xfrm>
            <a:off x="5387340" y="8390335"/>
            <a:ext cx="1305401"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23"/>
          <p:cNvSpPr/>
          <p:nvPr/>
        </p:nvSpPr>
        <p:spPr>
          <a:xfrm>
            <a:off x="5615940" y="7917895"/>
            <a:ext cx="924401"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34</a:t>
            </a:r>
            <a:endParaRPr sz="1950">
              <a:solidFill>
                <a:schemeClr val="dk1"/>
              </a:solidFill>
              <a:latin typeface="Calibri"/>
              <a:ea typeface="Calibri"/>
              <a:cs typeface="Calibri"/>
              <a:sym typeface="Calibri"/>
            </a:endParaRPr>
          </a:p>
        </p:txBody>
      </p:sp>
      <p:sp>
        <p:nvSpPr>
          <p:cNvPr id="494" name="Google Shape;494;p23"/>
          <p:cNvSpPr/>
          <p:nvPr/>
        </p:nvSpPr>
        <p:spPr>
          <a:xfrm>
            <a:off x="6692741" y="8390335"/>
            <a:ext cx="149709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23"/>
          <p:cNvSpPr/>
          <p:nvPr/>
        </p:nvSpPr>
        <p:spPr>
          <a:xfrm>
            <a:off x="6921341" y="7917895"/>
            <a:ext cx="111609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0.940</a:t>
            </a:r>
            <a:endParaRPr sz="1950">
              <a:solidFill>
                <a:schemeClr val="dk1"/>
              </a:solidFill>
              <a:latin typeface="Calibri"/>
              <a:ea typeface="Calibri"/>
              <a:cs typeface="Calibri"/>
              <a:sym typeface="Calibri"/>
            </a:endParaRPr>
          </a:p>
        </p:txBody>
      </p:sp>
      <p:sp>
        <p:nvSpPr>
          <p:cNvPr id="496" name="Google Shape;496;p23"/>
          <p:cNvSpPr/>
          <p:nvPr/>
        </p:nvSpPr>
        <p:spPr>
          <a:xfrm>
            <a:off x="8189833" y="8390335"/>
            <a:ext cx="3815953"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23"/>
          <p:cNvSpPr/>
          <p:nvPr/>
        </p:nvSpPr>
        <p:spPr>
          <a:xfrm>
            <a:off x="8418433" y="7917895"/>
            <a:ext cx="347323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68.3</a:t>
            </a:r>
            <a:endParaRPr sz="1950">
              <a:solidFill>
                <a:schemeClr val="dk1"/>
              </a:solidFill>
              <a:latin typeface="Calibri"/>
              <a:ea typeface="Calibri"/>
              <a:cs typeface="Calibri"/>
              <a:sym typeface="Calibri"/>
            </a:endParaRPr>
          </a:p>
        </p:txBody>
      </p:sp>
      <p:sp>
        <p:nvSpPr>
          <p:cNvPr id="498" name="Google Shape;498;p23"/>
          <p:cNvSpPr/>
          <p:nvPr/>
        </p:nvSpPr>
        <p:spPr>
          <a:xfrm>
            <a:off x="12005787" y="8390335"/>
            <a:ext cx="191750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23"/>
          <p:cNvSpPr/>
          <p:nvPr/>
        </p:nvSpPr>
        <p:spPr>
          <a:xfrm>
            <a:off x="12234387" y="7917895"/>
            <a:ext cx="1536502"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31.09</a:t>
            </a:r>
            <a:endParaRPr sz="1950">
              <a:solidFill>
                <a:schemeClr val="dk1"/>
              </a:solidFill>
              <a:latin typeface="Calibri"/>
              <a:ea typeface="Calibri"/>
              <a:cs typeface="Calibri"/>
              <a:sym typeface="Calibri"/>
            </a:endParaRPr>
          </a:p>
        </p:txBody>
      </p:sp>
      <p:sp>
        <p:nvSpPr>
          <p:cNvPr id="500" name="Google Shape;500;p23"/>
          <p:cNvSpPr/>
          <p:nvPr/>
        </p:nvSpPr>
        <p:spPr>
          <a:xfrm>
            <a:off x="13923289" y="8390335"/>
            <a:ext cx="3031212"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23"/>
          <p:cNvSpPr/>
          <p:nvPr/>
        </p:nvSpPr>
        <p:spPr>
          <a:xfrm>
            <a:off x="14151889" y="7917895"/>
            <a:ext cx="2664949" cy="32004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A1820"/>
              </a:buClr>
              <a:buSzPts val="1950"/>
              <a:buFont typeface="Courier New"/>
              <a:buNone/>
            </a:pPr>
            <a:r>
              <a:rPr lang="en-US" sz="1950">
                <a:solidFill>
                  <a:srgbClr val="1A1820"/>
                </a:solidFill>
                <a:latin typeface="Courier New"/>
                <a:ea typeface="Courier New"/>
                <a:cs typeface="Courier New"/>
                <a:sym typeface="Courier New"/>
              </a:rPr>
              <a:t>7%</a:t>
            </a:r>
            <a:endParaRPr sz="1950">
              <a:solidFill>
                <a:schemeClr val="dk1"/>
              </a:solidFill>
              <a:latin typeface="Calibri"/>
              <a:ea typeface="Calibri"/>
              <a:cs typeface="Calibri"/>
              <a:sym typeface="Calibri"/>
            </a:endParaRPr>
          </a:p>
        </p:txBody>
      </p:sp>
      <p:sp>
        <p:nvSpPr>
          <p:cNvPr id="502" name="Google Shape;502;p23"/>
          <p:cNvSpPr/>
          <p:nvPr/>
        </p:nvSpPr>
        <p:spPr>
          <a:xfrm>
            <a:off x="1333500" y="9540240"/>
            <a:ext cx="1169075"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AAMIRALI</a:t>
            </a:r>
            <a:endParaRPr sz="12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507" name="Shape 507"/>
        <p:cNvGrpSpPr/>
        <p:nvPr/>
      </p:nvGrpSpPr>
      <p:grpSpPr>
        <a:xfrm>
          <a:off x="0" y="0"/>
          <a:ext cx="0" cy="0"/>
          <a:chOff x="0" y="0"/>
          <a:chExt cx="0" cy="0"/>
        </a:xfrm>
      </p:grpSpPr>
      <p:sp>
        <p:nvSpPr>
          <p:cNvPr id="508" name="Google Shape;508;p24"/>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RATE–DISTORTION · 20 REAL CCTV CLIPS · 150 S TOTAL</a:t>
            </a:r>
            <a:endParaRPr sz="1350">
              <a:solidFill>
                <a:schemeClr val="dk1"/>
              </a:solidFill>
              <a:latin typeface="Calibri"/>
              <a:ea typeface="Calibri"/>
              <a:cs typeface="Calibri"/>
              <a:sym typeface="Calibri"/>
            </a:endParaRPr>
          </a:p>
        </p:txBody>
      </p:sp>
      <p:sp>
        <p:nvSpPr>
          <p:cNvPr id="509" name="Google Shape;509;p24"/>
          <p:cNvSpPr/>
          <p:nvPr/>
        </p:nvSpPr>
        <p:spPr>
          <a:xfrm>
            <a:off x="1333500" y="1722120"/>
            <a:ext cx="16089630" cy="85034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6600"/>
              <a:buFont typeface="Georgia"/>
              <a:buNone/>
            </a:pPr>
            <a:r>
              <a:rPr lang="en-US" sz="6600">
                <a:solidFill>
                  <a:srgbClr val="1A1820"/>
                </a:solidFill>
                <a:latin typeface="Georgia"/>
                <a:ea typeface="Georgia"/>
                <a:cs typeface="Georgia"/>
                <a:sym typeface="Georgia"/>
              </a:rPr>
              <a:t xml:space="preserve">Smaller files at every </a:t>
            </a:r>
            <a:r>
              <a:rPr i="1" lang="en-US" sz="6600">
                <a:solidFill>
                  <a:srgbClr val="1A1820"/>
                </a:solidFill>
                <a:latin typeface="Georgia"/>
                <a:ea typeface="Georgia"/>
                <a:cs typeface="Georgia"/>
                <a:sym typeface="Georgia"/>
              </a:rPr>
              <a:t>quality tier.</a:t>
            </a:r>
            <a:endParaRPr sz="6600">
              <a:solidFill>
                <a:schemeClr val="dk1"/>
              </a:solidFill>
              <a:latin typeface="Calibri"/>
              <a:ea typeface="Calibri"/>
              <a:cs typeface="Calibri"/>
              <a:sym typeface="Calibri"/>
            </a:endParaRPr>
          </a:p>
        </p:txBody>
      </p:sp>
      <p:sp>
        <p:nvSpPr>
          <p:cNvPr id="510" name="Google Shape;510;p24"/>
          <p:cNvSpPr/>
          <p:nvPr/>
        </p:nvSpPr>
        <p:spPr>
          <a:xfrm>
            <a:off x="1333500" y="2877264"/>
            <a:ext cx="15621000" cy="5736193"/>
          </a:xfrm>
          <a:prstGeom prst="roundRect">
            <a:avLst>
              <a:gd fmla="val 664" name="adj"/>
            </a:avLst>
          </a:prstGeom>
          <a:solidFill>
            <a:srgbClr val="F4F0E6"/>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11" name="Google Shape;511;p24"/>
          <p:cNvPicPr preferRelativeResize="0"/>
          <p:nvPr/>
        </p:nvPicPr>
        <p:blipFill rotWithShape="1">
          <a:blip r:embed="rId3">
            <a:alphaModFix/>
          </a:blip>
          <a:srcRect b="0" l="0" r="0" t="0"/>
          <a:stretch/>
        </p:blipFill>
        <p:spPr>
          <a:xfrm>
            <a:off x="5052656" y="3113484"/>
            <a:ext cx="8182689" cy="5263634"/>
          </a:xfrm>
          <a:prstGeom prst="rect">
            <a:avLst/>
          </a:prstGeom>
          <a:noFill/>
          <a:ln>
            <a:noFill/>
          </a:ln>
        </p:spPr>
      </p:pic>
      <p:sp>
        <p:nvSpPr>
          <p:cNvPr id="512" name="Google Shape;512;p24"/>
          <p:cNvSpPr/>
          <p:nvPr/>
        </p:nvSpPr>
        <p:spPr>
          <a:xfrm>
            <a:off x="1333500" y="8784907"/>
            <a:ext cx="15697200" cy="397193"/>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950"/>
              <a:buFont typeface="Arial"/>
              <a:buNone/>
            </a:pPr>
            <a:r>
              <a:rPr lang="en-US" sz="1950">
                <a:solidFill>
                  <a:srgbClr val="423F46"/>
                </a:solidFill>
                <a:latin typeface="Arial"/>
                <a:ea typeface="Arial"/>
                <a:cs typeface="Arial"/>
                <a:sym typeface="Arial"/>
              </a:rPr>
              <a:t>Our codec sits below the baseline curve at every CRF, with the gap holding at the small file sizes home cameras actually use. The trade is intentional: loss concentrates in regions we marked as background, never in the subject.</a:t>
            </a:r>
            <a:endParaRPr sz="1950">
              <a:solidFill>
                <a:schemeClr val="dk1"/>
              </a:solidFill>
              <a:latin typeface="Calibri"/>
              <a:ea typeface="Calibri"/>
              <a:cs typeface="Calibri"/>
              <a:sym typeface="Calibri"/>
            </a:endParaRPr>
          </a:p>
        </p:txBody>
      </p:sp>
      <p:sp>
        <p:nvSpPr>
          <p:cNvPr id="513" name="Google Shape;513;p24"/>
          <p:cNvSpPr/>
          <p:nvPr/>
        </p:nvSpPr>
        <p:spPr>
          <a:xfrm>
            <a:off x="1333500" y="9540240"/>
            <a:ext cx="1169075"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AAMIRALI</a:t>
            </a:r>
            <a:endParaRPr sz="12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518" name="Shape 518"/>
        <p:cNvGrpSpPr/>
        <p:nvPr/>
      </p:nvGrpSpPr>
      <p:grpSpPr>
        <a:xfrm>
          <a:off x="0" y="0"/>
          <a:ext cx="0" cy="0"/>
          <a:chOff x="0" y="0"/>
          <a:chExt cx="0" cy="0"/>
        </a:xfrm>
      </p:grpSpPr>
      <p:sp>
        <p:nvSpPr>
          <p:cNvPr id="519" name="Google Shape;519;p25"/>
          <p:cNvSpPr/>
          <p:nvPr/>
        </p:nvSpPr>
        <p:spPr>
          <a:xfrm>
            <a:off x="1333500" y="1531620"/>
            <a:ext cx="16089630" cy="232100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9300"/>
              <a:buFont typeface="Georgia"/>
              <a:buNone/>
            </a:pPr>
            <a:r>
              <a:rPr lang="en-US" sz="9300">
                <a:solidFill>
                  <a:srgbClr val="1A1820"/>
                </a:solidFill>
                <a:latin typeface="Georgia"/>
                <a:ea typeface="Georgia"/>
                <a:cs typeface="Georgia"/>
                <a:sym typeface="Georgia"/>
              </a:rPr>
              <a:t xml:space="preserve">"Why is your </a:t>
            </a:r>
            <a:r>
              <a:rPr i="1" lang="en-US" sz="9300">
                <a:solidFill>
                  <a:srgbClr val="DF4823"/>
                </a:solidFill>
                <a:latin typeface="Georgia"/>
                <a:ea typeface="Georgia"/>
                <a:cs typeface="Georgia"/>
                <a:sym typeface="Georgia"/>
              </a:rPr>
              <a:t xml:space="preserve">PSNR </a:t>
            </a:r>
            <a:r>
              <a:rPr lang="en-US" sz="9300">
                <a:solidFill>
                  <a:srgbClr val="1A1820"/>
                </a:solidFill>
                <a:latin typeface="Georgia"/>
                <a:ea typeface="Georgia"/>
                <a:cs typeface="Georgia"/>
                <a:sym typeface="Georgia"/>
              </a:rPr>
              <a:t>so low?"</a:t>
            </a:r>
            <a:endParaRPr sz="9300">
              <a:solidFill>
                <a:schemeClr val="dk1"/>
              </a:solidFill>
              <a:latin typeface="Calibri"/>
              <a:ea typeface="Calibri"/>
              <a:cs typeface="Calibri"/>
              <a:sym typeface="Calibri"/>
            </a:endParaRPr>
          </a:p>
        </p:txBody>
      </p:sp>
      <p:sp>
        <p:nvSpPr>
          <p:cNvPr id="520" name="Google Shape;520;p25"/>
          <p:cNvSpPr/>
          <p:nvPr/>
        </p:nvSpPr>
        <p:spPr>
          <a:xfrm>
            <a:off x="1333500" y="4290774"/>
            <a:ext cx="7639050" cy="4853226"/>
          </a:xfrm>
          <a:prstGeom prst="roundRect">
            <a:avLst>
              <a:gd fmla="val 785"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25"/>
          <p:cNvSpPr/>
          <p:nvPr/>
        </p:nvSpPr>
        <p:spPr>
          <a:xfrm>
            <a:off x="1798320" y="4717494"/>
            <a:ext cx="6910693"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PSNR · OLD PIXEL MATH</a:t>
            </a:r>
            <a:endParaRPr sz="1350">
              <a:solidFill>
                <a:schemeClr val="dk1"/>
              </a:solidFill>
              <a:latin typeface="Calibri"/>
              <a:ea typeface="Calibri"/>
              <a:cs typeface="Calibri"/>
              <a:sym typeface="Calibri"/>
            </a:endParaRPr>
          </a:p>
        </p:txBody>
      </p:sp>
      <p:sp>
        <p:nvSpPr>
          <p:cNvPr id="522" name="Google Shape;522;p25"/>
          <p:cNvSpPr/>
          <p:nvPr/>
        </p:nvSpPr>
        <p:spPr>
          <a:xfrm>
            <a:off x="1798320" y="5068014"/>
            <a:ext cx="6910693"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1A1820"/>
              </a:buClr>
              <a:buSzPts val="3000"/>
              <a:buFont typeface="Arial"/>
              <a:buNone/>
            </a:pPr>
            <a:r>
              <a:rPr lang="en-US" sz="3000">
                <a:solidFill>
                  <a:srgbClr val="1A1820"/>
                </a:solidFill>
                <a:latin typeface="Arial"/>
                <a:ea typeface="Arial"/>
                <a:cs typeface="Arial"/>
                <a:sym typeface="Arial"/>
              </a:rPr>
              <a:t>Compares pixel-by-pixel.</a:t>
            </a:r>
            <a:endParaRPr sz="3000">
              <a:solidFill>
                <a:schemeClr val="dk1"/>
              </a:solidFill>
              <a:latin typeface="Calibri"/>
              <a:ea typeface="Calibri"/>
              <a:cs typeface="Calibri"/>
              <a:sym typeface="Calibri"/>
            </a:endParaRPr>
          </a:p>
        </p:txBody>
      </p:sp>
      <p:sp>
        <p:nvSpPr>
          <p:cNvPr id="523" name="Google Shape;523;p25"/>
          <p:cNvSpPr/>
          <p:nvPr/>
        </p:nvSpPr>
        <p:spPr>
          <a:xfrm>
            <a:off x="1798320" y="5658564"/>
            <a:ext cx="6910693" cy="949643"/>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650"/>
              <a:buFont typeface="Arial"/>
              <a:buNone/>
            </a:pPr>
            <a:r>
              <a:rPr lang="en-US" sz="1650">
                <a:solidFill>
                  <a:srgbClr val="423F46"/>
                </a:solidFill>
                <a:latin typeface="Arial"/>
                <a:ea typeface="Arial"/>
                <a:cs typeface="Arial"/>
                <a:sym typeface="Arial"/>
              </a:rPr>
              <a:t>Counts our intentional background substitution as "error" — even though every salient pixel is preserved. We report saliency-weighted PSNR, which only measures the regions we promised to keep sharp.</a:t>
            </a:r>
            <a:endParaRPr sz="1650">
              <a:solidFill>
                <a:schemeClr val="dk1"/>
              </a:solidFill>
              <a:latin typeface="Calibri"/>
              <a:ea typeface="Calibri"/>
              <a:cs typeface="Calibri"/>
              <a:sym typeface="Calibri"/>
            </a:endParaRPr>
          </a:p>
        </p:txBody>
      </p:sp>
      <p:sp>
        <p:nvSpPr>
          <p:cNvPr id="524" name="Google Shape;524;p25"/>
          <p:cNvSpPr/>
          <p:nvPr/>
        </p:nvSpPr>
        <p:spPr>
          <a:xfrm>
            <a:off x="1798320" y="6836807"/>
            <a:ext cx="1452563"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25"/>
          <p:cNvSpPr/>
          <p:nvPr/>
        </p:nvSpPr>
        <p:spPr>
          <a:xfrm>
            <a:off x="1939290" y="6920627"/>
            <a:ext cx="1246823"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1980s metric</a:t>
            </a:r>
            <a:endParaRPr sz="1200">
              <a:solidFill>
                <a:schemeClr val="dk1"/>
              </a:solidFill>
              <a:latin typeface="Calibri"/>
              <a:ea typeface="Calibri"/>
              <a:cs typeface="Calibri"/>
              <a:sym typeface="Calibri"/>
            </a:endParaRPr>
          </a:p>
        </p:txBody>
      </p:sp>
      <p:sp>
        <p:nvSpPr>
          <p:cNvPr id="526" name="Google Shape;526;p25"/>
          <p:cNvSpPr/>
          <p:nvPr/>
        </p:nvSpPr>
        <p:spPr>
          <a:xfrm>
            <a:off x="3350419" y="6836807"/>
            <a:ext cx="1355050" cy="342900"/>
          </a:xfrm>
          <a:prstGeom prst="roundRect">
            <a:avLst>
              <a:gd fmla="val 50000" name="adj"/>
            </a:avLst>
          </a:prstGeom>
          <a:no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5"/>
          <p:cNvSpPr/>
          <p:nvPr/>
        </p:nvSpPr>
        <p:spPr>
          <a:xfrm>
            <a:off x="3491389" y="6920627"/>
            <a:ext cx="1149310"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A1820"/>
              </a:buClr>
              <a:buSzPts val="1200"/>
              <a:buFont typeface="Courier New"/>
              <a:buNone/>
            </a:pPr>
            <a:r>
              <a:rPr lang="en-US" sz="1200">
                <a:solidFill>
                  <a:srgbClr val="1A1820"/>
                </a:solidFill>
                <a:latin typeface="Courier New"/>
                <a:ea typeface="Courier New"/>
                <a:cs typeface="Courier New"/>
                <a:sym typeface="Courier New"/>
              </a:rPr>
              <a:t>pixel-level</a:t>
            </a:r>
            <a:endParaRPr sz="1200">
              <a:solidFill>
                <a:schemeClr val="dk1"/>
              </a:solidFill>
              <a:latin typeface="Calibri"/>
              <a:ea typeface="Calibri"/>
              <a:cs typeface="Calibri"/>
              <a:sym typeface="Calibri"/>
            </a:endParaRPr>
          </a:p>
        </p:txBody>
      </p:sp>
      <p:sp>
        <p:nvSpPr>
          <p:cNvPr id="528" name="Google Shape;528;p25"/>
          <p:cNvSpPr/>
          <p:nvPr/>
        </p:nvSpPr>
        <p:spPr>
          <a:xfrm>
            <a:off x="9315450" y="4290774"/>
            <a:ext cx="7639050" cy="4853226"/>
          </a:xfrm>
          <a:prstGeom prst="roundRect">
            <a:avLst>
              <a:gd fmla="val 785" name="adj"/>
            </a:avLst>
          </a:prstGeom>
          <a:solidFill>
            <a:srgbClr val="1A1820"/>
          </a:solid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25"/>
          <p:cNvSpPr/>
          <p:nvPr/>
        </p:nvSpPr>
        <p:spPr>
          <a:xfrm>
            <a:off x="9780270" y="4717494"/>
            <a:ext cx="6910693"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WHAT HUMANS ACTUALLY SEE</a:t>
            </a:r>
            <a:endParaRPr sz="1350">
              <a:solidFill>
                <a:schemeClr val="dk1"/>
              </a:solidFill>
              <a:latin typeface="Calibri"/>
              <a:ea typeface="Calibri"/>
              <a:cs typeface="Calibri"/>
              <a:sym typeface="Calibri"/>
            </a:endParaRPr>
          </a:p>
        </p:txBody>
      </p:sp>
      <p:sp>
        <p:nvSpPr>
          <p:cNvPr id="530" name="Google Shape;530;p25"/>
          <p:cNvSpPr/>
          <p:nvPr/>
        </p:nvSpPr>
        <p:spPr>
          <a:xfrm>
            <a:off x="9780270" y="5068014"/>
            <a:ext cx="6910693"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F4F0E6"/>
              </a:buClr>
              <a:buSzPts val="3000"/>
              <a:buFont typeface="Arial"/>
              <a:buNone/>
            </a:pPr>
            <a:r>
              <a:rPr lang="en-US" sz="3000">
                <a:solidFill>
                  <a:srgbClr val="F4F0E6"/>
                </a:solidFill>
                <a:latin typeface="Arial"/>
                <a:ea typeface="Arial"/>
                <a:cs typeface="Arial"/>
                <a:sym typeface="Arial"/>
              </a:rPr>
              <a:t>The people stay sharp.</a:t>
            </a:r>
            <a:endParaRPr sz="3000">
              <a:solidFill>
                <a:schemeClr val="dk1"/>
              </a:solidFill>
              <a:latin typeface="Calibri"/>
              <a:ea typeface="Calibri"/>
              <a:cs typeface="Calibri"/>
              <a:sym typeface="Calibri"/>
            </a:endParaRPr>
          </a:p>
        </p:txBody>
      </p:sp>
      <p:sp>
        <p:nvSpPr>
          <p:cNvPr id="531" name="Google Shape;531;p25"/>
          <p:cNvSpPr/>
          <p:nvPr/>
        </p:nvSpPr>
        <p:spPr>
          <a:xfrm>
            <a:off x="9780270" y="5658564"/>
            <a:ext cx="6910693" cy="949643"/>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4F0E6"/>
              </a:buClr>
              <a:buSzPts val="1650"/>
              <a:buFont typeface="Arial"/>
              <a:buNone/>
            </a:pPr>
            <a:r>
              <a:rPr lang="en-US" sz="1650">
                <a:solidFill>
                  <a:srgbClr val="F4F0E6"/>
                </a:solidFill>
                <a:latin typeface="Arial"/>
                <a:ea typeface="Arial"/>
                <a:cs typeface="Arial"/>
                <a:sym typeface="Arial"/>
              </a:rPr>
              <a:t>Modern perceptual studies — Wang &amp; Bovik, two thousand and nine — confirm that pixel math doesn't reflect human viewing. Low PSNR is the whole point.</a:t>
            </a:r>
            <a:endParaRPr sz="1650">
              <a:solidFill>
                <a:schemeClr val="dk1"/>
              </a:solidFill>
              <a:latin typeface="Calibri"/>
              <a:ea typeface="Calibri"/>
              <a:cs typeface="Calibri"/>
              <a:sym typeface="Calibri"/>
            </a:endParaRPr>
          </a:p>
        </p:txBody>
      </p:sp>
      <p:sp>
        <p:nvSpPr>
          <p:cNvPr id="532" name="Google Shape;532;p25"/>
          <p:cNvSpPr/>
          <p:nvPr/>
        </p:nvSpPr>
        <p:spPr>
          <a:xfrm>
            <a:off x="9780270" y="6836807"/>
            <a:ext cx="1159907" cy="342900"/>
          </a:xfrm>
          <a:prstGeom prst="roundRect">
            <a:avLst>
              <a:gd fmla="val 50000" name="adj"/>
            </a:avLst>
          </a:prstGeom>
          <a:noFill/>
          <a:ln cap="flat" cmpd="sng" w="9525">
            <a:solidFill>
              <a:srgbClr val="DF48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25"/>
          <p:cNvSpPr/>
          <p:nvPr/>
        </p:nvSpPr>
        <p:spPr>
          <a:xfrm>
            <a:off x="9921240" y="6920627"/>
            <a:ext cx="954167"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200"/>
              <a:buFont typeface="Courier New"/>
              <a:buNone/>
            </a:pPr>
            <a:r>
              <a:rPr lang="en-US" sz="1200">
                <a:solidFill>
                  <a:srgbClr val="DF4823"/>
                </a:solidFill>
                <a:latin typeface="Courier New"/>
                <a:ea typeface="Courier New"/>
                <a:cs typeface="Courier New"/>
                <a:sym typeface="Courier New"/>
              </a:rPr>
              <a:t>sal-PSNR</a:t>
            </a:r>
            <a:endParaRPr sz="1200">
              <a:solidFill>
                <a:schemeClr val="dk1"/>
              </a:solidFill>
              <a:latin typeface="Calibri"/>
              <a:ea typeface="Calibri"/>
              <a:cs typeface="Calibri"/>
              <a:sym typeface="Calibri"/>
            </a:endParaRPr>
          </a:p>
        </p:txBody>
      </p:sp>
      <p:sp>
        <p:nvSpPr>
          <p:cNvPr id="534" name="Google Shape;534;p25"/>
          <p:cNvSpPr/>
          <p:nvPr/>
        </p:nvSpPr>
        <p:spPr>
          <a:xfrm>
            <a:off x="11039713" y="6836807"/>
            <a:ext cx="1452563" cy="342900"/>
          </a:xfrm>
          <a:prstGeom prst="roundRect">
            <a:avLst>
              <a:gd fmla="val 50000" name="adj"/>
            </a:avLst>
          </a:prstGeom>
          <a:noFill/>
          <a:ln cap="flat" cmpd="sng" w="9525">
            <a:solidFill>
              <a:srgbClr val="DF48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25"/>
          <p:cNvSpPr/>
          <p:nvPr/>
        </p:nvSpPr>
        <p:spPr>
          <a:xfrm>
            <a:off x="11180683" y="6920627"/>
            <a:ext cx="1246823" cy="2133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200"/>
              <a:buFont typeface="Courier New"/>
              <a:buNone/>
            </a:pPr>
            <a:r>
              <a:rPr lang="en-US" sz="1200">
                <a:solidFill>
                  <a:srgbClr val="DF4823"/>
                </a:solidFill>
                <a:latin typeface="Courier New"/>
                <a:ea typeface="Courier New"/>
                <a:cs typeface="Courier New"/>
                <a:sym typeface="Courier New"/>
              </a:rPr>
              <a:t>human-graded</a:t>
            </a:r>
            <a:endParaRPr sz="1200">
              <a:solidFill>
                <a:schemeClr val="dk1"/>
              </a:solidFill>
              <a:latin typeface="Calibri"/>
              <a:ea typeface="Calibri"/>
              <a:cs typeface="Calibri"/>
              <a:sym typeface="Calibri"/>
            </a:endParaRPr>
          </a:p>
        </p:txBody>
      </p:sp>
      <p:sp>
        <p:nvSpPr>
          <p:cNvPr id="536" name="Google Shape;536;p25"/>
          <p:cNvSpPr/>
          <p:nvPr/>
        </p:nvSpPr>
        <p:spPr>
          <a:xfrm>
            <a:off x="1333500" y="9540240"/>
            <a:ext cx="1169075"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AAMIRALI</a:t>
            </a:r>
            <a:endParaRPr sz="12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541" name="Shape 541"/>
        <p:cNvGrpSpPr/>
        <p:nvPr/>
      </p:nvGrpSpPr>
      <p:grpSpPr>
        <a:xfrm>
          <a:off x="0" y="0"/>
          <a:ext cx="0" cy="0"/>
          <a:chOff x="0" y="0"/>
          <a:chExt cx="0" cy="0"/>
        </a:xfrm>
      </p:grpSpPr>
      <p:sp>
        <p:nvSpPr>
          <p:cNvPr id="542" name="Google Shape;542;p26"/>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FINDING 02 · THE GATE IS ACCURATE</a:t>
            </a:r>
            <a:endParaRPr sz="1350">
              <a:solidFill>
                <a:schemeClr val="dk1"/>
              </a:solidFill>
              <a:latin typeface="Calibri"/>
              <a:ea typeface="Calibri"/>
              <a:cs typeface="Calibri"/>
              <a:sym typeface="Calibri"/>
            </a:endParaRPr>
          </a:p>
        </p:txBody>
      </p:sp>
      <p:sp>
        <p:nvSpPr>
          <p:cNvPr id="543" name="Google Shape;543;p26"/>
          <p:cNvSpPr/>
          <p:nvPr/>
        </p:nvSpPr>
        <p:spPr>
          <a:xfrm>
            <a:off x="1333500" y="1722120"/>
            <a:ext cx="16089630" cy="1662589"/>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6600"/>
              <a:buFont typeface="Georgia"/>
              <a:buNone/>
            </a:pPr>
            <a:r>
              <a:rPr lang="en-US" sz="6600">
                <a:solidFill>
                  <a:srgbClr val="1A1820"/>
                </a:solidFill>
                <a:latin typeface="Georgia"/>
                <a:ea typeface="Georgia"/>
                <a:cs typeface="Georgia"/>
                <a:sym typeface="Georgia"/>
              </a:rPr>
              <a:t xml:space="preserve">Recording </a:t>
            </a:r>
            <a:r>
              <a:rPr i="1" lang="en-US" sz="6600">
                <a:solidFill>
                  <a:srgbClr val="DF4823"/>
                </a:solidFill>
                <a:latin typeface="Georgia"/>
                <a:ea typeface="Georgia"/>
                <a:cs typeface="Georgia"/>
                <a:sym typeface="Georgia"/>
              </a:rPr>
              <a:t xml:space="preserve">40.2% </a:t>
            </a:r>
            <a:r>
              <a:rPr lang="en-US" sz="6600">
                <a:solidFill>
                  <a:srgbClr val="1A1820"/>
                </a:solidFill>
                <a:latin typeface="Georgia"/>
                <a:ea typeface="Georgia"/>
                <a:cs typeface="Georgia"/>
                <a:sym typeface="Georgia"/>
              </a:rPr>
              <a:t xml:space="preserve">of the time. Catching </a:t>
            </a:r>
            <a:r>
              <a:rPr i="1" lang="en-US" sz="6600">
                <a:solidFill>
                  <a:srgbClr val="1A1820"/>
                </a:solidFill>
                <a:latin typeface="Georgia"/>
                <a:ea typeface="Georgia"/>
                <a:cs typeface="Georgia"/>
                <a:sym typeface="Georgia"/>
              </a:rPr>
              <a:t xml:space="preserve">100% </a:t>
            </a:r>
            <a:r>
              <a:rPr lang="en-US" sz="6600">
                <a:solidFill>
                  <a:srgbClr val="1A1820"/>
                </a:solidFill>
                <a:latin typeface="Georgia"/>
                <a:ea typeface="Georgia"/>
                <a:cs typeface="Georgia"/>
                <a:sym typeface="Georgia"/>
              </a:rPr>
              <a:t>of the action.</a:t>
            </a:r>
            <a:endParaRPr sz="6600">
              <a:solidFill>
                <a:schemeClr val="dk1"/>
              </a:solidFill>
              <a:latin typeface="Calibri"/>
              <a:ea typeface="Calibri"/>
              <a:cs typeface="Calibri"/>
              <a:sym typeface="Calibri"/>
            </a:endParaRPr>
          </a:p>
        </p:txBody>
      </p:sp>
      <p:sp>
        <p:nvSpPr>
          <p:cNvPr id="544" name="Google Shape;544;p26"/>
          <p:cNvSpPr/>
          <p:nvPr/>
        </p:nvSpPr>
        <p:spPr>
          <a:xfrm>
            <a:off x="1333500" y="3918109"/>
            <a:ext cx="7639050" cy="3411855"/>
          </a:xfrm>
          <a:prstGeom prst="roundRect">
            <a:avLst>
              <a:gd fmla="val 1117"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26"/>
          <p:cNvSpPr/>
          <p:nvPr/>
        </p:nvSpPr>
        <p:spPr>
          <a:xfrm>
            <a:off x="1798320" y="4344829"/>
            <a:ext cx="6910693"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FRAMES RECORDED</a:t>
            </a:r>
            <a:endParaRPr sz="1350">
              <a:solidFill>
                <a:schemeClr val="dk1"/>
              </a:solidFill>
              <a:latin typeface="Calibri"/>
              <a:ea typeface="Calibri"/>
              <a:cs typeface="Calibri"/>
              <a:sym typeface="Calibri"/>
            </a:endParaRPr>
          </a:p>
        </p:txBody>
      </p:sp>
      <p:sp>
        <p:nvSpPr>
          <p:cNvPr id="546" name="Google Shape;546;p26"/>
          <p:cNvSpPr/>
          <p:nvPr/>
        </p:nvSpPr>
        <p:spPr>
          <a:xfrm>
            <a:off x="1798320" y="4676299"/>
            <a:ext cx="6910693" cy="1524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DF4823"/>
              </a:buClr>
              <a:buSzPts val="11700"/>
              <a:buFont typeface="Courier New"/>
              <a:buNone/>
            </a:pPr>
            <a:r>
              <a:rPr lang="en-US" sz="11700">
                <a:solidFill>
                  <a:srgbClr val="DF4823"/>
                </a:solidFill>
                <a:latin typeface="Courier New"/>
                <a:ea typeface="Courier New"/>
                <a:cs typeface="Courier New"/>
                <a:sym typeface="Courier New"/>
              </a:rPr>
              <a:t>40.2</a:t>
            </a:r>
            <a:r>
              <a:rPr lang="en-US" sz="1500">
                <a:solidFill>
                  <a:srgbClr val="88837A"/>
                </a:solidFill>
                <a:latin typeface="Courier New"/>
                <a:ea typeface="Courier New"/>
                <a:cs typeface="Courier New"/>
                <a:sym typeface="Courier New"/>
              </a:rPr>
              <a:t>%</a:t>
            </a:r>
            <a:endParaRPr sz="11700">
              <a:solidFill>
                <a:schemeClr val="dk1"/>
              </a:solidFill>
              <a:latin typeface="Calibri"/>
              <a:ea typeface="Calibri"/>
              <a:cs typeface="Calibri"/>
              <a:sym typeface="Calibri"/>
            </a:endParaRPr>
          </a:p>
        </p:txBody>
      </p:sp>
      <p:sp>
        <p:nvSpPr>
          <p:cNvPr id="547" name="Google Shape;547;p26"/>
          <p:cNvSpPr/>
          <p:nvPr/>
        </p:nvSpPr>
        <p:spPr>
          <a:xfrm>
            <a:off x="1798320" y="6422103"/>
            <a:ext cx="6910800" cy="64590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650"/>
              <a:buFont typeface="Arial"/>
              <a:buNone/>
            </a:pPr>
            <a:r>
              <a:rPr lang="en-US" sz="1650">
                <a:solidFill>
                  <a:srgbClr val="423F46"/>
                </a:solidFill>
                <a:latin typeface="Arial"/>
                <a:ea typeface="Arial"/>
                <a:cs typeface="Arial"/>
                <a:sym typeface="Arial"/>
              </a:rPr>
              <a:t>Exactly matches the ground truth — the percentage of time a person was actually in the room.</a:t>
            </a:r>
            <a:endParaRPr sz="1650">
              <a:solidFill>
                <a:schemeClr val="dk1"/>
              </a:solidFill>
              <a:latin typeface="Calibri"/>
              <a:ea typeface="Calibri"/>
              <a:cs typeface="Calibri"/>
              <a:sym typeface="Calibri"/>
            </a:endParaRPr>
          </a:p>
        </p:txBody>
      </p:sp>
      <p:sp>
        <p:nvSpPr>
          <p:cNvPr id="548" name="Google Shape;548;p26"/>
          <p:cNvSpPr/>
          <p:nvPr/>
        </p:nvSpPr>
        <p:spPr>
          <a:xfrm>
            <a:off x="9315450" y="3918109"/>
            <a:ext cx="7639050" cy="3411855"/>
          </a:xfrm>
          <a:prstGeom prst="roundRect">
            <a:avLst>
              <a:gd fmla="val 1117"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26"/>
          <p:cNvSpPr/>
          <p:nvPr/>
        </p:nvSpPr>
        <p:spPr>
          <a:xfrm>
            <a:off x="9780270" y="4344829"/>
            <a:ext cx="6910693"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EVENTS CAPTURED</a:t>
            </a:r>
            <a:endParaRPr sz="1350">
              <a:solidFill>
                <a:schemeClr val="dk1"/>
              </a:solidFill>
              <a:latin typeface="Calibri"/>
              <a:ea typeface="Calibri"/>
              <a:cs typeface="Calibri"/>
              <a:sym typeface="Calibri"/>
            </a:endParaRPr>
          </a:p>
        </p:txBody>
      </p:sp>
      <p:sp>
        <p:nvSpPr>
          <p:cNvPr id="550" name="Google Shape;550;p26"/>
          <p:cNvSpPr/>
          <p:nvPr/>
        </p:nvSpPr>
        <p:spPr>
          <a:xfrm>
            <a:off x="9780270" y="4676299"/>
            <a:ext cx="6910693" cy="1524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A1820"/>
              </a:buClr>
              <a:buSzPts val="11700"/>
              <a:buFont typeface="Courier New"/>
              <a:buNone/>
            </a:pPr>
            <a:r>
              <a:rPr lang="en-US" sz="11700">
                <a:solidFill>
                  <a:srgbClr val="1A1820"/>
                </a:solidFill>
                <a:latin typeface="Courier New"/>
                <a:ea typeface="Courier New"/>
                <a:cs typeface="Courier New"/>
                <a:sym typeface="Courier New"/>
              </a:rPr>
              <a:t>100</a:t>
            </a:r>
            <a:r>
              <a:rPr lang="en-US" sz="1500">
                <a:solidFill>
                  <a:srgbClr val="88837A"/>
                </a:solidFill>
                <a:latin typeface="Courier New"/>
                <a:ea typeface="Courier New"/>
                <a:cs typeface="Courier New"/>
                <a:sym typeface="Courier New"/>
              </a:rPr>
              <a:t>%</a:t>
            </a:r>
            <a:endParaRPr sz="11700">
              <a:solidFill>
                <a:schemeClr val="dk1"/>
              </a:solidFill>
              <a:latin typeface="Calibri"/>
              <a:ea typeface="Calibri"/>
              <a:cs typeface="Calibri"/>
              <a:sym typeface="Calibri"/>
            </a:endParaRPr>
          </a:p>
        </p:txBody>
      </p:sp>
      <p:sp>
        <p:nvSpPr>
          <p:cNvPr id="551" name="Google Shape;551;p26"/>
          <p:cNvSpPr/>
          <p:nvPr/>
        </p:nvSpPr>
        <p:spPr>
          <a:xfrm>
            <a:off x="9780270" y="6367865"/>
            <a:ext cx="6910800" cy="64590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650"/>
              <a:buFont typeface="Arial"/>
              <a:buNone/>
            </a:pPr>
            <a:r>
              <a:rPr lang="en-US" sz="1650">
                <a:solidFill>
                  <a:srgbClr val="423F46"/>
                </a:solidFill>
                <a:latin typeface="Arial"/>
                <a:ea typeface="Arial"/>
                <a:cs typeface="Arial"/>
                <a:sym typeface="Arial"/>
              </a:rPr>
              <a:t>Every scripted person-entry was caught by the gate. Not one useful frame was dropped.</a:t>
            </a:r>
            <a:endParaRPr sz="1650">
              <a:solidFill>
                <a:schemeClr val="dk1"/>
              </a:solidFill>
              <a:latin typeface="Calibri"/>
              <a:ea typeface="Calibri"/>
              <a:cs typeface="Calibri"/>
              <a:sym typeface="Calibri"/>
            </a:endParaRPr>
          </a:p>
        </p:txBody>
      </p:sp>
      <p:sp>
        <p:nvSpPr>
          <p:cNvPr id="552" name="Google Shape;552;p26"/>
          <p:cNvSpPr/>
          <p:nvPr/>
        </p:nvSpPr>
        <p:spPr>
          <a:xfrm>
            <a:off x="1333500" y="9540240"/>
            <a:ext cx="1169075"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AAMIRALI</a:t>
            </a:r>
            <a:endParaRPr sz="12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557" name="Shape 557"/>
        <p:cNvGrpSpPr/>
        <p:nvPr/>
      </p:nvGrpSpPr>
      <p:grpSpPr>
        <a:xfrm>
          <a:off x="0" y="0"/>
          <a:ext cx="0" cy="0"/>
          <a:chOff x="0" y="0"/>
          <a:chExt cx="0" cy="0"/>
        </a:xfrm>
      </p:grpSpPr>
      <p:sp>
        <p:nvSpPr>
          <p:cNvPr id="558" name="Google Shape;558;p27"/>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WHAT THIS MEANS AT SCALE</a:t>
            </a:r>
            <a:endParaRPr sz="1350">
              <a:solidFill>
                <a:schemeClr val="dk1"/>
              </a:solidFill>
              <a:latin typeface="Calibri"/>
              <a:ea typeface="Calibri"/>
              <a:cs typeface="Calibri"/>
              <a:sym typeface="Calibri"/>
            </a:endParaRPr>
          </a:p>
        </p:txBody>
      </p:sp>
      <p:sp>
        <p:nvSpPr>
          <p:cNvPr id="559" name="Google Shape;559;p27"/>
          <p:cNvSpPr/>
          <p:nvPr/>
        </p:nvSpPr>
        <p:spPr>
          <a:xfrm>
            <a:off x="1333500" y="1722120"/>
            <a:ext cx="16089630" cy="2336244"/>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9300"/>
              <a:buFont typeface="Georgia"/>
              <a:buNone/>
            </a:pPr>
            <a:r>
              <a:rPr lang="en-US" sz="9300">
                <a:solidFill>
                  <a:srgbClr val="1A1820"/>
                </a:solidFill>
                <a:latin typeface="Georgia"/>
                <a:ea typeface="Georgia"/>
                <a:cs typeface="Georgia"/>
                <a:sym typeface="Georgia"/>
              </a:rPr>
              <a:t xml:space="preserve">Multiply by </a:t>
            </a:r>
            <a:r>
              <a:rPr i="1" lang="en-US" sz="9300">
                <a:solidFill>
                  <a:srgbClr val="1A1820"/>
                </a:solidFill>
                <a:latin typeface="Georgia"/>
                <a:ea typeface="Georgia"/>
                <a:cs typeface="Georgia"/>
                <a:sym typeface="Georgia"/>
              </a:rPr>
              <a:t>every camera in the world.</a:t>
            </a:r>
            <a:endParaRPr sz="9300">
              <a:solidFill>
                <a:schemeClr val="dk1"/>
              </a:solidFill>
              <a:latin typeface="Calibri"/>
              <a:ea typeface="Calibri"/>
              <a:cs typeface="Calibri"/>
              <a:sym typeface="Calibri"/>
            </a:endParaRPr>
          </a:p>
        </p:txBody>
      </p:sp>
      <p:sp>
        <p:nvSpPr>
          <p:cNvPr id="560" name="Google Shape;560;p27"/>
          <p:cNvSpPr/>
          <p:nvPr/>
        </p:nvSpPr>
        <p:spPr>
          <a:xfrm>
            <a:off x="1333500" y="4591764"/>
            <a:ext cx="4978361" cy="2798445"/>
          </a:xfrm>
          <a:prstGeom prst="roundRect">
            <a:avLst>
              <a:gd fmla="val 1361"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27"/>
          <p:cNvSpPr/>
          <p:nvPr/>
        </p:nvSpPr>
        <p:spPr>
          <a:xfrm>
            <a:off x="1798320" y="5018484"/>
            <a:ext cx="4170182"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PER CAMERA · PER YEAR</a:t>
            </a:r>
            <a:endParaRPr sz="1350">
              <a:solidFill>
                <a:schemeClr val="dk1"/>
              </a:solidFill>
              <a:latin typeface="Calibri"/>
              <a:ea typeface="Calibri"/>
              <a:cs typeface="Calibri"/>
              <a:sym typeface="Calibri"/>
            </a:endParaRPr>
          </a:p>
        </p:txBody>
      </p:sp>
      <p:sp>
        <p:nvSpPr>
          <p:cNvPr id="562" name="Google Shape;562;p27"/>
          <p:cNvSpPr/>
          <p:nvPr/>
        </p:nvSpPr>
        <p:spPr>
          <a:xfrm>
            <a:off x="1798320" y="5349954"/>
            <a:ext cx="4170182" cy="8763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A1820"/>
              </a:buClr>
              <a:buSzPts val="6600"/>
              <a:buFont typeface="Courier New"/>
              <a:buNone/>
            </a:pPr>
            <a:r>
              <a:rPr lang="en-US" sz="6600">
                <a:solidFill>
                  <a:srgbClr val="1A1820"/>
                </a:solidFill>
                <a:latin typeface="Courier New"/>
                <a:ea typeface="Courier New"/>
                <a:cs typeface="Courier New"/>
                <a:sym typeface="Courier New"/>
              </a:rPr>
              <a:t xml:space="preserve">~1.0 </a:t>
            </a:r>
            <a:r>
              <a:rPr lang="en-US" sz="1500">
                <a:solidFill>
                  <a:srgbClr val="88837A"/>
                </a:solidFill>
                <a:latin typeface="Courier New"/>
                <a:ea typeface="Courier New"/>
                <a:cs typeface="Courier New"/>
                <a:sym typeface="Courier New"/>
              </a:rPr>
              <a:t>TB</a:t>
            </a:r>
            <a:endParaRPr sz="6600">
              <a:solidFill>
                <a:schemeClr val="dk1"/>
              </a:solidFill>
              <a:latin typeface="Calibri"/>
              <a:ea typeface="Calibri"/>
              <a:cs typeface="Calibri"/>
              <a:sym typeface="Calibri"/>
            </a:endParaRPr>
          </a:p>
        </p:txBody>
      </p:sp>
      <p:sp>
        <p:nvSpPr>
          <p:cNvPr id="563" name="Google Shape;563;p27"/>
          <p:cNvSpPr/>
          <p:nvPr/>
        </p:nvSpPr>
        <p:spPr>
          <a:xfrm>
            <a:off x="1798320" y="6340554"/>
            <a:ext cx="4170182" cy="645795"/>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650"/>
              <a:buFont typeface="Arial"/>
              <a:buNone/>
            </a:pPr>
            <a:r>
              <a:rPr lang="en-US" sz="1650">
                <a:solidFill>
                  <a:srgbClr val="423F46"/>
                </a:solidFill>
                <a:latin typeface="Arial"/>
                <a:ea typeface="Arial"/>
                <a:cs typeface="Arial"/>
                <a:sym typeface="Arial"/>
              </a:rPr>
              <a:t>of cloud storage that no longer needs to exist.</a:t>
            </a:r>
            <a:endParaRPr sz="1650">
              <a:solidFill>
                <a:schemeClr val="dk1"/>
              </a:solidFill>
              <a:latin typeface="Calibri"/>
              <a:ea typeface="Calibri"/>
              <a:cs typeface="Calibri"/>
              <a:sym typeface="Calibri"/>
            </a:endParaRPr>
          </a:p>
        </p:txBody>
      </p:sp>
      <p:sp>
        <p:nvSpPr>
          <p:cNvPr id="564" name="Google Shape;564;p27"/>
          <p:cNvSpPr/>
          <p:nvPr/>
        </p:nvSpPr>
        <p:spPr>
          <a:xfrm>
            <a:off x="6654761" y="4591764"/>
            <a:ext cx="4978361" cy="2798445"/>
          </a:xfrm>
          <a:prstGeom prst="roundRect">
            <a:avLst>
              <a:gd fmla="val 1361"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27"/>
          <p:cNvSpPr/>
          <p:nvPr/>
        </p:nvSpPr>
        <p:spPr>
          <a:xfrm>
            <a:off x="7119581" y="5018484"/>
            <a:ext cx="4170182" cy="2514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CO₂ AVOIDED · PER CAMERA</a:t>
            </a:r>
            <a:endParaRPr sz="1350">
              <a:solidFill>
                <a:schemeClr val="dk1"/>
              </a:solidFill>
              <a:latin typeface="Calibri"/>
              <a:ea typeface="Calibri"/>
              <a:cs typeface="Calibri"/>
              <a:sym typeface="Calibri"/>
            </a:endParaRPr>
          </a:p>
        </p:txBody>
      </p:sp>
      <p:sp>
        <p:nvSpPr>
          <p:cNvPr id="566" name="Google Shape;566;p27"/>
          <p:cNvSpPr/>
          <p:nvPr/>
        </p:nvSpPr>
        <p:spPr>
          <a:xfrm>
            <a:off x="7119581" y="5365195"/>
            <a:ext cx="4170182" cy="8763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DF4823"/>
              </a:buClr>
              <a:buSzPts val="6600"/>
              <a:buFont typeface="Courier New"/>
              <a:buNone/>
            </a:pPr>
            <a:r>
              <a:rPr lang="en-US" sz="6600">
                <a:solidFill>
                  <a:srgbClr val="DF4823"/>
                </a:solidFill>
                <a:latin typeface="Courier New"/>
                <a:ea typeface="Courier New"/>
                <a:cs typeface="Courier New"/>
                <a:sym typeface="Courier New"/>
              </a:rPr>
              <a:t xml:space="preserve">~22 </a:t>
            </a:r>
            <a:r>
              <a:rPr lang="en-US" sz="1500">
                <a:solidFill>
                  <a:srgbClr val="88837A"/>
                </a:solidFill>
                <a:latin typeface="Courier New"/>
                <a:ea typeface="Courier New"/>
                <a:cs typeface="Courier New"/>
                <a:sym typeface="Courier New"/>
              </a:rPr>
              <a:t>kg/yr</a:t>
            </a:r>
            <a:endParaRPr sz="6600">
              <a:solidFill>
                <a:schemeClr val="dk1"/>
              </a:solidFill>
              <a:latin typeface="Calibri"/>
              <a:ea typeface="Calibri"/>
              <a:cs typeface="Calibri"/>
              <a:sym typeface="Calibri"/>
            </a:endParaRPr>
          </a:p>
        </p:txBody>
      </p:sp>
      <p:sp>
        <p:nvSpPr>
          <p:cNvPr id="567" name="Google Shape;567;p27"/>
          <p:cNvSpPr/>
          <p:nvPr/>
        </p:nvSpPr>
        <p:spPr>
          <a:xfrm>
            <a:off x="7119581" y="6355795"/>
            <a:ext cx="4170182" cy="645795"/>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650"/>
              <a:buFont typeface="Arial"/>
              <a:buNone/>
            </a:pPr>
            <a:r>
              <a:rPr lang="en-US" sz="1650">
                <a:solidFill>
                  <a:srgbClr val="423F46"/>
                </a:solidFill>
                <a:latin typeface="Arial"/>
                <a:ea typeface="Arial"/>
                <a:cs typeface="Arial"/>
                <a:sym typeface="Arial"/>
              </a:rPr>
              <a:t>based on Masanet et al. grid-intensity figures.</a:t>
            </a:r>
            <a:endParaRPr sz="1650">
              <a:solidFill>
                <a:schemeClr val="dk1"/>
              </a:solidFill>
              <a:latin typeface="Calibri"/>
              <a:ea typeface="Calibri"/>
              <a:cs typeface="Calibri"/>
              <a:sym typeface="Calibri"/>
            </a:endParaRPr>
          </a:p>
        </p:txBody>
      </p:sp>
      <p:sp>
        <p:nvSpPr>
          <p:cNvPr id="568" name="Google Shape;568;p27"/>
          <p:cNvSpPr/>
          <p:nvPr/>
        </p:nvSpPr>
        <p:spPr>
          <a:xfrm>
            <a:off x="11976021" y="4591764"/>
            <a:ext cx="4978361" cy="2798445"/>
          </a:xfrm>
          <a:prstGeom prst="roundRect">
            <a:avLst>
              <a:gd fmla="val 1361" name="adj"/>
            </a:avLst>
          </a:prstGeom>
          <a:solidFill>
            <a:srgbClr val="1A1820"/>
          </a:solidFill>
          <a:ln cap="flat" cmpd="sng" w="9525">
            <a:solidFill>
              <a:srgbClr val="1A182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27"/>
          <p:cNvSpPr/>
          <p:nvPr/>
        </p:nvSpPr>
        <p:spPr>
          <a:xfrm>
            <a:off x="12440841" y="5018484"/>
            <a:ext cx="4170182"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DF4823"/>
              </a:buClr>
              <a:buSzPts val="1350"/>
              <a:buFont typeface="Courier New"/>
              <a:buNone/>
            </a:pPr>
            <a:r>
              <a:rPr lang="en-US" sz="1350">
                <a:solidFill>
                  <a:srgbClr val="DF4823"/>
                </a:solidFill>
                <a:latin typeface="Courier New"/>
                <a:ea typeface="Courier New"/>
                <a:cs typeface="Courier New"/>
                <a:sym typeface="Courier New"/>
              </a:rPr>
              <a:t>SMART-CITY SCALE</a:t>
            </a:r>
            <a:endParaRPr sz="1350">
              <a:solidFill>
                <a:schemeClr val="dk1"/>
              </a:solidFill>
              <a:latin typeface="Calibri"/>
              <a:ea typeface="Calibri"/>
              <a:cs typeface="Calibri"/>
              <a:sym typeface="Calibri"/>
            </a:endParaRPr>
          </a:p>
        </p:txBody>
      </p:sp>
      <p:sp>
        <p:nvSpPr>
          <p:cNvPr id="570" name="Google Shape;570;p27"/>
          <p:cNvSpPr/>
          <p:nvPr/>
        </p:nvSpPr>
        <p:spPr>
          <a:xfrm>
            <a:off x="12440841" y="5349954"/>
            <a:ext cx="4170182" cy="8763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4F0E6"/>
              </a:buClr>
              <a:buSzPts val="6600"/>
              <a:buFont typeface="Courier New"/>
              <a:buNone/>
            </a:pPr>
            <a:r>
              <a:rPr lang="en-US" sz="6600">
                <a:solidFill>
                  <a:srgbClr val="F4F0E6"/>
                </a:solidFill>
                <a:latin typeface="Courier New"/>
                <a:ea typeface="Courier New"/>
                <a:cs typeface="Courier New"/>
                <a:sym typeface="Courier New"/>
              </a:rPr>
              <a:t>GWh</a:t>
            </a:r>
            <a:endParaRPr sz="6600">
              <a:solidFill>
                <a:schemeClr val="dk1"/>
              </a:solidFill>
              <a:latin typeface="Calibri"/>
              <a:ea typeface="Calibri"/>
              <a:cs typeface="Calibri"/>
              <a:sym typeface="Calibri"/>
            </a:endParaRPr>
          </a:p>
        </p:txBody>
      </p:sp>
      <p:sp>
        <p:nvSpPr>
          <p:cNvPr id="571" name="Google Shape;571;p27"/>
          <p:cNvSpPr/>
          <p:nvPr/>
        </p:nvSpPr>
        <p:spPr>
          <a:xfrm>
            <a:off x="12440841" y="6340554"/>
            <a:ext cx="4170182" cy="645795"/>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4F0E6"/>
              </a:buClr>
              <a:buSzPts val="1650"/>
              <a:buFont typeface="Arial"/>
              <a:buNone/>
            </a:pPr>
            <a:r>
              <a:rPr lang="en-US" sz="1650">
                <a:solidFill>
                  <a:srgbClr val="F4F0E6"/>
                </a:solidFill>
                <a:latin typeface="Arial"/>
                <a:ea typeface="Arial"/>
                <a:cs typeface="Arial"/>
                <a:sym typeface="Arial"/>
              </a:rPr>
              <a:t>of electricity that never has to be generated.</a:t>
            </a:r>
            <a:endParaRPr sz="1650">
              <a:solidFill>
                <a:schemeClr val="dk1"/>
              </a:solidFill>
              <a:latin typeface="Calibri"/>
              <a:ea typeface="Calibri"/>
              <a:cs typeface="Calibri"/>
              <a:sym typeface="Calibri"/>
            </a:endParaRPr>
          </a:p>
        </p:txBody>
      </p:sp>
      <p:sp>
        <p:nvSpPr>
          <p:cNvPr id="572" name="Google Shape;572;p27"/>
          <p:cNvSpPr/>
          <p:nvPr/>
        </p:nvSpPr>
        <p:spPr>
          <a:xfrm>
            <a:off x="1333500" y="7961709"/>
            <a:ext cx="16089630" cy="508635"/>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423F46"/>
              </a:buClr>
              <a:buSzPts val="2850"/>
              <a:buFont typeface="Arial"/>
              <a:buNone/>
            </a:pPr>
            <a:r>
              <a:rPr i="1" lang="en-US" sz="2850">
                <a:solidFill>
                  <a:srgbClr val="423F46"/>
                </a:solidFill>
                <a:latin typeface="Arial"/>
                <a:ea typeface="Arial"/>
                <a:cs typeface="Arial"/>
                <a:sym typeface="Arial"/>
              </a:rPr>
              <a:t xml:space="preserve">Sustainability isn't a feature we added — it's </a:t>
            </a:r>
            <a:r>
              <a:rPr i="1" lang="en-US" sz="2850">
                <a:solidFill>
                  <a:srgbClr val="DF4823"/>
                </a:solidFill>
                <a:latin typeface="Arial"/>
                <a:ea typeface="Arial"/>
                <a:cs typeface="Arial"/>
                <a:sym typeface="Arial"/>
              </a:rPr>
              <a:t>the whole reason this exists.</a:t>
            </a:r>
            <a:endParaRPr sz="2850">
              <a:solidFill>
                <a:schemeClr val="dk1"/>
              </a:solidFill>
              <a:latin typeface="Calibri"/>
              <a:ea typeface="Calibri"/>
              <a:cs typeface="Calibri"/>
              <a:sym typeface="Calibri"/>
            </a:endParaRPr>
          </a:p>
        </p:txBody>
      </p:sp>
      <p:sp>
        <p:nvSpPr>
          <p:cNvPr id="573" name="Google Shape;573;p27"/>
          <p:cNvSpPr/>
          <p:nvPr/>
        </p:nvSpPr>
        <p:spPr>
          <a:xfrm>
            <a:off x="1333500" y="9540240"/>
            <a:ext cx="1169075"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AAMIRALI</a:t>
            </a:r>
            <a:endParaRPr sz="12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578" name="Shape 578"/>
        <p:cNvGrpSpPr/>
        <p:nvPr/>
      </p:nvGrpSpPr>
      <p:grpSpPr>
        <a:xfrm>
          <a:off x="0" y="0"/>
          <a:ext cx="0" cy="0"/>
          <a:chOff x="0" y="0"/>
          <a:chExt cx="0" cy="0"/>
        </a:xfrm>
      </p:grpSpPr>
      <p:sp>
        <p:nvSpPr>
          <p:cNvPr id="579" name="Google Shape;579;p28"/>
          <p:cNvSpPr/>
          <p:nvPr/>
        </p:nvSpPr>
        <p:spPr>
          <a:xfrm>
            <a:off x="1333500" y="1333500"/>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HONEST LIMITATIONS · WHAT'S NEXT</a:t>
            </a:r>
            <a:endParaRPr sz="1350">
              <a:solidFill>
                <a:schemeClr val="dk1"/>
              </a:solidFill>
              <a:latin typeface="Calibri"/>
              <a:ea typeface="Calibri"/>
              <a:cs typeface="Calibri"/>
              <a:sym typeface="Calibri"/>
            </a:endParaRPr>
          </a:p>
        </p:txBody>
      </p:sp>
      <p:sp>
        <p:nvSpPr>
          <p:cNvPr id="580" name="Google Shape;580;p28"/>
          <p:cNvSpPr/>
          <p:nvPr/>
        </p:nvSpPr>
        <p:spPr>
          <a:xfrm>
            <a:off x="1333500" y="1722120"/>
            <a:ext cx="16089630" cy="1187172"/>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9300"/>
              <a:buFont typeface="Georgia"/>
              <a:buNone/>
            </a:pPr>
            <a:r>
              <a:rPr lang="en-US" sz="9300">
                <a:solidFill>
                  <a:srgbClr val="1A1820"/>
                </a:solidFill>
                <a:latin typeface="Georgia"/>
                <a:ea typeface="Georgia"/>
                <a:cs typeface="Georgia"/>
                <a:sym typeface="Georgia"/>
              </a:rPr>
              <a:t xml:space="preserve">We're not done </a:t>
            </a:r>
            <a:r>
              <a:rPr i="1" lang="en-US" sz="9300">
                <a:solidFill>
                  <a:srgbClr val="DF4823"/>
                </a:solidFill>
                <a:latin typeface="Georgia"/>
                <a:ea typeface="Georgia"/>
                <a:cs typeface="Georgia"/>
                <a:sym typeface="Georgia"/>
              </a:rPr>
              <a:t>yet.</a:t>
            </a:r>
            <a:endParaRPr sz="9300">
              <a:solidFill>
                <a:schemeClr val="dk1"/>
              </a:solidFill>
              <a:latin typeface="Calibri"/>
              <a:ea typeface="Calibri"/>
              <a:cs typeface="Calibri"/>
              <a:sym typeface="Calibri"/>
            </a:endParaRPr>
          </a:p>
        </p:txBody>
      </p:sp>
      <p:sp>
        <p:nvSpPr>
          <p:cNvPr id="581" name="Google Shape;581;p28"/>
          <p:cNvSpPr/>
          <p:nvPr/>
        </p:nvSpPr>
        <p:spPr>
          <a:xfrm>
            <a:off x="1333500" y="3442692"/>
            <a:ext cx="4978361" cy="2530793"/>
          </a:xfrm>
          <a:prstGeom prst="roundRect">
            <a:avLst>
              <a:gd fmla="val 1505"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28"/>
          <p:cNvSpPr/>
          <p:nvPr/>
        </p:nvSpPr>
        <p:spPr>
          <a:xfrm>
            <a:off x="1798320" y="3869412"/>
            <a:ext cx="4170182"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NEXT · 01</a:t>
            </a:r>
            <a:endParaRPr sz="1350">
              <a:solidFill>
                <a:schemeClr val="dk1"/>
              </a:solidFill>
              <a:latin typeface="Calibri"/>
              <a:ea typeface="Calibri"/>
              <a:cs typeface="Calibri"/>
              <a:sym typeface="Calibri"/>
            </a:endParaRPr>
          </a:p>
        </p:txBody>
      </p:sp>
      <p:sp>
        <p:nvSpPr>
          <p:cNvPr id="583" name="Google Shape;583;p28"/>
          <p:cNvSpPr/>
          <p:nvPr/>
        </p:nvSpPr>
        <p:spPr>
          <a:xfrm>
            <a:off x="1798320" y="4181832"/>
            <a:ext cx="4170182" cy="35814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1A1820"/>
              </a:buClr>
              <a:buSzPts val="2400"/>
              <a:buFont typeface="Arial"/>
              <a:buNone/>
            </a:pPr>
            <a:r>
              <a:rPr lang="en-US" sz="2400">
                <a:solidFill>
                  <a:srgbClr val="1A1820"/>
                </a:solidFill>
                <a:latin typeface="Arial"/>
                <a:ea typeface="Arial"/>
                <a:cs typeface="Arial"/>
                <a:sym typeface="Arial"/>
              </a:rPr>
              <a:t>Live hardware benchmarks</a:t>
            </a:r>
            <a:endParaRPr sz="2400">
              <a:solidFill>
                <a:schemeClr val="dk1"/>
              </a:solidFill>
              <a:latin typeface="Calibri"/>
              <a:ea typeface="Calibri"/>
              <a:cs typeface="Calibri"/>
              <a:sym typeface="Calibri"/>
            </a:endParaRPr>
          </a:p>
        </p:txBody>
      </p:sp>
      <p:sp>
        <p:nvSpPr>
          <p:cNvPr id="584" name="Google Shape;584;p28"/>
          <p:cNvSpPr/>
          <p:nvPr/>
        </p:nvSpPr>
        <p:spPr>
          <a:xfrm>
            <a:off x="1798320" y="4635222"/>
            <a:ext cx="4170182" cy="949643"/>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650"/>
              <a:buFont typeface="Arial"/>
              <a:buNone/>
            </a:pPr>
            <a:r>
              <a:rPr lang="en-US" sz="1650">
                <a:solidFill>
                  <a:srgbClr val="423F46"/>
                </a:solidFill>
                <a:latin typeface="Arial"/>
                <a:ea typeface="Arial"/>
                <a:cs typeface="Arial"/>
                <a:sym typeface="Arial"/>
              </a:rPr>
              <a:t>Final end-to-end frame-rate and power draw on the Pi 5 prototype, on real webcam footage.</a:t>
            </a:r>
            <a:endParaRPr sz="1650">
              <a:solidFill>
                <a:schemeClr val="dk1"/>
              </a:solidFill>
              <a:latin typeface="Calibri"/>
              <a:ea typeface="Calibri"/>
              <a:cs typeface="Calibri"/>
              <a:sym typeface="Calibri"/>
            </a:endParaRPr>
          </a:p>
        </p:txBody>
      </p:sp>
      <p:sp>
        <p:nvSpPr>
          <p:cNvPr id="585" name="Google Shape;585;p28"/>
          <p:cNvSpPr/>
          <p:nvPr/>
        </p:nvSpPr>
        <p:spPr>
          <a:xfrm>
            <a:off x="6654761" y="3442692"/>
            <a:ext cx="4978361" cy="2530793"/>
          </a:xfrm>
          <a:prstGeom prst="roundRect">
            <a:avLst>
              <a:gd fmla="val 1505"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28"/>
          <p:cNvSpPr/>
          <p:nvPr/>
        </p:nvSpPr>
        <p:spPr>
          <a:xfrm>
            <a:off x="7119581" y="3869412"/>
            <a:ext cx="4170182"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NEXT · 02</a:t>
            </a:r>
            <a:endParaRPr sz="1350">
              <a:solidFill>
                <a:schemeClr val="dk1"/>
              </a:solidFill>
              <a:latin typeface="Calibri"/>
              <a:ea typeface="Calibri"/>
              <a:cs typeface="Calibri"/>
              <a:sym typeface="Calibri"/>
            </a:endParaRPr>
          </a:p>
        </p:txBody>
      </p:sp>
      <p:sp>
        <p:nvSpPr>
          <p:cNvPr id="587" name="Google Shape;587;p28"/>
          <p:cNvSpPr/>
          <p:nvPr/>
        </p:nvSpPr>
        <p:spPr>
          <a:xfrm>
            <a:off x="7119581" y="4181832"/>
            <a:ext cx="4170182" cy="35814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1A1820"/>
              </a:buClr>
              <a:buSzPts val="2400"/>
              <a:buFont typeface="Arial"/>
              <a:buNone/>
            </a:pPr>
            <a:r>
              <a:rPr lang="en-US" sz="2400">
                <a:solidFill>
                  <a:srgbClr val="1A1820"/>
                </a:solidFill>
                <a:latin typeface="Arial"/>
                <a:ea typeface="Arial"/>
                <a:cs typeface="Arial"/>
                <a:sym typeface="Arial"/>
              </a:rPr>
              <a:t>Modern perceptual scoring</a:t>
            </a:r>
            <a:endParaRPr sz="2400">
              <a:solidFill>
                <a:schemeClr val="dk1"/>
              </a:solidFill>
              <a:latin typeface="Calibri"/>
              <a:ea typeface="Calibri"/>
              <a:cs typeface="Calibri"/>
              <a:sym typeface="Calibri"/>
            </a:endParaRPr>
          </a:p>
        </p:txBody>
      </p:sp>
      <p:sp>
        <p:nvSpPr>
          <p:cNvPr id="588" name="Google Shape;588;p28"/>
          <p:cNvSpPr/>
          <p:nvPr/>
        </p:nvSpPr>
        <p:spPr>
          <a:xfrm>
            <a:off x="7119581" y="4635222"/>
            <a:ext cx="4170182" cy="949643"/>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650"/>
              <a:buFont typeface="Arial"/>
              <a:buNone/>
            </a:pPr>
            <a:r>
              <a:rPr lang="en-US" sz="1650">
                <a:solidFill>
                  <a:srgbClr val="423F46"/>
                </a:solidFill>
                <a:latin typeface="Arial"/>
                <a:ea typeface="Arial"/>
                <a:cs typeface="Arial"/>
                <a:sym typeface="Arial"/>
              </a:rPr>
              <a:t>Switch from PSNR to VMAF — Netflix's human-graded quality metric — for honest comparisons.</a:t>
            </a:r>
            <a:endParaRPr sz="1650">
              <a:solidFill>
                <a:schemeClr val="dk1"/>
              </a:solidFill>
              <a:latin typeface="Calibri"/>
              <a:ea typeface="Calibri"/>
              <a:cs typeface="Calibri"/>
              <a:sym typeface="Calibri"/>
            </a:endParaRPr>
          </a:p>
        </p:txBody>
      </p:sp>
      <p:sp>
        <p:nvSpPr>
          <p:cNvPr id="589" name="Google Shape;589;p28"/>
          <p:cNvSpPr/>
          <p:nvPr/>
        </p:nvSpPr>
        <p:spPr>
          <a:xfrm>
            <a:off x="11976021" y="3442692"/>
            <a:ext cx="4978361" cy="2530793"/>
          </a:xfrm>
          <a:prstGeom prst="roundRect">
            <a:avLst>
              <a:gd fmla="val 1505" name="adj"/>
            </a:avLst>
          </a:prstGeom>
          <a:solidFill>
            <a:srgbClr val="ECE6D7"/>
          </a:solidFill>
          <a:ln cap="flat" cmpd="sng" w="9525">
            <a:solidFill>
              <a:srgbClr val="1A182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28"/>
          <p:cNvSpPr/>
          <p:nvPr/>
        </p:nvSpPr>
        <p:spPr>
          <a:xfrm>
            <a:off x="12440841" y="3869412"/>
            <a:ext cx="4170182"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NEXT · 03</a:t>
            </a:r>
            <a:endParaRPr sz="1350">
              <a:solidFill>
                <a:schemeClr val="dk1"/>
              </a:solidFill>
              <a:latin typeface="Calibri"/>
              <a:ea typeface="Calibri"/>
              <a:cs typeface="Calibri"/>
              <a:sym typeface="Calibri"/>
            </a:endParaRPr>
          </a:p>
        </p:txBody>
      </p:sp>
      <p:sp>
        <p:nvSpPr>
          <p:cNvPr id="591" name="Google Shape;591;p28"/>
          <p:cNvSpPr/>
          <p:nvPr/>
        </p:nvSpPr>
        <p:spPr>
          <a:xfrm>
            <a:off x="12440841" y="4181832"/>
            <a:ext cx="4170182" cy="35814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1A1820"/>
              </a:buClr>
              <a:buSzPts val="2400"/>
              <a:buFont typeface="Arial"/>
              <a:buNone/>
            </a:pPr>
            <a:r>
              <a:rPr lang="en-US" sz="2400">
                <a:solidFill>
                  <a:srgbClr val="1A1820"/>
                </a:solidFill>
                <a:latin typeface="Arial"/>
                <a:ea typeface="Arial"/>
                <a:cs typeface="Arial"/>
                <a:sym typeface="Arial"/>
              </a:rPr>
              <a:t>Non-stationary cameras</a:t>
            </a:r>
            <a:endParaRPr sz="2400">
              <a:solidFill>
                <a:schemeClr val="dk1"/>
              </a:solidFill>
              <a:latin typeface="Calibri"/>
              <a:ea typeface="Calibri"/>
              <a:cs typeface="Calibri"/>
              <a:sym typeface="Calibri"/>
            </a:endParaRPr>
          </a:p>
        </p:txBody>
      </p:sp>
      <p:sp>
        <p:nvSpPr>
          <p:cNvPr id="592" name="Google Shape;592;p28"/>
          <p:cNvSpPr/>
          <p:nvPr/>
        </p:nvSpPr>
        <p:spPr>
          <a:xfrm>
            <a:off x="12440841" y="4635222"/>
            <a:ext cx="4170182" cy="645795"/>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650"/>
              <a:buFont typeface="Arial"/>
              <a:buNone/>
            </a:pPr>
            <a:r>
              <a:rPr lang="en-US" sz="1650">
                <a:solidFill>
                  <a:srgbClr val="423F46"/>
                </a:solidFill>
                <a:latin typeface="Arial"/>
                <a:ea typeface="Arial"/>
                <a:cs typeface="Arial"/>
                <a:sym typeface="Arial"/>
              </a:rPr>
              <a:t>The temporal-median background assumes a stationary camera. Adding homography estimation would extend the codec to pan/tilt and handheld footage.</a:t>
            </a:r>
            <a:endParaRPr sz="1650">
              <a:solidFill>
                <a:schemeClr val="dk1"/>
              </a:solidFill>
              <a:latin typeface="Calibri"/>
              <a:ea typeface="Calibri"/>
              <a:cs typeface="Calibri"/>
              <a:sym typeface="Calibri"/>
            </a:endParaRPr>
          </a:p>
        </p:txBody>
      </p:sp>
      <p:sp>
        <p:nvSpPr>
          <p:cNvPr id="593" name="Google Shape;593;p28"/>
          <p:cNvSpPr/>
          <p:nvPr/>
        </p:nvSpPr>
        <p:spPr>
          <a:xfrm>
            <a:off x="1333500" y="6449735"/>
            <a:ext cx="15697200" cy="70104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423F46"/>
              </a:buClr>
              <a:buSzPts val="1800"/>
              <a:buFont typeface="Arial"/>
              <a:buNone/>
            </a:pPr>
            <a:r>
              <a:rPr lang="en-US" sz="1800">
                <a:solidFill>
                  <a:srgbClr val="423F46"/>
                </a:solidFill>
                <a:latin typeface="Arial"/>
                <a:ea typeface="Arial"/>
                <a:cs typeface="Arial"/>
                <a:sym typeface="Arial"/>
              </a:rPr>
              <a:t>Longer term: a learned background model for slow scene changes, multimodal gating with microphone and PIR sensors, and neural saliency on accelerator chips like the Coral TPU. The current codec also degrades on close-up scenes where one or two subjects fill the frame, since the "background" we can substitute shrinks toward zero.</a:t>
            </a:r>
            <a:endParaRPr sz="1800">
              <a:solidFill>
                <a:schemeClr val="dk1"/>
              </a:solidFill>
              <a:latin typeface="Calibri"/>
              <a:ea typeface="Calibri"/>
              <a:cs typeface="Calibri"/>
              <a:sym typeface="Calibri"/>
            </a:endParaRPr>
          </a:p>
        </p:txBody>
      </p:sp>
      <p:sp>
        <p:nvSpPr>
          <p:cNvPr id="594" name="Google Shape;594;p28"/>
          <p:cNvSpPr/>
          <p:nvPr/>
        </p:nvSpPr>
        <p:spPr>
          <a:xfrm>
            <a:off x="1333500" y="9540240"/>
            <a:ext cx="1169075" cy="21336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88837A"/>
              </a:buClr>
              <a:buSzPts val="1200"/>
              <a:buFont typeface="Courier New"/>
              <a:buNone/>
            </a:pPr>
            <a:r>
              <a:rPr lang="en-US" sz="1200">
                <a:solidFill>
                  <a:srgbClr val="88837A"/>
                </a:solidFill>
                <a:latin typeface="Courier New"/>
                <a:ea typeface="Courier New"/>
                <a:cs typeface="Courier New"/>
                <a:sym typeface="Courier New"/>
              </a:rPr>
              <a:t>AAMIRALI</a:t>
            </a:r>
            <a:endParaRPr sz="12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0E6"/>
        </a:solidFill>
      </p:bgPr>
    </p:bg>
    <p:spTree>
      <p:nvGrpSpPr>
        <p:cNvPr id="599" name="Shape 599"/>
        <p:cNvGrpSpPr/>
        <p:nvPr/>
      </p:nvGrpSpPr>
      <p:grpSpPr>
        <a:xfrm>
          <a:off x="0" y="0"/>
          <a:ext cx="0" cy="0"/>
          <a:chOff x="0" y="0"/>
          <a:chExt cx="0" cy="0"/>
        </a:xfrm>
      </p:grpSpPr>
      <p:sp>
        <p:nvSpPr>
          <p:cNvPr id="600" name="Google Shape;600;p29"/>
          <p:cNvSpPr/>
          <p:nvPr/>
        </p:nvSpPr>
        <p:spPr>
          <a:xfrm>
            <a:off x="1333500" y="1680091"/>
            <a:ext cx="16089630" cy="2362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8837A"/>
              </a:buClr>
              <a:buSzPts val="1350"/>
              <a:buFont typeface="Courier New"/>
              <a:buNone/>
            </a:pPr>
            <a:r>
              <a:rPr lang="en-US" sz="1350">
                <a:solidFill>
                  <a:srgbClr val="88837A"/>
                </a:solidFill>
                <a:latin typeface="Courier New"/>
                <a:ea typeface="Courier New"/>
                <a:cs typeface="Courier New"/>
                <a:sym typeface="Courier New"/>
              </a:rPr>
              <a:t>IN CLOSING</a:t>
            </a:r>
            <a:endParaRPr sz="1350">
              <a:solidFill>
                <a:schemeClr val="dk1"/>
              </a:solidFill>
              <a:latin typeface="Calibri"/>
              <a:ea typeface="Calibri"/>
              <a:cs typeface="Calibri"/>
              <a:sym typeface="Calibri"/>
            </a:endParaRPr>
          </a:p>
        </p:txBody>
      </p:sp>
      <p:sp>
        <p:nvSpPr>
          <p:cNvPr id="601" name="Google Shape;601;p29"/>
          <p:cNvSpPr/>
          <p:nvPr/>
        </p:nvSpPr>
        <p:spPr>
          <a:xfrm>
            <a:off x="1333500" y="2183011"/>
            <a:ext cx="14716125" cy="4692253"/>
          </a:xfrm>
          <a:prstGeom prst="rect">
            <a:avLst/>
          </a:prstGeom>
          <a:noFill/>
          <a:ln>
            <a:noFill/>
          </a:ln>
        </p:spPr>
        <p:txBody>
          <a:bodyPr anchorCtr="0" anchor="t" bIns="25400" lIns="25400" spcFirstLastPara="1" rIns="25400" wrap="square" tIns="25400">
            <a:normAutofit/>
          </a:bodyPr>
          <a:lstStyle/>
          <a:p>
            <a:pPr indent="0" lvl="0" marL="0" marR="0" rtl="0" algn="l">
              <a:lnSpc>
                <a:spcPct val="96000"/>
              </a:lnSpc>
              <a:spcBef>
                <a:spcPts val="0"/>
              </a:spcBef>
              <a:spcAft>
                <a:spcPts val="0"/>
              </a:spcAft>
              <a:buClr>
                <a:srgbClr val="1A1820"/>
              </a:buClr>
              <a:buSzPts val="12600"/>
              <a:buFont typeface="Georgia"/>
              <a:buNone/>
            </a:pPr>
            <a:r>
              <a:rPr i="1" lang="en-US" sz="12600">
                <a:solidFill>
                  <a:srgbClr val="1A1820"/>
                </a:solidFill>
                <a:latin typeface="Georgia"/>
                <a:ea typeface="Georgia"/>
                <a:cs typeface="Georgia"/>
                <a:sym typeface="Georgia"/>
              </a:rPr>
              <a:t xml:space="preserve">Up to 47% </a:t>
            </a:r>
            <a:r>
              <a:rPr lang="en-US" sz="12600">
                <a:solidFill>
                  <a:srgbClr val="1A1820"/>
                </a:solidFill>
                <a:latin typeface="Georgia"/>
                <a:ea typeface="Georgia"/>
                <a:cs typeface="Georgia"/>
                <a:sym typeface="Georgia"/>
              </a:rPr>
              <a:t xml:space="preserve">smaller. </a:t>
            </a:r>
            <a:r>
              <a:rPr i="1" lang="en-US" sz="12600">
                <a:solidFill>
                  <a:srgbClr val="1A1820"/>
                </a:solidFill>
                <a:latin typeface="Georgia"/>
                <a:ea typeface="Georgia"/>
                <a:cs typeface="Georgia"/>
                <a:sym typeface="Georgia"/>
              </a:rPr>
              <a:t xml:space="preserve">Subjects fully </a:t>
            </a:r>
            <a:r>
              <a:rPr lang="en-US" sz="12600">
                <a:solidFill>
                  <a:srgbClr val="1A1820"/>
                </a:solidFill>
                <a:latin typeface="Georgia"/>
                <a:ea typeface="Georgia"/>
                <a:cs typeface="Georgia"/>
                <a:sym typeface="Georgia"/>
              </a:rPr>
              <a:t xml:space="preserve">preserved. On a </a:t>
            </a:r>
            <a:r>
              <a:rPr i="1" lang="en-US" sz="12600">
                <a:solidFill>
                  <a:srgbClr val="1A1820"/>
                </a:solidFill>
                <a:latin typeface="Georgia"/>
                <a:ea typeface="Georgia"/>
                <a:cs typeface="Georgia"/>
                <a:sym typeface="Georgia"/>
              </a:rPr>
              <a:t xml:space="preserve">$95 </a:t>
            </a:r>
            <a:r>
              <a:rPr lang="en-US" sz="12600">
                <a:solidFill>
                  <a:srgbClr val="1A1820"/>
                </a:solidFill>
                <a:latin typeface="Georgia"/>
                <a:ea typeface="Georgia"/>
                <a:cs typeface="Georgia"/>
                <a:sym typeface="Georgia"/>
              </a:rPr>
              <a:t>camera.</a:t>
            </a:r>
            <a:endParaRPr sz="12600">
              <a:solidFill>
                <a:schemeClr val="dk1"/>
              </a:solidFill>
              <a:latin typeface="Calibri"/>
              <a:ea typeface="Calibri"/>
              <a:cs typeface="Calibri"/>
              <a:sym typeface="Calibri"/>
            </a:endParaRPr>
          </a:p>
        </p:txBody>
      </p:sp>
      <p:sp>
        <p:nvSpPr>
          <p:cNvPr id="602" name="Google Shape;602;p29"/>
          <p:cNvSpPr/>
          <p:nvPr/>
        </p:nvSpPr>
        <p:spPr>
          <a:xfrm>
            <a:off x="1333500" y="7599164"/>
            <a:ext cx="15621000" cy="9525"/>
          </a:xfrm>
          <a:prstGeom prst="rect">
            <a:avLst/>
          </a:prstGeom>
          <a:solidFill>
            <a:srgbClr val="1A1820">
              <a:alpha val="12156"/>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29"/>
          <p:cNvSpPr/>
          <p:nvPr/>
        </p:nvSpPr>
        <p:spPr>
          <a:xfrm>
            <a:off x="1333500" y="8225909"/>
            <a:ext cx="3340070" cy="6096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88837A"/>
              </a:buClr>
              <a:buSzPts val="1500"/>
              <a:buFont typeface="Courier New"/>
              <a:buNone/>
            </a:pPr>
            <a:r>
              <a:rPr lang="en-US" sz="1500">
                <a:solidFill>
                  <a:srgbClr val="88837A"/>
                </a:solidFill>
                <a:latin typeface="Courier New"/>
                <a:ea typeface="Courier New"/>
                <a:cs typeface="Courier New"/>
                <a:sym typeface="Courier New"/>
              </a:rPr>
              <a:t>QUESTIONS → LIVE DEMO ON THE PI 5 →</a:t>
            </a:r>
            <a:endParaRPr sz="1500">
              <a:solidFill>
                <a:schemeClr val="dk1"/>
              </a:solidFill>
              <a:latin typeface="Calibri"/>
              <a:ea typeface="Calibri"/>
              <a:cs typeface="Calibri"/>
              <a:sym typeface="Calibri"/>
            </a:endParaRPr>
          </a:p>
        </p:txBody>
      </p:sp>
      <p:sp>
        <p:nvSpPr>
          <p:cNvPr id="604" name="Google Shape;604;p29"/>
          <p:cNvSpPr/>
          <p:nvPr/>
        </p:nvSpPr>
        <p:spPr>
          <a:xfrm>
            <a:off x="11904907" y="7911584"/>
            <a:ext cx="5049593" cy="238125"/>
          </a:xfrm>
          <a:prstGeom prst="rect">
            <a:avLst/>
          </a:prstGeom>
          <a:noFill/>
          <a:ln>
            <a:noFill/>
          </a:ln>
        </p:spPr>
        <p:txBody>
          <a:bodyPr anchorCtr="0" anchor="t" bIns="25400" lIns="25400" spcFirstLastPara="1" rIns="25400" wrap="square" tIns="25400">
            <a:normAutofit/>
          </a:bodyPr>
          <a:lstStyle/>
          <a:p>
            <a:pPr indent="0" lvl="0" marL="0" marR="0" rtl="0" algn="r">
              <a:lnSpc>
                <a:spcPct val="150000"/>
              </a:lnSpc>
              <a:spcBef>
                <a:spcPts val="0"/>
              </a:spcBef>
              <a:spcAft>
                <a:spcPts val="0"/>
              </a:spcAft>
              <a:buClr>
                <a:srgbClr val="88837A"/>
              </a:buClr>
              <a:buSzPts val="1050"/>
              <a:buFont typeface="Courier New"/>
              <a:buNone/>
            </a:pPr>
            <a:r>
              <a:rPr lang="en-US" sz="1050">
                <a:solidFill>
                  <a:srgbClr val="88837A"/>
                </a:solidFill>
                <a:latin typeface="Courier New"/>
                <a:ea typeface="Courier New"/>
                <a:cs typeface="Courier New"/>
                <a:sym typeface="Courier New"/>
              </a:rPr>
              <a:t>TEAM C2 · COMPUTER SCIENCE</a:t>
            </a:r>
            <a:endParaRPr sz="1050">
              <a:solidFill>
                <a:schemeClr val="dk1"/>
              </a:solidFill>
              <a:latin typeface="Calibri"/>
              <a:ea typeface="Calibri"/>
              <a:cs typeface="Calibri"/>
              <a:sym typeface="Calibri"/>
            </a:endParaRPr>
          </a:p>
        </p:txBody>
      </p:sp>
      <p:sp>
        <p:nvSpPr>
          <p:cNvPr id="605" name="Google Shape;605;p29"/>
          <p:cNvSpPr/>
          <p:nvPr/>
        </p:nvSpPr>
        <p:spPr>
          <a:xfrm>
            <a:off x="12051983" y="8256389"/>
            <a:ext cx="5049593" cy="251460"/>
          </a:xfrm>
          <a:prstGeom prst="rect">
            <a:avLst/>
          </a:prstGeom>
          <a:noFill/>
          <a:ln>
            <a:noFill/>
          </a:ln>
        </p:spPr>
        <p:txBody>
          <a:bodyPr anchorCtr="0" anchor="t" bIns="0" lIns="0" spcFirstLastPara="1" rIns="0" wrap="square" tIns="0">
            <a:normAutofit/>
          </a:bodyPr>
          <a:lstStyle/>
          <a:p>
            <a:pPr indent="0" lvl="0" marL="0" marR="0" rtl="0" algn="r">
              <a:lnSpc>
                <a:spcPct val="150000"/>
              </a:lnSpc>
              <a:spcBef>
                <a:spcPts val="0"/>
              </a:spcBef>
              <a:spcAft>
                <a:spcPts val="0"/>
              </a:spcAft>
              <a:buClr>
                <a:srgbClr val="423F46"/>
              </a:buClr>
              <a:buSzPts val="1500"/>
              <a:buFont typeface="Arial"/>
              <a:buNone/>
            </a:pPr>
            <a:r>
              <a:rPr lang="en-US" sz="1500">
                <a:solidFill>
                  <a:srgbClr val="423F46"/>
                </a:solidFill>
                <a:latin typeface="Arial"/>
                <a:ea typeface="Arial"/>
                <a:cs typeface="Arial"/>
                <a:sym typeface="Arial"/>
              </a:rPr>
              <a:t>Sai Amartya Balamurugan Lakshmi Praba · Atharv Gokule</a:t>
            </a:r>
            <a:endParaRPr sz="1500">
              <a:solidFill>
                <a:schemeClr val="dk1"/>
              </a:solidFill>
              <a:latin typeface="Calibri"/>
              <a:ea typeface="Calibri"/>
              <a:cs typeface="Calibri"/>
              <a:sym typeface="Calibri"/>
            </a:endParaRPr>
          </a:p>
        </p:txBody>
      </p:sp>
      <p:sp>
        <p:nvSpPr>
          <p:cNvPr id="606" name="Google Shape;606;p29"/>
          <p:cNvSpPr/>
          <p:nvPr/>
        </p:nvSpPr>
        <p:spPr>
          <a:xfrm>
            <a:off x="14254519" y="8542139"/>
            <a:ext cx="2780980" cy="251460"/>
          </a:xfrm>
          <a:prstGeom prst="rect">
            <a:avLst/>
          </a:prstGeom>
          <a:noFill/>
          <a:ln>
            <a:noFill/>
          </a:ln>
        </p:spPr>
        <p:txBody>
          <a:bodyPr anchorCtr="0" anchor="t" bIns="0" lIns="0" spcFirstLastPara="1" rIns="0" wrap="square" tIns="0">
            <a:normAutofit/>
          </a:bodyPr>
          <a:lstStyle/>
          <a:p>
            <a:pPr indent="0" lvl="0" marL="0" marR="0" rtl="0" algn="r">
              <a:lnSpc>
                <a:spcPct val="150000"/>
              </a:lnSpc>
              <a:spcBef>
                <a:spcPts val="0"/>
              </a:spcBef>
              <a:spcAft>
                <a:spcPts val="0"/>
              </a:spcAft>
              <a:buClr>
                <a:srgbClr val="423F46"/>
              </a:buClr>
              <a:buSzPts val="1500"/>
              <a:buFont typeface="Arial"/>
              <a:buNone/>
            </a:pPr>
            <a:r>
              <a:rPr lang="en-US" sz="1500">
                <a:solidFill>
                  <a:srgbClr val="423F46"/>
                </a:solidFill>
                <a:latin typeface="Arial"/>
                <a:ea typeface="Arial"/>
                <a:cs typeface="Arial"/>
                <a:sym typeface="Arial"/>
              </a:rPr>
              <a:t>Dhairya Shah · Aamirali Tinwala</a:t>
            </a:r>
            <a:endParaRPr sz="15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2026-05-23T23:45:08Z</dcterms:created>
  <dc:creator>PptxGenJS</dc:creator>
</cp:coreProperties>
</file>