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0000"/>
                </a:solidFill>
                <a:latin typeface="Calibri"/>
              </a:defRPr>
            </a:pPr>
            <a:r>
              <a:t>Perceptually-Guided, Sensor-Gated Compression for Home-Surveillance Video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05050"/>
                </a:solidFill>
                <a:latin typeface="Calibri"/>
              </a:defRPr>
            </a:pPr>
            <a:r>
              <a:t>STEAM ICAC 2026 — Computer Science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1F77B4"/>
                </a:solidFill>
                <a:latin typeface="Calibri"/>
              </a:defRPr>
            </a:pPr>
            <a:r>
              <a:t>Sai Amartya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228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1F77B4"/>
                </a:solidFill>
                <a:latin typeface="Calibri"/>
              </a:defRPr>
            </a:pPr>
            <a:r>
              <a:t>95%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2286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0000"/>
                </a:solidFill>
                <a:latin typeface="Calibri"/>
              </a:defRPr>
            </a:pPr>
            <a:r>
              <a:t>of home-security footage is never watched. It still costs storage, bandwidth, and energy.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91440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000000"/>
                </a:solidFill>
                <a:latin typeface="Calibri"/>
              </a:defRPr>
            </a:pPr>
            <a:r>
              <a:t>Compress video using human perceptual science.</a:t>
            </a:r>
          </a:p>
          <a:p>
            <a:pPr>
              <a:defRPr sz="2200">
                <a:solidFill>
                  <a:srgbClr val="000000"/>
                </a:solidFill>
                <a:latin typeface="Calibri"/>
              </a:defRPr>
            </a:pPr>
            <a:r>
              <a:t>Identify useful footage from sensors.</a:t>
            </a:r>
          </a:p>
          <a:p>
            <a:pPr>
              <a:defRPr sz="2200">
                <a:solidFill>
                  <a:srgbClr val="000000"/>
                </a:solidFill>
                <a:latin typeface="Calibri"/>
              </a:defRPr>
            </a:pPr>
            <a:r>
              <a:t>Stay edge-feasible, privacy-conscious, scalable.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system in one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000000"/>
                </a:solidFill>
                <a:latin typeface="Calibri"/>
              </a:defRPr>
            </a:pPr>
            <a:r>
              <a:t>A real-time pipeline that records when sensors say 'something useful' and compresses every kept frame so bits are spent where a human's eyes actually look.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505050"/>
                </a:solidFill>
                <a:latin typeface="Calibri"/>
              </a:defRPr>
            </a:pPr>
            <a:r>
              <a:t>Inspired by Lague (2025) — but our hybrid runs on classical codec rails.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Calibri"/>
              </a:defRPr>
            </a:pPr>
            <a:r>
              <a:t>How it works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7362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05050"/>
                </a:solidFill>
                <a:latin typeface="Calibri"/>
              </a:defRPr>
            </a:pPr>
            <a:r>
              <a:t>Gate → Saliency → Saliency-aware H.265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Calibri"/>
              </a:defRPr>
            </a:pPr>
            <a:r>
              <a:t>Why this is grounded science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  <a:latin typeface="Calibri"/>
              </a:defRPr>
            </a:pPr>
            <a:r>
              <a:t>Foveation: 10× higher acuity at fovea vs periphery (Wandell, 1995)</a:t>
            </a:r>
          </a:p>
          <a:p>
            <a:pPr>
              <a:defRPr sz="2000">
                <a:solidFill>
                  <a:srgbClr val="000000"/>
                </a:solidFill>
                <a:latin typeface="Calibri"/>
              </a:defRPr>
            </a:pPr>
            <a:r>
              <a:t>Contrast Sensitivity Function: drives JPEG's quantisation matrix (Campbell &amp; Robson, 1968)</a:t>
            </a:r>
          </a:p>
          <a:p>
            <a:pPr>
              <a:defRPr sz="2000">
                <a:solidFill>
                  <a:srgbClr val="000000"/>
                </a:solidFill>
                <a:latin typeface="Calibri"/>
              </a:defRPr>
            </a:pPr>
            <a:r>
              <a:t>Just-Noticeable-Difference: distortion below threshold is invisible (Mannos &amp; Sakrison, 1974)</a:t>
            </a:r>
          </a:p>
          <a:p>
            <a:pPr>
              <a:defRPr sz="2000">
                <a:solidFill>
                  <a:srgbClr val="000000"/>
                </a:solidFill>
                <a:latin typeface="Calibri"/>
              </a:defRPr>
            </a:pPr>
            <a:r>
              <a:t>Spatial / temporal masking: HEVC perceptual mode (Sullivan et al., 2012)</a:t>
            </a:r>
          </a:p>
          <a:p>
            <a:pPr>
              <a:defRPr sz="2000">
                <a:solidFill>
                  <a:srgbClr val="000000"/>
                </a:solidFill>
                <a:latin typeface="Calibri"/>
              </a:defRPr>
            </a:pPr>
            <a:r>
              <a:t>Saliency: where humans actually look (Itti, Koch &amp; Niebur, 1998)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i="1">
                <a:solidFill>
                  <a:srgbClr val="C8C8C8"/>
                </a:solidFill>
                <a:latin typeface="Calibri"/>
              </a:defRPr>
            </a:pPr>
            <a:r>
              <a:t>[Run python scripts/live_demo.py here — saliency overlay + gate HUD on the judge's webcam feed]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gate fires on the right frames</a:t>
            </a:r>
          </a:p>
        </p:txBody>
      </p:sp>
      <p:pic>
        <p:nvPicPr>
          <p:cNvPr id="3" name="Picture 2" descr="gate_trace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4542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05050"/>
                </a:solidFill>
                <a:latin typeface="Calibri"/>
              </a:defRPr>
            </a:pPr>
            <a:r>
              <a:t>Mean trigger ratio 65.2% across 20 real CCTV clips (13 action classes)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Calibri"/>
              </a:defRPr>
            </a:pPr>
            <a:r>
              <a:t>Bits go where eyes go</a:t>
            </a:r>
          </a:p>
        </p:txBody>
      </p:sp>
      <p:pic>
        <p:nvPicPr>
          <p:cNvPr id="3" name="Picture 2" descr="qualitative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267182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05050"/>
                </a:solidFill>
                <a:latin typeface="Calibri"/>
              </a:defRPr>
            </a:pPr>
            <a:r>
              <a:t>Original / Saliency / Baseline (CRF 34) / Ours (sigmoid CRF 34) — at the same operating point, our person remains crisp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Calibri"/>
              </a:defRPr>
            </a:pPr>
            <a:r>
              <a:t>We trained one. Then measured it on M3 Pro</a:t>
            </a:r>
          </a:p>
        </p:txBody>
      </p:sp>
      <p:pic>
        <p:nvPicPr>
          <p:cNvPr id="3" name="Picture 2" descr="neural_codec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4114800" cy="32514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54880" y="914400"/>
            <a:ext cx="3931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  <a:latin typeface="Calibri"/>
              </a:defRPr>
            </a:pPr>
            <a:r>
              <a:t>76,131-parameter autoencoder, 1.43 ms encode on Apple M3 Pro MPS</a:t>
            </a:r>
          </a:p>
          <a:p>
            <a:pPr>
              <a:defRPr sz="1800">
                <a:solidFill>
                  <a:srgbClr val="000000"/>
                </a:solidFill>
                <a:latin typeface="Calibri"/>
              </a:defRPr>
            </a:pPr>
            <a:r>
              <a:t>28.95 dB reconstruction PSNR at 6× compression — H.265 reaches 36+ dB at the same ratio</a:t>
            </a:r>
          </a:p>
          <a:p>
            <a:pPr>
              <a:defRPr sz="1800">
                <a:solidFill>
                  <a:srgbClr val="000000"/>
                </a:solidFill>
                <a:latin typeface="Calibri"/>
              </a:defRPr>
            </a:pPr>
            <a:r>
              <a:t>Fast enough to run on edge. Still loses 7+ dB to a dedicated codec.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1F77B4"/>
                </a:solidFill>
                <a:latin typeface="Calibri"/>
              </a:defRPr>
            </a:pPr>
            <a:r>
              <a:t>We borrow the philosophy. We pay milliseconds, not seconds.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Calibri"/>
              </a:defRPr>
            </a:pPr>
            <a:r>
              <a:t>Less stored = less burned</a:t>
            </a:r>
          </a:p>
        </p:txBody>
      </p:sp>
      <p:pic>
        <p:nvPicPr>
          <p:cNvPr id="3" name="Picture 2" descr="sustainability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4114800" cy="2507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54880" y="914400"/>
            <a:ext cx="3931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  <a:latin typeface="Calibri"/>
              </a:defRPr>
            </a:pPr>
            <a:r>
              <a:t>23% file-size reduction at fixed CRF (real CCTV measured)</a:t>
            </a:r>
          </a:p>
          <a:p>
            <a:pPr>
              <a:defRPr sz="1800">
                <a:solidFill>
                  <a:srgbClr val="000000"/>
                </a:solidFill>
                <a:latin typeface="Calibri"/>
              </a:defRPr>
            </a:pPr>
            <a:r>
              <a:t>1.35 TB / 32 kg CO₂ saved per camera per year</a:t>
            </a:r>
          </a:p>
          <a:p>
            <a:pPr>
              <a:defRPr sz="1800">
                <a:solidFill>
                  <a:srgbClr val="000000"/>
                </a:solidFill>
                <a:latin typeface="Calibri"/>
              </a:defRPr>
            </a:pPr>
            <a:r>
              <a:t>On-device inference: raw video never leaves the camera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Calibri"/>
              </a:defRPr>
            </a:pPr>
            <a:r>
              <a:t>What we measured (real CCTV)</a:t>
            </a:r>
          </a:p>
        </p:txBody>
      </p:sp>
      <p:pic>
        <p:nvPicPr>
          <p:cNvPr id="3" name="Picture 2" descr="rd_curve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2938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Calibri"/>
              </a:defRPr>
            </a:pPr>
            <a:r>
              <a:t>At ~45 KB: ours sal-PSNR 26.29 dB vs baseline 25.85 dB → +0.44 dB — we 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Calibri"/>
              </a:defRPr>
            </a:pPr>
            <a:r>
              <a:t>Crossover at ~50 KB: below it, saliency-aware matches or beats uniform H.265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000000"/>
                </a:solidFill>
                <a:latin typeface="Calibri"/>
              </a:defRPr>
            </a:pPr>
            <a:r>
              <a:t>Tier-A per-block QP via libx265 ROI API</a:t>
            </a:r>
          </a:p>
          <a:p>
            <a:pPr>
              <a:defRPr sz="2200">
                <a:solidFill>
                  <a:srgbClr val="000000"/>
                </a:solidFill>
                <a:latin typeface="Calibri"/>
              </a:defRPr>
            </a:pPr>
            <a:r>
              <a:t>Learned saliency model (TASED-Net)</a:t>
            </a:r>
          </a:p>
          <a:p>
            <a:pPr>
              <a:defRPr sz="2200">
                <a:solidFill>
                  <a:srgbClr val="000000"/>
                </a:solidFill>
                <a:latin typeface="Calibri"/>
              </a:defRPr>
            </a:pPr>
            <a:r>
              <a:t>Saliency-weighted LPIPS</a:t>
            </a:r>
          </a:p>
          <a:p>
            <a:pPr>
              <a:defRPr sz="2200">
                <a:solidFill>
                  <a:srgbClr val="000000"/>
                </a:solidFill>
                <a:latin typeface="Calibri"/>
              </a:defRPr>
            </a:pPr>
            <a:r>
              <a:t>Pi-4 deployment for first-person edge latency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i="1">
                <a:solidFill>
                  <a:srgbClr val="1F77B4"/>
                </a:solidFill>
                <a:latin typeface="Calibri"/>
              </a:defRPr>
            </a:pPr>
            <a: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